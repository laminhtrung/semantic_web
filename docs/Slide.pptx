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present the final local ontology, version 3.0.0. It contains 30 films, 37 named classes and 1,727 identity links. We distinguish the verified ontology from the web application, which now uses the same canonical vocabulary. Our examples use real Inception and Christopher Nolan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core requirements share ontology version 3.0.0. The source graph, inferred graph and named before/after dataset are available in the browser and endpoint. The report, slides and query results describe the same model. MP4 files were removed at the user’s request; no video was regenerated.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collector feeds a native version-3 build. HermiT classifies the canonical OWL, and OWL RL materializes inverse, subproperty and chain relations. Validation executes all 27 competency questions. Source facts, inferred knowledge and named-graph comparisons are shared by the browser, endpoint and terminal.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selected sample has 30 films, 851 people, 1,010 credit records, 45 companies and 672 award entities. The final OWL contains 19,025 triples including schema and asserted data, not a complete reasoning closure. There are 75 genres, 11 countries, 15 languages and 76 source responses. Counts refer to local resource identifiers; the four role individuals use the ontology namespace.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module has 37 named classes: 17 DBpedia classes, one VoID Dataset and 19 local classes. The local classes comprise source records, the contribution model, two label-based genre buckets and ten domain inferred classes. Four additional inferred credit subclasses support the reasoning chains. No local clone of Actor, Genre, Award or Company remains.</a:t>
            </a:r>
          </a:p>
          <a:p/>
          <a:p>
            <a:r>
              <a:t>ẢNH PROTÉGÉ CẦN BỔ SUNG P00 — P00_ontology_header.png</a:t>
            </a:r>
          </a:p>
          <a:p>
            <a:r>
              <a:t>Mở ontology/Movie_Knowledge_Graph.owl</a:t>
            </a:r>
          </a:p>
          <a:p>
            <a:r>
              <a:t>1. Mở ontology/Movie_Knowledge_Graph.owl.</a:t>
            </a:r>
          </a:p>
          <a:p>
            <a:r>
              <a:t>2. Chọn Active Ontology / Ontology Header.</a:t>
            </a:r>
          </a:p>
          <a:p>
            <a:r>
              <a:t>3. Giữ IRI và versionInfo 3.0.0 trong ảnh.</a:t>
            </a:r>
          </a:p>
          <a:p>
            <a:r>
              <a:t>Cần thấy: 37 lớp có tên; không đếm biểu thức anonymous như lớp có tên.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Film reuses DBpedia and is a Work. ActionFilm and AwardWinningFilm follow genre and award facts. AwardWinningActionFilm combines those memberships. GenreCrossingFilm requires action and drama membership but does not prove two distinct genre fillers. Unsupported release-kind assertions and empty documentary classes were removed.</a:t>
            </a:r>
          </a:p>
          <a:p/>
          <a:p>
            <a:r>
              <a:t>ẢNH PROTÉGÉ CẦN BỔ SUNG P01 — P01_film_hierarchy.png</a:t>
            </a:r>
          </a:p>
          <a:p>
            <a:r>
              <a:t>Mở ontology/Movie_Knowledge_Graph.owl</a:t>
            </a:r>
          </a:p>
          <a:p>
            <a:r>
              <a:t>1. Mở Classes → dbo:Work → dbo:Film.</a:t>
            </a:r>
          </a:p>
          <a:p>
            <a:r>
              <a:t>2. Hiện ActionFilm, AwardWinningFilm và các lớp giao.</a:t>
            </a:r>
          </a:p>
          <a:p>
            <a:r>
              <a:t>3. Giữ IRI DBpedia của Film trong Description.</a:t>
            </a:r>
          </a:p>
          <a:p>
            <a:r>
              <a:t>Cần thấy: Không có FeatureFilm/AnimatedFilm/DocumentaryFilm trong module cuối.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 is inferred using the range of starring and remains the DBpedia class. The module also reuses MovieDirector, Writer, ScreenWriter and Producer. Contribution restrictions support one-way occupation inferences without redefining these global classes. Company is a subclass of Organisation. A person may satisfy several occupations and local subsets.</a:t>
            </a:r>
          </a:p>
          <a:p/>
          <a:p>
            <a:r>
              <a:t>ẢNH PROTÉGÉ CẦN BỔ SUNG P02 — P02_agent_hierarchy.png</a:t>
            </a:r>
          </a:p>
          <a:p>
            <a:r>
              <a:t>Mở ontology/Movie_Knowledge_Graph.owl</a:t>
            </a:r>
          </a:p>
          <a:p>
            <a:r>
              <a:t>1. Mở dbo:Agent → dbo:Person và dbo:Organisation.</a:t>
            </a:r>
          </a:p>
          <a:p>
            <a:r>
              <a:t>2. Hiện Artist → Actor; Organisation → Company.</a:t>
            </a:r>
          </a:p>
          <a:p>
            <a:r>
              <a:t>3. Mở MovieDirector / Writer → ScreenWriter.</a:t>
            </a:r>
          </a:p>
          <a:p>
            <a:r>
              <a:t>Cần thấy: Reuse lớp DBpedia; không tạo ex:Actor hoặc ex:Organization.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Genre and MovieGenre are reused. The two local buckets ActionGenre and DramaGenre use crawled English genre labels. No fiction hierarchy is guessed, and unrecognized awards are not automatically called FilmAward. Award remains a reused entity class. SourceSnapshot records retrieval provenance, while void:Dataset describes the collection.</a:t>
            </a:r>
          </a:p>
          <a:p/>
          <a:p>
            <a:r>
              <a:t>ẢNH PROTÉGÉ CẦN BỔ SUNG P03 — P03_genre_award_hierarchy.png</a:t>
            </a:r>
          </a:p>
          <a:p>
            <a:r>
              <a:t>Mở ontology/Movie_Knowledge_Graph.owl</a:t>
            </a:r>
          </a:p>
          <a:p>
            <a:r>
              <a:t>1. Mở dbo:Genre → dbo:MovieGenre.</a:t>
            </a:r>
          </a:p>
          <a:p>
            <a:r>
              <a:t>2. Hiện ActionGenre / DramaGenre; chọn dbo:Award.</a:t>
            </a:r>
          </a:p>
          <a:p>
            <a:r>
              <a:t>3. Giữ Description để đọc IRI và lớp cha.</a:t>
            </a:r>
          </a:p>
          <a:p>
            <a:r>
              <a:t>Cần thấy: Không có FictionGenre hoặc các nhóm award suy đoán theo nhãn.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Contribution relates one person, one film and one role, with functional endpoints and qualified exactly-one restrictions. Nolan has directing, writing and producing credits for Inception. Role-specific credit subclasses are inferred using hasRole value restrictions. Missing fields still require structural validation under open-world semantics.</a:t>
            </a:r>
          </a:p>
          <a:p/>
          <a:p>
            <a:r>
              <a:t>ẢNH PROTÉGÉ CẦN BỔ SUNG P04 — P04_contribution_restrictions.png</a:t>
            </a:r>
          </a:p>
          <a:p>
            <a:r>
              <a:t>Mở ontology/Movie_Knowledge_Graph.owl</a:t>
            </a:r>
          </a:p>
          <a:p>
            <a:r>
              <a:t>1. Chọn ex:Contribution.</a:t>
            </a:r>
          </a:p>
          <a:p>
            <a:r>
              <a:t>2. Hiện exactly 1 cho contributionBy, contributionTo, hasRole.</a:t>
            </a:r>
          </a:p>
          <a:p>
            <a:r>
              <a:t>3. Chọn hasRole để thấy Functional và role individual.</a:t>
            </a:r>
          </a:p>
          <a:p>
            <a:r>
              <a:t>Cần thấy: Ba endpoint đúng 1; dữ liệu thiếu cần structural validation riêng.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film relations reuse DBpedia. The inverse of contributionBy supports hasContribution. contributedTo is entailed through the hasContribution/contributionTo property chain. Directed and actedIn are narrower subproperties. The chain property is non-simple, so the cardinality model uses the simple hasContribution relation.</a:t>
            </a:r>
          </a:p>
          <a:p/>
          <a:p>
            <a:r>
              <a:t>ẢNH PROTÉGÉ CẦN BỔ SUNG P05 — P05_object_property.png</a:t>
            </a:r>
          </a:p>
          <a:p>
            <a:r>
              <a:t>Mở ontology/Movie_Knowledge_Graph.owl</a:t>
            </a:r>
          </a:p>
          <a:p>
            <a:r>
              <a:t>1. Chọn contributionBy: Contribution → dbo:Person.</a:t>
            </a:r>
          </a:p>
          <a:p>
            <a:r>
              <a:t>2. Hiện Functional và inverse hasContribution.</a:t>
            </a:r>
          </a:p>
          <a:p>
            <a:r>
              <a:t>3. Có thể chụp contributedTo với property chain.</a:t>
            </a:r>
          </a:p>
          <a:p>
            <a:r>
              <a:t>Cần thấy: Chain hasContribution rồi contributionTo; không đặt cardinality trên contributedTo.</a:t>
            </a:r>
          </a:p>
          <a:p/>
          <a:p>
            <a:r>
              <a:t>Reference: all 19 object properties (not intended to be read aloud in full):</a:t>
            </a:r>
          </a:p>
          <a:p>
            <a:r>
              <a:t>| Property | Domain | Range | Inverse / characteristics |</a:t>
            </a:r>
          </a:p>
          <a:p>
            <a:r>
              <a:t>|:--|:--|:--|:--|</a:t>
            </a:r>
          </a:p>
          <a:p>
            <a:r>
              <a:t>| dbo:award | — | dbo:Award | — |</a:t>
            </a:r>
          </a:p>
          <a:p>
            <a:r>
              <a:t>| dbo:country | — | dbo:Country | — |</a:t>
            </a:r>
          </a:p>
          <a:p>
            <a:r>
              <a:t>| dbo:director | dbo:Film | dbo:Person | ex:directed |</a:t>
            </a:r>
          </a:p>
          <a:p>
            <a:r>
              <a:t>| dbo:genre | — | dbo:Genre | — |</a:t>
            </a:r>
          </a:p>
          <a:p>
            <a:r>
              <a:t>| dbo:language | — | dbo:Language | — |</a:t>
            </a:r>
          </a:p>
          <a:p>
            <a:r>
              <a:t>| dbo:producer | dbo:Work | dbo:Agent | — |</a:t>
            </a:r>
          </a:p>
          <a:p>
            <a:r>
              <a:t>| dbo:productionCompany | dbo:Work | dbo:Company | ex:productionOf |</a:t>
            </a:r>
          </a:p>
          <a:p>
            <a:r>
              <a:t>| dbo:starring | dbo:Work | dbo:Actor | ex:actedIn |</a:t>
            </a:r>
          </a:p>
          <a:p>
            <a:r>
              <a:t>| dbo:writer | dbo:Work | dbo:Person | — |</a:t>
            </a:r>
          </a:p>
          <a:p>
            <a:r>
              <a:t>| ex:actedIn | dbo:Actor | dbo:Film | dbo:starring |</a:t>
            </a:r>
          </a:p>
          <a:p>
            <a:r>
              <a:t>| ex:contributedTo | dbo:Person | dbo:Film | — |</a:t>
            </a:r>
          </a:p>
          <a:p>
            <a:r>
              <a:t>| ex:contributionBy | ex:Contribution | dbo:Person | ex:hasContribution · functional |</a:t>
            </a:r>
          </a:p>
          <a:p>
            <a:r>
              <a:t>| ex:contributionOf | dbo:Film | ex:Contribution | ex:contributionTo |</a:t>
            </a:r>
          </a:p>
          <a:p>
            <a:r>
              <a:t>| ex:contributionTo | ex:Contribution | dbo:Film | ex:contributionOf · functional |</a:t>
            </a:r>
          </a:p>
          <a:p>
            <a:r>
              <a:t>| ex:directed | dbo:Person | dbo:Film | dbo:director |</a:t>
            </a:r>
          </a:p>
          <a:p>
            <a:r>
              <a:t>| ex:hasContribution | dbo:Person | ex:Contribution | ex:contributionBy |</a:t>
            </a:r>
          </a:p>
          <a:p>
            <a:r>
              <a:t>| ex:hasRole | ex:Contribution | ex:ContributionRole | — · functional |</a:t>
            </a:r>
          </a:p>
          <a:p>
            <a:r>
              <a:t>| ex:productionOf | dbo:Company | dbo:Work | dbo:productionCompany |</a:t>
            </a:r>
          </a:p>
          <a:p>
            <a:r>
              <a:t>| ex:sourceSnapshot | — | ex:SourceSnapshot | —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Equivalent classes express necessary and sufficient conditions; subclass axioms have one direction. Existential and value restrictions classify credits and people. Functional properties can force equality, while different role values provide distinctness witnesses. Missing facts do not imply negation, and different IRIs alone do not prove different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domain subsets have genuine HermiT members, including seven additional subsets beyond Filmmaker, ActionFilm and AwardWinningFilm. The four credit subclasses are supporting definitions. Actor uses DBpedia range reasoning. Counts are local identifiers only. No COUNT DISTINCT aggregate is used to produce these domain class memberships.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directing record with DirectorRole becomes DirectingContribution. The inverse property supplies hasContribution for Nolan. The existential and union definition yields Filmmaker. Writing credits additionally support ScreenWriter; directing credits support MovieDirector, and their intersection yields WriterDirector. These types are not manually asserted.</a:t>
            </a:r>
          </a:p>
          <a:p/>
          <a:p>
            <a:r>
              <a:t>ẢNH PROTÉGÉ CẦN BỔ SUNG P06 — P06_filmmaker_equivalent_class.png</a:t>
            </a:r>
          </a:p>
          <a:p>
            <a:r>
              <a:t>Mở ontology/Movie_Knowledge_Graph.owl</a:t>
            </a:r>
          </a:p>
          <a:p>
            <a:r>
              <a:t>1. Chọn ex:Filmmaker.</a:t>
            </a:r>
          </a:p>
          <a:p>
            <a:r>
              <a:t>2. Hiện Equivalent To với Person AND các nhánh SOME.</a:t>
            </a:r>
          </a:p>
          <a:p>
            <a:r>
              <a:t>3. Đọc các nhánh Directing / Writing / ProducingContribution.</a:t>
            </a:r>
          </a:p>
          <a:p>
            <a:r>
              <a:t>Cần thấy: Công thức không tự chứng minh reasoner đã chạy.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Nolan has directing, writing and producing credits with different controlled role values. Because hasRole is functional and the roles are AllDifferent, these records cannot be the same individual. HermiT entails at least three distinct Contributions. Seven people satisfy min three and seventeen min two. Genre cardinality still lacks inequality witnesses; MultiGenreFilm is not retained as a populated inferred class.</a:t>
            </a:r>
          </a:p>
          <a:p/>
          <a:p>
            <a:r>
              <a:t>ẢNH PROTÉGÉ CẦN BỔ SUNG P07 — P07_three_credit_cardinality.png</a:t>
            </a:r>
          </a:p>
          <a:p>
            <a:r>
              <a:t>Mở ontology/Movie_Knowledge_Graph.owl</a:t>
            </a:r>
          </a:p>
          <a:p>
            <a:r>
              <a:t>1. Chọn ex:ThreeCreditContributor; hiện min 3 hasContribution Contribution.</a:t>
            </a:r>
          </a:p>
          <a:p>
            <a:r>
              <a:t>2. Chạy HermiT; chọn Nolan ở inferred view.</a:t>
            </a:r>
          </a:p>
          <a:p>
            <a:r>
              <a:t>3. Chụp thêm Functional hasRole và AllDifferent của bốn role.</a:t>
            </a:r>
          </a:p>
          <a:p>
            <a:r>
              <a:t>Cần thấy: 7 người đạt min 3; 17 người đạt min 2; không phải COUNT DISTINCT.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collector contains credit claims, genres, awards, companies, countries, languages, dates and durations. We exclude fields that were not collected. Seventy-six saved responses provide retrieval URLs, timestamps and checksums. Label-based genre normalization is an author policy, not a source-provided OWL taxonomy. Hashes establish byte integrity, not factual truth.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Inception has label Inception, release-year summary 2010 and runtime 8880 seconds. Runtime reuses DBpedia with xsd:double. The model has five datatype properties; rdfs:label is an annotation property, not an extra custom title datatype. We preserve the source precision rather than inventing a full release date.</a:t>
            </a:r>
          </a:p>
          <a:p/>
          <a:p>
            <a:r>
              <a:t>ẢNH PROTÉGÉ CẦN BỔ SUNG P08 — P08_runtime_datatype.png</a:t>
            </a:r>
          </a:p>
          <a:p>
            <a:r>
              <a:t>Mở ontology/Movie_Knowledge_Graph.owl</a:t>
            </a:r>
          </a:p>
          <a:p>
            <a:r>
              <a:t>1. Chọn dbo:runtime trong Data properties.</a:t>
            </a:r>
          </a:p>
          <a:p>
            <a:r>
              <a:t>2. Hiện domain dbo:Work và range xsd:double.</a:t>
            </a:r>
          </a:p>
          <a:p>
            <a:r>
              <a:t>3. Chọn Inception: runtime = 8880 giây.</a:t>
            </a:r>
          </a:p>
          <a:p>
            <a:r>
              <a:t>Cần thấy: 8880 giây = 148 phút; rdfs:label là annotation property.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website distributes the version-3 RDF, schema, full OWL and inference exports. HTTP identifiers and CC BY-SA support reuse. Identity alignment retains 1699 Wikidata and 28 DBpedia links. Reusing dbo:Film, identity sameAs and source provenance are three distinct semantic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resource page displays the canonical description of Inception: DBpedia properties, its release-year summary, duration in seconds, identities and provenance. The photo slot requests the same individual in Protégé. It distinguishes a live resource description from a genuine ontology screenshot.</a:t>
            </a:r>
          </a:p>
          <a:p/>
          <a:p>
            <a:r>
              <a:t>ẢNH PROTÉGÉ CẦN BỔ SUNG P09 — P09_inception_individual.png</a:t>
            </a:r>
          </a:p>
          <a:p>
            <a:r>
              <a:t>Mở ontology/Movie_Knowledge_Graph.owl</a:t>
            </a:r>
          </a:p>
          <a:p>
            <a:r>
              <a:t>1. Mở Movie_Knowledge_Graph.owl 3.0.0.</a:t>
            </a:r>
          </a:p>
          <a:p>
            <a:r>
              <a:t>2. Chọn film-Q25188; hiện label, releaseYear 2010, runtime 8880.</a:t>
            </a:r>
          </a:p>
          <a:p>
            <a:r>
              <a:t>3. Hiện dbo:director, genre, productionCompany và award.</a:t>
            </a:r>
          </a:p>
          <a:p>
            <a:r>
              <a:t>Cần thấy: Cá thể trong OWL khớp trang resource 3.0.0; runtime là 8880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default Inception query returns 2010, 8880 seconds and Nolan. The knowledge-scope selector chooses source facts, the precomputed inference graph or the named before/after dataset. The browser uses Comunica; the local endpoint uses RDFLib. Both modes query the same exports rather than executing a reasoner for every request.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Inception has 25 credit records: 21 acting, one directing, one writing and two producing. The current application image shows Nolan’s three roles, not all 25 records. The new competency suite contains 27 queries and tests before/after reasoning, including WriterDirector and property-chain results.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WriterDirector has zero asserted members and ten inferred local members. The scope selector lets readers compare the same query before and after reasoning. Query 27 uses explicit named graphs. The terminal supports --mode asserted, reasoned or dataset; no distinct-term count is used to classify the cardinality subsets.</a:t>
            </a:r>
          </a:p>
          <a:p/>
          <a:p>
            <a:r>
              <a:t>ẢNH PROTÉGÉ CẦN BỔ SUNG P10 — P10_nolan_inferred_types.png</a:t>
            </a:r>
          </a:p>
          <a:p>
            <a:r>
              <a:t>Mở ontology/Movie_Knowledge_Graph.owl</a:t>
            </a:r>
          </a:p>
          <a:p>
            <a:r>
              <a:t>1. Chọn HermiT → Start reasoner, chờ hoàn tất.</a:t>
            </a:r>
          </a:p>
          <a:p>
            <a:r>
              <a:t>2. Chọn person-Q25191; mở inferred types.</a:t>
            </a:r>
          </a:p>
          <a:p>
            <a:r>
              <a:t>3. Giữ WriterDirector, Filmmaker, ThreeCreditContributor trong ảnh.</a:t>
            </a:r>
          </a:p>
          <a:p>
            <a:r>
              <a:t>Cần thấy: Type mới không được gán trực tiếp trong asserted graph; giữ trạng thái reasoner.</a:t>
            </a:r>
          </a:p>
          <a:p/>
          <a:p>
            <a:r>
              <a:t>Reference: 27 design queries, asserted versus reasoned results:</a:t>
            </a:r>
          </a:p>
          <a:p>
            <a:r>
              <a:t>1. List films: 30 → 30</a:t>
            </a:r>
          </a:p>
          <a:p>
            <a:r>
              <a:t>2. Inception: year, duration and director: 1 → 1</a:t>
            </a:r>
          </a:p>
          <a:p>
            <a:r>
              <a:t>3. Directors of Inception: 1 → 1</a:t>
            </a:r>
          </a:p>
          <a:p>
            <a:r>
              <a:t>4. Inception credits and roles: 25 → 25</a:t>
            </a:r>
          </a:p>
          <a:p>
            <a:r>
              <a:t>5. Films directed by Nolan: 8 → 8</a:t>
            </a:r>
          </a:p>
          <a:p>
            <a:r>
              <a:t>6. Companies credited on Inception: 4 → 4</a:t>
            </a:r>
          </a:p>
          <a:p>
            <a:r>
              <a:t>7. Awards of Inception: 7 → 7</a:t>
            </a:r>
          </a:p>
          <a:p>
            <a:r>
              <a:t>8. Runtime in seconds: 1 → 1</a:t>
            </a:r>
          </a:p>
          <a:p>
            <a:r>
              <a:t>9. Film genres through the parent class: 0 → 75</a:t>
            </a:r>
          </a:p>
          <a:p>
            <a:r>
              <a:t>10. Persons through Agent hierarchy: 0 → 851</a:t>
            </a:r>
          </a:p>
          <a:p>
            <a:r>
              <a:t>11. Production companies: 45 → 45</a:t>
            </a:r>
          </a:p>
          <a:p>
            <a:r>
              <a:t>12. Film subclasses: 0 → 4</a:t>
            </a:r>
          </a:p>
          <a:p>
            <a:r>
              <a:t>13. Actors through Artist hierarchy: 0 → 769</a:t>
            </a:r>
          </a:p>
          <a:p>
            <a:r>
              <a:t>14. Inferred Actors: 0 → 769</a:t>
            </a:r>
          </a:p>
          <a:p>
            <a:r>
              <a:t>15. Inferred Filmmakers: 0 → 89</a:t>
            </a:r>
          </a:p>
          <a:p>
            <a:r>
              <a:t>16. Inferred Action films: 0 → 12</a:t>
            </a:r>
          </a:p>
          <a:p>
            <a:r>
              <a:t>17. Award-winning films: 0 → 26</a:t>
            </a:r>
          </a:p>
          <a:p>
            <a:r>
              <a:t>18. People with at least two provably distinct credits: 0 → 17</a:t>
            </a:r>
          </a:p>
          <a:p>
            <a:r>
              <a:t>19. People with at least three provably distinct credits: 0 → 7</a:t>
            </a:r>
          </a:p>
          <a:p>
            <a:r>
              <a:t>20. Writer-directors: 0 → 10</a:t>
            </a:r>
          </a:p>
          <a:p>
            <a:r>
              <a:t>21. Actor-filmmakers: 0 → 7</a:t>
            </a:r>
          </a:p>
          <a:p>
            <a:r>
              <a:t>22. Award-winning filmmakers: 0 → 65</a:t>
            </a:r>
          </a:p>
          <a:p>
            <a:r>
              <a:t>23. Award-winning action films: 0 → 10</a:t>
            </a:r>
          </a:p>
          <a:p>
            <a:r>
              <a:t>24. Action/drama crossing films: 0 → 8</a:t>
            </a:r>
          </a:p>
          <a:p>
            <a:r>
              <a:t>25. Nolan contributions through property chain: 0 → 8</a:t>
            </a:r>
          </a:p>
          <a:p>
            <a:r>
              <a:t>26. Nolan films through inverse director: 0 → 8</a:t>
            </a:r>
          </a:p>
          <a:p>
            <a:r>
              <a:t>27. Types present only after reasoning: 0 → 1261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HermiT checked the canonical RDF/XML OWL: consistent, no unsatisfiable named classes. All 27 competency questions execute against explicit graph scopes; 965 chain pairs are materialized separately. Fifteen tests verify the model and endpoint. Browser checks exercise SELECT, ASK, CONSTRUCT, DESCRIBE and recovery from malformed queries.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ontology, dataset, query interfaces and document exports share version 3.0.0. Consistency, source integrity and before/after query behavior are checked independently. Selection bias, label mappings and unannotated identity matching still limit generalization. MP4 files are excluded as requested; an official assignment grade is not inferred from technical checks.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slots request genuine Protégé screenshots of the final ontology. The Vietnamese speaker script matches the English deck. The report keeps its fifteen-page academic format. Current web captures and reasoner logs support the presentation; MP4 files have been removed without editing or generating video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B3A"/>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E8B65D"/>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FFFFFF"/>
                </a:solidFill>
                <a:latin typeface="Be Vietnam Pro"/>
              </a:defRPr>
            </a:pPr>
            <a:r>
              <a:t>MovieLOD</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B8CDD6"/>
                </a:solidFill>
                <a:latin typeface="Be Vietnam Pro"/>
              </a:defRPr>
            </a:pPr>
            <a:r>
              <a:t>DBpedia reuse · OWL reasoning · linked movie knowledge</a:t>
            </a:r>
          </a:p>
        </p:txBody>
      </p:sp>
      <p:sp>
        <p:nvSpPr>
          <p:cNvPr id="6" name="Rectangle 5"/>
          <p:cNvSpPr/>
          <p:nvPr/>
        </p:nvSpPr>
        <p:spPr>
          <a:xfrm>
            <a:off x="594360" y="7708392"/>
            <a:ext cx="13441680" cy="9144"/>
          </a:xfrm>
          <a:prstGeom prst="rect">
            <a:avLst/>
          </a:prstGeom>
          <a:solidFill>
            <a:srgbClr val="3953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B8CDD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E8B65D"/>
                </a:solidFill>
                <a:latin typeface="Be Vietnam Pro"/>
              </a:defRPr>
            </a:pPr>
            <a:r>
              <a:t>01 / 24</a:t>
            </a:r>
          </a:p>
        </p:txBody>
      </p:sp>
      <p:sp>
        <p:nvSpPr>
          <p:cNvPr id="9" name="TextBox 8"/>
          <p:cNvSpPr txBox="1"/>
          <p:nvPr/>
        </p:nvSpPr>
        <p:spPr>
          <a:xfrm>
            <a:off x="777240" y="2743200"/>
            <a:ext cx="7772400" cy="1463040"/>
          </a:xfrm>
          <a:prstGeom prst="rect">
            <a:avLst/>
          </a:prstGeom>
          <a:noFill/>
        </p:spPr>
        <p:txBody>
          <a:bodyPr wrap="none" lIns="0" rIns="0" tIns="0" bIns="0">
            <a:spAutoFit/>
          </a:bodyPr>
          <a:lstStyle/>
          <a:p>
            <a:pPr>
              <a:lnSpc>
                <a:spcPts val="4480"/>
              </a:lnSpc>
              <a:spcBef>
                <a:spcPts val="0"/>
              </a:spcBef>
              <a:spcAft>
                <a:spcPts val="0"/>
              </a:spcAft>
              <a:defRPr sz="3500" b="1">
                <a:solidFill>
                  <a:srgbClr val="FFFFFF"/>
                </a:solidFill>
                <a:latin typeface="Be Vietnam Pro"/>
              </a:defRPr>
            </a:pPr>
            <a:r>
              <a:t>From movie data</a:t>
            </a:r>
          </a:p>
          <a:p>
            <a:pPr>
              <a:lnSpc>
                <a:spcPts val="4480"/>
              </a:lnSpc>
              <a:spcBef>
                <a:spcPts val="0"/>
              </a:spcBef>
              <a:spcAft>
                <a:spcPts val="0"/>
              </a:spcAft>
              <a:defRPr sz="3500" b="1">
                <a:solidFill>
                  <a:srgbClr val="FFFFFF"/>
                </a:solidFill>
                <a:latin typeface="Be Vietnam Pro"/>
              </a:defRPr>
            </a:pPr>
            <a:r>
              <a:t>to a knowledge graph</a:t>
            </a:r>
          </a:p>
        </p:txBody>
      </p:sp>
      <p:sp>
        <p:nvSpPr>
          <p:cNvPr id="10" name="TextBox 9"/>
          <p:cNvSpPr txBox="1"/>
          <p:nvPr/>
        </p:nvSpPr>
        <p:spPr>
          <a:xfrm>
            <a:off x="777240" y="4645152"/>
            <a:ext cx="7315200" cy="640080"/>
          </a:xfrm>
          <a:prstGeom prst="rect">
            <a:avLst/>
          </a:prstGeom>
          <a:noFill/>
        </p:spPr>
        <p:txBody>
          <a:bodyPr wrap="none" lIns="0" rIns="0" tIns="0" bIns="0">
            <a:spAutoFit/>
          </a:bodyPr>
          <a:lstStyle/>
          <a:p>
            <a:pPr>
              <a:lnSpc>
                <a:spcPts val="2688"/>
              </a:lnSpc>
              <a:spcBef>
                <a:spcPts val="0"/>
              </a:spcBef>
              <a:spcAft>
                <a:spcPts val="0"/>
              </a:spcAft>
              <a:defRPr sz="2100" b="0">
                <a:solidFill>
                  <a:srgbClr val="B8CDD6"/>
                </a:solidFill>
                <a:latin typeface="Be Vietnam Pro"/>
              </a:defRPr>
            </a:pPr>
            <a:r>
              <a:t>Ontology · RDF · Linked Open Data · SPARQL</a:t>
            </a:r>
          </a:p>
        </p:txBody>
      </p:sp>
      <p:sp>
        <p:nvSpPr>
          <p:cNvPr id="11" name="TextBox 10"/>
          <p:cNvSpPr txBox="1"/>
          <p:nvPr/>
        </p:nvSpPr>
        <p:spPr>
          <a:xfrm>
            <a:off x="777240" y="5577840"/>
            <a:ext cx="7315200" cy="1188720"/>
          </a:xfrm>
          <a:prstGeom prst="rect">
            <a:avLst/>
          </a:prstGeom>
          <a:noFill/>
        </p:spPr>
        <p:txBody>
          <a:bodyPr wrap="none" lIns="0" rIns="0" tIns="0" bIns="0">
            <a:spAutoFit/>
          </a:bodyPr>
          <a:lstStyle/>
          <a:p>
            <a:pPr>
              <a:lnSpc>
                <a:spcPts val="1792"/>
              </a:lnSpc>
              <a:spcBef>
                <a:spcPts val="0"/>
              </a:spcBef>
              <a:spcAft>
                <a:spcPts val="0"/>
              </a:spcAft>
              <a:defRPr sz="1400" b="0">
                <a:solidFill>
                  <a:srgbClr val="B8CDD6"/>
                </a:solidFill>
                <a:latin typeface="Be Vietnam Pro"/>
              </a:defRPr>
            </a:pPr>
            <a:r>
              <a:t>La Minh Trung (20251319M)</a:t>
            </a:r>
          </a:p>
          <a:p>
            <a:pPr>
              <a:lnSpc>
                <a:spcPts val="1792"/>
              </a:lnSpc>
              <a:spcBef>
                <a:spcPts val="0"/>
              </a:spcBef>
              <a:spcAft>
                <a:spcPts val="0"/>
              </a:spcAft>
              <a:defRPr sz="1400" b="0">
                <a:solidFill>
                  <a:srgbClr val="B8CDD6"/>
                </a:solidFill>
                <a:latin typeface="Be Vietnam Pro"/>
              </a:defRPr>
            </a:pPr>
            <a:r>
              <a:t>Nguyen Thu Uyen (20252279M)</a:t>
            </a:r>
          </a:p>
          <a:p>
            <a:pPr>
              <a:lnSpc>
                <a:spcPts val="1792"/>
              </a:lnSpc>
              <a:spcBef>
                <a:spcPts val="0"/>
              </a:spcBef>
              <a:spcAft>
                <a:spcPts val="0"/>
              </a:spcAft>
              <a:defRPr sz="1400" b="0">
                <a:solidFill>
                  <a:srgbClr val="B8CDD6"/>
                </a:solidFill>
                <a:latin typeface="Be Vietnam Pro"/>
              </a:defRPr>
            </a:pPr>
            <a:r>
              <a:t>Nguyen Thi Nha Linh (20261262M)</a:t>
            </a:r>
          </a:p>
          <a:p>
            <a:pPr>
              <a:lnSpc>
                <a:spcPts val="1792"/>
              </a:lnSpc>
              <a:spcBef>
                <a:spcPts val="0"/>
              </a:spcBef>
              <a:spcAft>
                <a:spcPts val="0"/>
              </a:spcAft>
              <a:defRPr sz="1400" b="0">
                <a:solidFill>
                  <a:srgbClr val="B8CDD6"/>
                </a:solidFill>
                <a:latin typeface="Be Vietnam Pro"/>
              </a:defRPr>
            </a:pPr>
            <a:r>
              <a:t>Nguyen Khac Thai Binh (20251324M)</a:t>
            </a:r>
          </a:p>
        </p:txBody>
      </p:sp>
      <p:sp>
        <p:nvSpPr>
          <p:cNvPr id="12" name="Rounded Rectangle 11"/>
          <p:cNvSpPr/>
          <p:nvPr/>
        </p:nvSpPr>
        <p:spPr>
          <a:xfrm>
            <a:off x="9189720" y="26974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36608" y="2843784"/>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30</a:t>
            </a:r>
          </a:p>
        </p:txBody>
      </p:sp>
      <p:sp>
        <p:nvSpPr>
          <p:cNvPr id="14" name="TextBox 13"/>
          <p:cNvSpPr txBox="1"/>
          <p:nvPr/>
        </p:nvSpPr>
        <p:spPr>
          <a:xfrm>
            <a:off x="11548872" y="30358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real films</a:t>
            </a:r>
          </a:p>
        </p:txBody>
      </p:sp>
      <p:sp>
        <p:nvSpPr>
          <p:cNvPr id="15" name="Rounded Rectangle 14"/>
          <p:cNvSpPr/>
          <p:nvPr/>
        </p:nvSpPr>
        <p:spPr>
          <a:xfrm>
            <a:off x="9189720" y="40690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36608" y="4215383"/>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37</a:t>
            </a:r>
          </a:p>
        </p:txBody>
      </p:sp>
      <p:sp>
        <p:nvSpPr>
          <p:cNvPr id="17" name="TextBox 16"/>
          <p:cNvSpPr txBox="1"/>
          <p:nvPr/>
        </p:nvSpPr>
        <p:spPr>
          <a:xfrm>
            <a:off x="11548872" y="44074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named classes</a:t>
            </a:r>
          </a:p>
        </p:txBody>
      </p:sp>
      <p:sp>
        <p:nvSpPr>
          <p:cNvPr id="18" name="Rounded Rectangle 17"/>
          <p:cNvSpPr/>
          <p:nvPr/>
        </p:nvSpPr>
        <p:spPr>
          <a:xfrm>
            <a:off x="9189720" y="54406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36608" y="5586983"/>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1,727</a:t>
            </a:r>
          </a:p>
        </p:txBody>
      </p:sp>
      <p:sp>
        <p:nvSpPr>
          <p:cNvPr id="20" name="TextBox 19"/>
          <p:cNvSpPr txBox="1"/>
          <p:nvPr/>
        </p:nvSpPr>
        <p:spPr>
          <a:xfrm>
            <a:off x="11548872" y="57790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external links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Objectives and synchronized evidence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Ontology, data, publication, linking and SPARQL access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02 / 24</a:t>
            </a:r>
          </a:p>
        </p:txBody>
      </p:sp>
      <p:sp>
        <p:nvSpPr>
          <p:cNvPr id="9" name="Rectangle 8"/>
          <p:cNvSpPr/>
          <p:nvPr/>
        </p:nvSpPr>
        <p:spPr>
          <a:xfrm>
            <a:off x="731520" y="2697480"/>
            <a:ext cx="1330452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70632"/>
            <a:ext cx="74066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ID</a:t>
            </a:r>
          </a:p>
        </p:txBody>
      </p:sp>
      <p:sp>
        <p:nvSpPr>
          <p:cNvPr id="11" name="TextBox 10"/>
          <p:cNvSpPr txBox="1"/>
          <p:nvPr/>
        </p:nvSpPr>
        <p:spPr>
          <a:xfrm>
            <a:off x="1801368" y="2770632"/>
            <a:ext cx="366674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Requirement</a:t>
            </a:r>
          </a:p>
        </p:txBody>
      </p:sp>
      <p:sp>
        <p:nvSpPr>
          <p:cNvPr id="12" name="TextBox 11"/>
          <p:cNvSpPr txBox="1"/>
          <p:nvPr/>
        </p:nvSpPr>
        <p:spPr>
          <a:xfrm>
            <a:off x="5687568" y="2770632"/>
            <a:ext cx="823874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Deliverable / evidence</a:t>
            </a:r>
          </a:p>
        </p:txBody>
      </p:sp>
      <p:sp>
        <p:nvSpPr>
          <p:cNvPr id="13" name="Rectangle 12"/>
          <p:cNvSpPr/>
          <p:nvPr/>
        </p:nvSpPr>
        <p:spPr>
          <a:xfrm>
            <a:off x="731520" y="3090672"/>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5010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R1</a:t>
            </a:r>
          </a:p>
        </p:txBody>
      </p:sp>
      <p:sp>
        <p:nvSpPr>
          <p:cNvPr id="15" name="TextBox 14"/>
          <p:cNvSpPr txBox="1"/>
          <p:nvPr/>
        </p:nvSpPr>
        <p:spPr>
          <a:xfrm>
            <a:off x="1801368" y="315010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DBpedia-based ontology</a:t>
            </a:r>
          </a:p>
        </p:txBody>
      </p:sp>
      <p:sp>
        <p:nvSpPr>
          <p:cNvPr id="16" name="TextBox 15"/>
          <p:cNvSpPr txBox="1"/>
          <p:nvPr/>
        </p:nvSpPr>
        <p:spPr>
          <a:xfrm>
            <a:off x="5687568" y="315010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37 named classes; HermiT consistency</a:t>
            </a:r>
          </a:p>
        </p:txBody>
      </p:sp>
      <p:sp>
        <p:nvSpPr>
          <p:cNvPr id="17" name="Rectangle 16"/>
          <p:cNvSpPr/>
          <p:nvPr/>
        </p:nvSpPr>
        <p:spPr>
          <a:xfrm>
            <a:off x="731520" y="3867912"/>
            <a:ext cx="13304520" cy="77724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92734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R2</a:t>
            </a:r>
          </a:p>
        </p:txBody>
      </p:sp>
      <p:sp>
        <p:nvSpPr>
          <p:cNvPr id="19" name="TextBox 18"/>
          <p:cNvSpPr txBox="1"/>
          <p:nvPr/>
        </p:nvSpPr>
        <p:spPr>
          <a:xfrm>
            <a:off x="1801368" y="392734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Source-supported data</a:t>
            </a:r>
          </a:p>
        </p:txBody>
      </p:sp>
      <p:sp>
        <p:nvSpPr>
          <p:cNvPr id="20" name="TextBox 19"/>
          <p:cNvSpPr txBox="1"/>
          <p:nvPr/>
        </p:nvSpPr>
        <p:spPr>
          <a:xfrm>
            <a:off x="5687568" y="392734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76 retained responses and provenance</a:t>
            </a:r>
          </a:p>
        </p:txBody>
      </p:sp>
      <p:sp>
        <p:nvSpPr>
          <p:cNvPr id="21" name="Rectangle 20"/>
          <p:cNvSpPr/>
          <p:nvPr/>
        </p:nvSpPr>
        <p:spPr>
          <a:xfrm>
            <a:off x="731520" y="4645152"/>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70458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R3</a:t>
            </a:r>
          </a:p>
        </p:txBody>
      </p:sp>
      <p:sp>
        <p:nvSpPr>
          <p:cNvPr id="23" name="TextBox 22"/>
          <p:cNvSpPr txBox="1"/>
          <p:nvPr/>
        </p:nvSpPr>
        <p:spPr>
          <a:xfrm>
            <a:off x="1801368" y="470458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RDF publication</a:t>
            </a:r>
          </a:p>
        </p:txBody>
      </p:sp>
      <p:sp>
        <p:nvSpPr>
          <p:cNvPr id="24" name="TextBox 23"/>
          <p:cNvSpPr txBox="1"/>
          <p:nvPr/>
        </p:nvSpPr>
        <p:spPr>
          <a:xfrm>
            <a:off x="5687568" y="470458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Canonical RDF / OWL 3.0.0</a:t>
            </a:r>
          </a:p>
        </p:txBody>
      </p:sp>
      <p:sp>
        <p:nvSpPr>
          <p:cNvPr id="25" name="Rectangle 24"/>
          <p:cNvSpPr/>
          <p:nvPr/>
        </p:nvSpPr>
        <p:spPr>
          <a:xfrm>
            <a:off x="731520" y="5422392"/>
            <a:ext cx="13304520" cy="77724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548182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R4</a:t>
            </a:r>
          </a:p>
        </p:txBody>
      </p:sp>
      <p:sp>
        <p:nvSpPr>
          <p:cNvPr id="27" name="TextBox 26"/>
          <p:cNvSpPr txBox="1"/>
          <p:nvPr/>
        </p:nvSpPr>
        <p:spPr>
          <a:xfrm>
            <a:off x="1801368" y="548182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Identity alignment</a:t>
            </a:r>
          </a:p>
        </p:txBody>
      </p:sp>
      <p:sp>
        <p:nvSpPr>
          <p:cNvPr id="28" name="TextBox 27"/>
          <p:cNvSpPr txBox="1"/>
          <p:nvPr/>
        </p:nvSpPr>
        <p:spPr>
          <a:xfrm>
            <a:off x="5687568" y="548182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1,699 Wikidata + 28 DBpedia links</a:t>
            </a:r>
          </a:p>
        </p:txBody>
      </p:sp>
      <p:sp>
        <p:nvSpPr>
          <p:cNvPr id="29" name="Rectangle 28"/>
          <p:cNvSpPr/>
          <p:nvPr/>
        </p:nvSpPr>
        <p:spPr>
          <a:xfrm>
            <a:off x="731520" y="6199631"/>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625906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R5</a:t>
            </a:r>
          </a:p>
        </p:txBody>
      </p:sp>
      <p:sp>
        <p:nvSpPr>
          <p:cNvPr id="31" name="TextBox 30"/>
          <p:cNvSpPr txBox="1"/>
          <p:nvPr/>
        </p:nvSpPr>
        <p:spPr>
          <a:xfrm>
            <a:off x="1801368" y="625906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SPARQL access</a:t>
            </a:r>
          </a:p>
        </p:txBody>
      </p:sp>
      <p:sp>
        <p:nvSpPr>
          <p:cNvPr id="32" name="TextBox 31"/>
          <p:cNvSpPr txBox="1"/>
          <p:nvPr/>
        </p:nvSpPr>
        <p:spPr>
          <a:xfrm>
            <a:off x="5687568" y="625906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27 questions; source / inferred / named graph modes</a:t>
            </a:r>
          </a:p>
        </p:txBody>
      </p:sp>
      <p:sp>
        <p:nvSpPr>
          <p:cNvPr id="33" name="TextBox 32"/>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Report: 15 pages · main slides: 24 · MP4 excluded by request. Examples: Inception and Nolan.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Architecture and knowledge layers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One reproducible pipeline across every interface</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03 / 24</a:t>
            </a:r>
          </a:p>
        </p:txBody>
      </p:sp>
      <p:sp>
        <p:nvSpPr>
          <p:cNvPr id="9" name="Rounded Rectangle 8"/>
          <p:cNvSpPr/>
          <p:nvPr/>
        </p:nvSpPr>
        <p:spPr>
          <a:xfrm>
            <a:off x="731520"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01</a:t>
            </a:r>
          </a:p>
        </p:txBody>
      </p:sp>
      <p:sp>
        <p:nvSpPr>
          <p:cNvPr id="12" name="TextBox 11"/>
          <p:cNvSpPr txBox="1"/>
          <p:nvPr/>
        </p:nvSpPr>
        <p:spPr>
          <a:xfrm>
            <a:off x="960120"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SOURCE FACTS</a:t>
            </a:r>
          </a:p>
        </p:txBody>
      </p:sp>
      <p:sp>
        <p:nvSpPr>
          <p:cNvPr id="13" name="TextBox 12"/>
          <p:cNvSpPr txBox="1"/>
          <p:nvPr/>
        </p:nvSpPr>
        <p:spPr>
          <a:xfrm>
            <a:off x="960120"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76 retained responses</a:t>
            </a:r>
          </a:p>
          <a:p>
            <a:pPr>
              <a:lnSpc>
                <a:spcPts val="2176"/>
              </a:lnSpc>
              <a:spcBef>
                <a:spcPts val="0"/>
              </a:spcBef>
              <a:spcAft>
                <a:spcPts val="0"/>
              </a:spcAft>
              <a:defRPr sz="1700" b="0">
                <a:solidFill>
                  <a:srgbClr val="506776"/>
                </a:solidFill>
                <a:latin typeface="Be Vietnam Pro"/>
              </a:defRPr>
            </a:pPr>
            <a:r>
              <a:t>+ provenance</a:t>
            </a:r>
          </a:p>
        </p:txBody>
      </p:sp>
      <p:sp>
        <p:nvSpPr>
          <p:cNvPr id="14" name="Rounded Rectangle 13"/>
          <p:cNvSpPr/>
          <p:nvPr/>
        </p:nvSpPr>
        <p:spPr>
          <a:xfrm>
            <a:off x="4133088"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33088"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61688"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02</a:t>
            </a:r>
          </a:p>
        </p:txBody>
      </p:sp>
      <p:sp>
        <p:nvSpPr>
          <p:cNvPr id="17" name="TextBox 16"/>
          <p:cNvSpPr txBox="1"/>
          <p:nvPr/>
        </p:nvSpPr>
        <p:spPr>
          <a:xfrm>
            <a:off x="4361688"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BUILD 3.0.0</a:t>
            </a:r>
          </a:p>
        </p:txBody>
      </p:sp>
      <p:sp>
        <p:nvSpPr>
          <p:cNvPr id="18" name="TextBox 17"/>
          <p:cNvSpPr txBox="1"/>
          <p:nvPr/>
        </p:nvSpPr>
        <p:spPr>
          <a:xfrm>
            <a:off x="4361688"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Canonical RDF / OWL</a:t>
            </a:r>
          </a:p>
          <a:p>
            <a:pPr>
              <a:lnSpc>
                <a:spcPts val="2176"/>
              </a:lnSpc>
              <a:spcBef>
                <a:spcPts val="0"/>
              </a:spcBef>
              <a:spcAft>
                <a:spcPts val="0"/>
              </a:spcAft>
              <a:defRPr sz="1700" b="0">
                <a:solidFill>
                  <a:srgbClr val="506776"/>
                </a:solidFill>
                <a:latin typeface="Be Vietnam Pro"/>
              </a:defRPr>
            </a:pPr>
            <a:r>
              <a:t>+ resource pages</a:t>
            </a:r>
          </a:p>
        </p:txBody>
      </p:sp>
      <p:sp>
        <p:nvSpPr>
          <p:cNvPr id="19" name="Rounded Rectangle 18"/>
          <p:cNvSpPr/>
          <p:nvPr/>
        </p:nvSpPr>
        <p:spPr>
          <a:xfrm>
            <a:off x="7534656"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534656"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63256"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03</a:t>
            </a:r>
          </a:p>
        </p:txBody>
      </p:sp>
      <p:sp>
        <p:nvSpPr>
          <p:cNvPr id="22" name="TextBox 21"/>
          <p:cNvSpPr txBox="1"/>
          <p:nvPr/>
        </p:nvSpPr>
        <p:spPr>
          <a:xfrm>
            <a:off x="7763256"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REASON / CHECK</a:t>
            </a:r>
          </a:p>
        </p:txBody>
      </p:sp>
      <p:sp>
        <p:nvSpPr>
          <p:cNvPr id="23" name="TextBox 22"/>
          <p:cNvSpPr txBox="1"/>
          <p:nvPr/>
        </p:nvSpPr>
        <p:spPr>
          <a:xfrm>
            <a:off x="7763256"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HermiT + OWL RL</a:t>
            </a:r>
          </a:p>
          <a:p>
            <a:pPr>
              <a:lnSpc>
                <a:spcPts val="2176"/>
              </a:lnSpc>
              <a:spcBef>
                <a:spcPts val="0"/>
              </a:spcBef>
              <a:spcAft>
                <a:spcPts val="0"/>
              </a:spcAft>
              <a:defRPr sz="1700" b="0">
                <a:solidFill>
                  <a:srgbClr val="506776"/>
                </a:solidFill>
                <a:latin typeface="Be Vietnam Pro"/>
              </a:defRPr>
            </a:pPr>
            <a:r>
              <a:t>27 query checks</a:t>
            </a:r>
          </a:p>
        </p:txBody>
      </p:sp>
      <p:sp>
        <p:nvSpPr>
          <p:cNvPr id="24" name="Rounded Rectangle 23"/>
          <p:cNvSpPr/>
          <p:nvPr/>
        </p:nvSpPr>
        <p:spPr>
          <a:xfrm>
            <a:off x="10936224"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936224"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64824"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04</a:t>
            </a:r>
          </a:p>
        </p:txBody>
      </p:sp>
      <p:sp>
        <p:nvSpPr>
          <p:cNvPr id="27" name="TextBox 26"/>
          <p:cNvSpPr txBox="1"/>
          <p:nvPr/>
        </p:nvSpPr>
        <p:spPr>
          <a:xfrm>
            <a:off x="11164824"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QUERY MODES</a:t>
            </a:r>
          </a:p>
        </p:txBody>
      </p:sp>
      <p:sp>
        <p:nvSpPr>
          <p:cNvPr id="28" name="TextBox 27"/>
          <p:cNvSpPr txBox="1"/>
          <p:nvPr/>
        </p:nvSpPr>
        <p:spPr>
          <a:xfrm>
            <a:off x="11164824"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Source / inference</a:t>
            </a:r>
          </a:p>
          <a:p>
            <a:pPr>
              <a:lnSpc>
                <a:spcPts val="2176"/>
              </a:lnSpc>
              <a:spcBef>
                <a:spcPts val="0"/>
              </a:spcBef>
              <a:spcAft>
                <a:spcPts val="0"/>
              </a:spcAft>
              <a:defRPr sz="1700" b="0">
                <a:solidFill>
                  <a:srgbClr val="506776"/>
                </a:solidFill>
                <a:latin typeface="Be Vietnam Pro"/>
              </a:defRPr>
            </a:pPr>
            <a:r>
              <a:t>Before / after</a:t>
            </a:r>
          </a:p>
        </p:txBody>
      </p:sp>
      <p:sp>
        <p:nvSpPr>
          <p:cNvPr id="29" name="Rounded Rectangle 28"/>
          <p:cNvSpPr/>
          <p:nvPr/>
        </p:nvSpPr>
        <p:spPr>
          <a:xfrm>
            <a:off x="731520" y="5806440"/>
            <a:ext cx="13304520" cy="1115568"/>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971032"/>
            <a:ext cx="12801600" cy="841248"/>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NEW MODEL: asserted.ttl + schema.ttl + inferred.ttl; query 27 uses before_after.trig.</a:t>
            </a:r>
          </a:p>
          <a:p>
            <a:pPr>
              <a:lnSpc>
                <a:spcPts val="2304"/>
              </a:lnSpc>
              <a:spcBef>
                <a:spcPts val="0"/>
              </a:spcBef>
              <a:spcAft>
                <a:spcPts val="0"/>
              </a:spcAft>
              <a:defRPr sz="1800" b="1">
                <a:solidFill>
                  <a:srgbClr val="FFFFFF"/>
                </a:solidFill>
                <a:latin typeface="Be Vietnam Pro"/>
              </a:defRPr>
            </a:pPr>
            <a:r>
              <a:t>APPLICATION: Flask / RDFLib / Comunica share the canonical version-3 graph exports.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Dataset: units and counting scope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Final OWL: 19,025 triples including schema and asserted facts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04 / 24</a:t>
            </a:r>
          </a:p>
        </p:txBody>
      </p:sp>
      <p:sp>
        <p:nvSpPr>
          <p:cNvPr id="9" name="Rounded Rectangle 8"/>
          <p:cNvSpPr/>
          <p:nvPr/>
        </p:nvSpPr>
        <p:spPr>
          <a:xfrm>
            <a:off x="731520"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30</a:t>
            </a:r>
          </a:p>
        </p:txBody>
      </p:sp>
      <p:sp>
        <p:nvSpPr>
          <p:cNvPr id="11" name="TextBox 10"/>
          <p:cNvSpPr txBox="1"/>
          <p:nvPr/>
        </p:nvSpPr>
        <p:spPr>
          <a:xfrm>
            <a:off x="1005840"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films</a:t>
            </a:r>
          </a:p>
        </p:txBody>
      </p:sp>
      <p:sp>
        <p:nvSpPr>
          <p:cNvPr id="12" name="Rounded Rectangle 11"/>
          <p:cNvSpPr/>
          <p:nvPr/>
        </p:nvSpPr>
        <p:spPr>
          <a:xfrm>
            <a:off x="5266944"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851</a:t>
            </a:r>
          </a:p>
        </p:txBody>
      </p:sp>
      <p:sp>
        <p:nvSpPr>
          <p:cNvPr id="14" name="TextBox 13"/>
          <p:cNvSpPr txBox="1"/>
          <p:nvPr/>
        </p:nvSpPr>
        <p:spPr>
          <a:xfrm>
            <a:off x="5541264"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people</a:t>
            </a:r>
          </a:p>
        </p:txBody>
      </p:sp>
      <p:sp>
        <p:nvSpPr>
          <p:cNvPr id="15" name="Rounded Rectangle 14"/>
          <p:cNvSpPr/>
          <p:nvPr/>
        </p:nvSpPr>
        <p:spPr>
          <a:xfrm>
            <a:off x="9802368"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0"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1,010</a:t>
            </a:r>
          </a:p>
        </p:txBody>
      </p:sp>
      <p:sp>
        <p:nvSpPr>
          <p:cNvPr id="17" name="TextBox 16"/>
          <p:cNvSpPr txBox="1"/>
          <p:nvPr/>
        </p:nvSpPr>
        <p:spPr>
          <a:xfrm>
            <a:off x="10076688"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credit records</a:t>
            </a:r>
          </a:p>
        </p:txBody>
      </p:sp>
      <p:sp>
        <p:nvSpPr>
          <p:cNvPr id="18" name="Rounded Rectangle 17"/>
          <p:cNvSpPr/>
          <p:nvPr/>
        </p:nvSpPr>
        <p:spPr>
          <a:xfrm>
            <a:off x="731520"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45</a:t>
            </a:r>
          </a:p>
        </p:txBody>
      </p:sp>
      <p:sp>
        <p:nvSpPr>
          <p:cNvPr id="20" name="TextBox 19"/>
          <p:cNvSpPr txBox="1"/>
          <p:nvPr/>
        </p:nvSpPr>
        <p:spPr>
          <a:xfrm>
            <a:off x="1005840"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companies</a:t>
            </a:r>
          </a:p>
        </p:txBody>
      </p:sp>
      <p:sp>
        <p:nvSpPr>
          <p:cNvPr id="21" name="Rounded Rectangle 20"/>
          <p:cNvSpPr/>
          <p:nvPr/>
        </p:nvSpPr>
        <p:spPr>
          <a:xfrm>
            <a:off x="5266944"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22976"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672</a:t>
            </a:r>
          </a:p>
        </p:txBody>
      </p:sp>
      <p:sp>
        <p:nvSpPr>
          <p:cNvPr id="23" name="TextBox 22"/>
          <p:cNvSpPr txBox="1"/>
          <p:nvPr/>
        </p:nvSpPr>
        <p:spPr>
          <a:xfrm>
            <a:off x="5541264"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award entities</a:t>
            </a:r>
          </a:p>
        </p:txBody>
      </p:sp>
      <p:sp>
        <p:nvSpPr>
          <p:cNvPr id="24" name="Rounded Rectangle 23"/>
          <p:cNvSpPr/>
          <p:nvPr/>
        </p:nvSpPr>
        <p:spPr>
          <a:xfrm>
            <a:off x="9802368"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0"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76</a:t>
            </a:r>
          </a:p>
        </p:txBody>
      </p:sp>
      <p:sp>
        <p:nvSpPr>
          <p:cNvPr id="26" name="TextBox 25"/>
          <p:cNvSpPr txBox="1"/>
          <p:nvPr/>
        </p:nvSpPr>
        <p:spPr>
          <a:xfrm>
            <a:off x="10076688"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source responses</a:t>
            </a:r>
          </a:p>
        </p:txBody>
      </p:sp>
      <p:sp>
        <p:nvSpPr>
          <p:cNvPr id="27" name="TextBox 2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37 named classes · 19 object + 5 datatype properties · 4 controlled role individuals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Ontology inventory: reuse before extension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17 DBpedia classes + 1 VoID class + 19 local classes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05 / 24</a:t>
            </a:r>
          </a:p>
        </p:txBody>
      </p:sp>
      <p:sp>
        <p:nvSpPr>
          <p:cNvPr id="9" name="Rounded Rectangle 8"/>
          <p:cNvSpPr/>
          <p:nvPr/>
        </p:nvSpPr>
        <p:spPr>
          <a:xfrm>
            <a:off x="731520" y="263347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2491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17 classes</a:t>
            </a:r>
          </a:p>
        </p:txBody>
      </p:sp>
      <p:sp>
        <p:nvSpPr>
          <p:cNvPr id="11" name="TextBox 10"/>
          <p:cNvSpPr txBox="1"/>
          <p:nvPr/>
        </p:nvSpPr>
        <p:spPr>
          <a:xfrm>
            <a:off x="2377440" y="272491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DBpedia classes and hierarchy</a:t>
            </a:r>
          </a:p>
        </p:txBody>
      </p:sp>
      <p:sp>
        <p:nvSpPr>
          <p:cNvPr id="12" name="Rounded Rectangle 11"/>
          <p:cNvSpPr/>
          <p:nvPr/>
        </p:nvSpPr>
        <p:spPr>
          <a:xfrm>
            <a:off x="731520" y="322783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1 class</a:t>
            </a:r>
          </a:p>
        </p:txBody>
      </p:sp>
      <p:sp>
        <p:nvSpPr>
          <p:cNvPr id="14" name="TextBox 13"/>
          <p:cNvSpPr txBox="1"/>
          <p:nvPr/>
        </p:nvSpPr>
        <p:spPr>
          <a:xfrm>
            <a:off x="2377440" y="331927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void:Dataset</a:t>
            </a:r>
          </a:p>
        </p:txBody>
      </p:sp>
      <p:sp>
        <p:nvSpPr>
          <p:cNvPr id="15" name="Rounded Rectangle 14"/>
          <p:cNvSpPr/>
          <p:nvPr/>
        </p:nvSpPr>
        <p:spPr>
          <a:xfrm>
            <a:off x="731520" y="3822191"/>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13631"/>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3 classes</a:t>
            </a:r>
          </a:p>
        </p:txBody>
      </p:sp>
      <p:sp>
        <p:nvSpPr>
          <p:cNvPr id="17" name="TextBox 16"/>
          <p:cNvSpPr txBox="1"/>
          <p:nvPr/>
        </p:nvSpPr>
        <p:spPr>
          <a:xfrm>
            <a:off x="2377440" y="3913631"/>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Contribution / Role / SourceSnapshot</a:t>
            </a:r>
          </a:p>
        </p:txBody>
      </p:sp>
      <p:sp>
        <p:nvSpPr>
          <p:cNvPr id="18" name="Rounded Rectangle 17"/>
          <p:cNvSpPr/>
          <p:nvPr/>
        </p:nvSpPr>
        <p:spPr>
          <a:xfrm>
            <a:off x="731520" y="441655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50799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2 classes</a:t>
            </a:r>
          </a:p>
        </p:txBody>
      </p:sp>
      <p:sp>
        <p:nvSpPr>
          <p:cNvPr id="20" name="TextBox 19"/>
          <p:cNvSpPr txBox="1"/>
          <p:nvPr/>
        </p:nvSpPr>
        <p:spPr>
          <a:xfrm>
            <a:off x="2377440" y="450799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ActionGenre / DramaGenre</a:t>
            </a:r>
          </a:p>
        </p:txBody>
      </p:sp>
      <p:sp>
        <p:nvSpPr>
          <p:cNvPr id="21" name="Rounded Rectangle 20"/>
          <p:cNvSpPr/>
          <p:nvPr/>
        </p:nvSpPr>
        <p:spPr>
          <a:xfrm>
            <a:off x="731520" y="501091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10235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4 classes</a:t>
            </a:r>
          </a:p>
        </p:txBody>
      </p:sp>
      <p:sp>
        <p:nvSpPr>
          <p:cNvPr id="23" name="TextBox 22"/>
          <p:cNvSpPr txBox="1"/>
          <p:nvPr/>
        </p:nvSpPr>
        <p:spPr>
          <a:xfrm>
            <a:off x="2377440" y="510235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Role-defined credit subclasses</a:t>
            </a:r>
          </a:p>
        </p:txBody>
      </p:sp>
      <p:sp>
        <p:nvSpPr>
          <p:cNvPr id="24" name="Rounded Rectangle 23"/>
          <p:cNvSpPr/>
          <p:nvPr/>
        </p:nvSpPr>
        <p:spPr>
          <a:xfrm>
            <a:off x="731520" y="560527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69671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10 classes</a:t>
            </a:r>
          </a:p>
        </p:txBody>
      </p:sp>
      <p:sp>
        <p:nvSpPr>
          <p:cNvPr id="26" name="TextBox 25"/>
          <p:cNvSpPr txBox="1"/>
          <p:nvPr/>
        </p:nvSpPr>
        <p:spPr>
          <a:xfrm>
            <a:off x="2377440" y="5696712"/>
            <a:ext cx="4846320" cy="36576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Domain inferred subsets</a:t>
            </a:r>
          </a:p>
        </p:txBody>
      </p:sp>
      <p:sp>
        <p:nvSpPr>
          <p:cNvPr id="27" name="TextBox 26"/>
          <p:cNvSpPr txBox="1"/>
          <p:nvPr/>
        </p:nvSpPr>
        <p:spPr>
          <a:xfrm>
            <a:off x="914400" y="6437376"/>
            <a:ext cx="6355080" cy="667512"/>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37 named classes: 17 dbo: + 1 void: + 19 ex:</a:t>
            </a:r>
          </a:p>
          <a:p>
            <a:pPr>
              <a:lnSpc>
                <a:spcPts val="2048"/>
              </a:lnSpc>
              <a:spcBef>
                <a:spcPts val="0"/>
              </a:spcBef>
              <a:spcAft>
                <a:spcPts val="0"/>
              </a:spcAft>
              <a:defRPr sz="1600" b="0">
                <a:solidFill>
                  <a:srgbClr val="506776"/>
                </a:solidFill>
                <a:latin typeface="Be Vietnam Pro"/>
              </a:defRPr>
            </a:pPr>
            <a:r>
              <a:t>10 inferred subsets + 4 supporting credit types.</a:t>
            </a:r>
          </a:p>
        </p:txBody>
      </p:sp>
      <p:sp>
        <p:nvSpPr>
          <p:cNvPr id="28" name="PHOTO_P00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HOTO_P00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P00</a:t>
            </a:r>
          </a:p>
        </p:txBody>
      </p:sp>
      <p:sp>
        <p:nvSpPr>
          <p:cNvPr id="30" name="PHOTO_P00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HOTO_P00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IRI và phiên bản 3.0.0</a:t>
            </a:r>
          </a:p>
        </p:txBody>
      </p:sp>
      <p:sp>
        <p:nvSpPr>
          <p:cNvPr id="32" name="PHOTO_P00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P00_ontology_header.png</a:t>
            </a:r>
          </a:p>
        </p:txBody>
      </p:sp>
      <p:sp>
        <p:nvSpPr>
          <p:cNvPr id="33" name="PHOTO_P00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ontology/Movie_Knowledge_Graph.owl.</a:t>
            </a:r>
          </a:p>
        </p:txBody>
      </p:sp>
      <p:sp>
        <p:nvSpPr>
          <p:cNvPr id="34" name="PHOTO_P00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Chọn Active Ontology / Ontology Header.</a:t>
            </a:r>
          </a:p>
        </p:txBody>
      </p:sp>
      <p:sp>
        <p:nvSpPr>
          <p:cNvPr id="35" name="PHOTO_P00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IRI và versionInfo 3.0.0 trong ảnh.</a:t>
            </a:r>
          </a:p>
        </p:txBody>
      </p:sp>
      <p:sp>
        <p:nvSpPr>
          <p:cNvPr id="36" name="PHOTO_P00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Work and Film: meaningful inferred subsets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 unsupported feature, animation or documentary declarations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06 / 24</a:t>
            </a:r>
          </a:p>
        </p:txBody>
      </p:sp>
      <p:sp>
        <p:nvSpPr>
          <p:cNvPr id="9" name="Rounded Rectangle 8"/>
          <p:cNvSpPr/>
          <p:nvPr/>
        </p:nvSpPr>
        <p:spPr>
          <a:xfrm>
            <a:off x="731520" y="2615184"/>
            <a:ext cx="6720840" cy="2560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770632"/>
            <a:ext cx="6208775"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007F82"/>
                </a:solidFill>
                <a:latin typeface="Be Vietnam Pro"/>
              </a:defRPr>
            </a:pPr>
            <a:r>
              <a:t>dbo:Work</a:t>
            </a:r>
          </a:p>
        </p:txBody>
      </p:sp>
      <p:sp>
        <p:nvSpPr>
          <p:cNvPr id="11" name="Rectangle 10"/>
          <p:cNvSpPr/>
          <p:nvPr/>
        </p:nvSpPr>
        <p:spPr>
          <a:xfrm>
            <a:off x="905256" y="31546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36391"/>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dbo:Film · 30</a:t>
            </a:r>
          </a:p>
        </p:txBody>
      </p:sp>
      <p:sp>
        <p:nvSpPr>
          <p:cNvPr id="13" name="Rectangle 12"/>
          <p:cNvSpPr/>
          <p:nvPr/>
        </p:nvSpPr>
        <p:spPr>
          <a:xfrm>
            <a:off x="1124712" y="35204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50215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ActionFilm · 12</a:t>
            </a:r>
          </a:p>
        </p:txBody>
      </p:sp>
      <p:sp>
        <p:nvSpPr>
          <p:cNvPr id="15" name="Rectangle 14"/>
          <p:cNvSpPr/>
          <p:nvPr/>
        </p:nvSpPr>
        <p:spPr>
          <a:xfrm>
            <a:off x="1124712" y="38862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8679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AwardWinningFilm · 26</a:t>
            </a:r>
          </a:p>
        </p:txBody>
      </p:sp>
      <p:sp>
        <p:nvSpPr>
          <p:cNvPr id="17" name="Rectangle 16"/>
          <p:cNvSpPr/>
          <p:nvPr/>
        </p:nvSpPr>
        <p:spPr>
          <a:xfrm>
            <a:off x="1124712" y="425195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26464" y="423367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AwardWinningActionFilm · 10</a:t>
            </a:r>
          </a:p>
        </p:txBody>
      </p:sp>
      <p:sp>
        <p:nvSpPr>
          <p:cNvPr id="19" name="Rectangle 18"/>
          <p:cNvSpPr/>
          <p:nvPr/>
        </p:nvSpPr>
        <p:spPr>
          <a:xfrm>
            <a:off x="1124712" y="461771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26464" y="4599431"/>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GenreCrossingFilm · 8</a:t>
            </a:r>
          </a:p>
        </p:txBody>
      </p:sp>
      <p:sp>
        <p:nvSpPr>
          <p:cNvPr id="21" name="PHOTO_P01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HOTO_P01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P01</a:t>
            </a:r>
          </a:p>
        </p:txBody>
      </p:sp>
      <p:sp>
        <p:nvSpPr>
          <p:cNvPr id="23" name="PHOTO_P01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HOTO_P01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Cây Work / Film</a:t>
            </a:r>
          </a:p>
        </p:txBody>
      </p:sp>
      <p:sp>
        <p:nvSpPr>
          <p:cNvPr id="25" name="PHOTO_P01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P01_film_hierarchy.png</a:t>
            </a:r>
          </a:p>
        </p:txBody>
      </p:sp>
      <p:sp>
        <p:nvSpPr>
          <p:cNvPr id="26" name="PHOTO_P01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Classes </a:t>
            </a:r>
            <a:r>
              <a:rPr>
                <a:latin typeface="Arial Unicode MS"/>
              </a:rPr>
              <a:t>→</a:t>
            </a:r>
            <a:r>
              <a:t> dbo:Work </a:t>
            </a:r>
            <a:r>
              <a:rPr>
                <a:latin typeface="Arial Unicode MS"/>
              </a:rPr>
              <a:t>→</a:t>
            </a:r>
            <a:r>
              <a:t> dbo:Film.</a:t>
            </a:r>
          </a:p>
        </p:txBody>
      </p:sp>
      <p:sp>
        <p:nvSpPr>
          <p:cNvPr id="27" name="PHOTO_P01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ActionFilm, AwardWinningFilm và các lớp giao.</a:t>
            </a:r>
          </a:p>
        </p:txBody>
      </p:sp>
      <p:sp>
        <p:nvSpPr>
          <p:cNvPr id="28" name="PHOTO_P01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IRI DBpedia của Film trong Description.</a:t>
            </a:r>
          </a:p>
        </p:txBody>
      </p:sp>
      <p:sp>
        <p:nvSpPr>
          <p:cNvPr id="29" name="PHOTO_P01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0" name="TextBox 29"/>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Membership is inferred from source-supported facts; genre buckets are explicit author mappings.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People and companies: reuse DBpedia hierarchy</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Actor and Filmmaker may overlap; roles remain individuals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07 / 24</a:t>
            </a:r>
          </a:p>
        </p:txBody>
      </p:sp>
      <p:sp>
        <p:nvSpPr>
          <p:cNvPr id="9" name="Rounded Rectangle 8"/>
          <p:cNvSpPr/>
          <p:nvPr/>
        </p:nvSpPr>
        <p:spPr>
          <a:xfrm>
            <a:off x="731520" y="2615184"/>
            <a:ext cx="672084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770632"/>
            <a:ext cx="6208775"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007F82"/>
                </a:solidFill>
                <a:latin typeface="Be Vietnam Pro"/>
              </a:defRPr>
            </a:pPr>
            <a:r>
              <a:t>dbo:Agent</a:t>
            </a:r>
          </a:p>
        </p:txBody>
      </p:sp>
      <p:sp>
        <p:nvSpPr>
          <p:cNvPr id="11" name="Rectangle 10"/>
          <p:cNvSpPr/>
          <p:nvPr/>
        </p:nvSpPr>
        <p:spPr>
          <a:xfrm>
            <a:off x="905256" y="31546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36391"/>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dbo:Person · 851</a:t>
            </a:r>
          </a:p>
        </p:txBody>
      </p:sp>
      <p:sp>
        <p:nvSpPr>
          <p:cNvPr id="13" name="Rectangle 12"/>
          <p:cNvSpPr/>
          <p:nvPr/>
        </p:nvSpPr>
        <p:spPr>
          <a:xfrm>
            <a:off x="1124712" y="35204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50215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dbo:Artist </a:t>
            </a:r>
            <a:r>
              <a:rPr>
                <a:latin typeface="Arial Unicode MS"/>
              </a:rPr>
              <a:t>→</a:t>
            </a:r>
            <a:r>
              <a:t> dbo:Actor · 769</a:t>
            </a:r>
          </a:p>
        </p:txBody>
      </p:sp>
      <p:sp>
        <p:nvSpPr>
          <p:cNvPr id="15" name="Rectangle 14"/>
          <p:cNvSpPr/>
          <p:nvPr/>
        </p:nvSpPr>
        <p:spPr>
          <a:xfrm>
            <a:off x="1124712" y="38862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8679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dbo:MovieDirector · 17</a:t>
            </a:r>
          </a:p>
        </p:txBody>
      </p:sp>
      <p:sp>
        <p:nvSpPr>
          <p:cNvPr id="17" name="Rectangle 16"/>
          <p:cNvSpPr/>
          <p:nvPr/>
        </p:nvSpPr>
        <p:spPr>
          <a:xfrm>
            <a:off x="1124712" y="425195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26464" y="423367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dbo:Writer </a:t>
            </a:r>
            <a:r>
              <a:rPr>
                <a:latin typeface="Arial Unicode MS"/>
              </a:rPr>
              <a:t>→</a:t>
            </a:r>
            <a:r>
              <a:t> ScreenWriter · 34</a:t>
            </a:r>
          </a:p>
        </p:txBody>
      </p:sp>
      <p:sp>
        <p:nvSpPr>
          <p:cNvPr id="19" name="Rectangle 18"/>
          <p:cNvSpPr/>
          <p:nvPr/>
        </p:nvSpPr>
        <p:spPr>
          <a:xfrm>
            <a:off x="1124712" y="461771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26464" y="4599431"/>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dbo:Producer · 57</a:t>
            </a:r>
          </a:p>
        </p:txBody>
      </p:sp>
      <p:sp>
        <p:nvSpPr>
          <p:cNvPr id="21" name="Rectangle 20"/>
          <p:cNvSpPr/>
          <p:nvPr/>
        </p:nvSpPr>
        <p:spPr>
          <a:xfrm>
            <a:off x="1124712" y="49834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26464" y="496519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Filmmaker · 89; WriterDirector · 10</a:t>
            </a:r>
          </a:p>
        </p:txBody>
      </p:sp>
      <p:sp>
        <p:nvSpPr>
          <p:cNvPr id="23" name="Rectangle 22"/>
          <p:cNvSpPr/>
          <p:nvPr/>
        </p:nvSpPr>
        <p:spPr>
          <a:xfrm>
            <a:off x="905256" y="53492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07008" y="5330952"/>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dbo:Organisation</a:t>
            </a:r>
          </a:p>
        </p:txBody>
      </p:sp>
      <p:sp>
        <p:nvSpPr>
          <p:cNvPr id="25" name="Rectangle 24"/>
          <p:cNvSpPr/>
          <p:nvPr/>
        </p:nvSpPr>
        <p:spPr>
          <a:xfrm>
            <a:off x="1124712" y="57150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26464" y="56967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dbo:Company · 45</a:t>
            </a:r>
          </a:p>
        </p:txBody>
      </p:sp>
      <p:sp>
        <p:nvSpPr>
          <p:cNvPr id="27" name="PHOTO_P02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HOTO_P02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P02</a:t>
            </a:r>
          </a:p>
        </p:txBody>
      </p:sp>
      <p:sp>
        <p:nvSpPr>
          <p:cNvPr id="29" name="PHOTO_P02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HOTO_P02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Cây chủ thể DBpedia</a:t>
            </a:r>
          </a:p>
        </p:txBody>
      </p:sp>
      <p:sp>
        <p:nvSpPr>
          <p:cNvPr id="31" name="PHOTO_P02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P02_agent_hierarchy.png</a:t>
            </a:r>
          </a:p>
        </p:txBody>
      </p:sp>
      <p:sp>
        <p:nvSpPr>
          <p:cNvPr id="32" name="PHOTO_P02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dbo:Agent </a:t>
            </a:r>
            <a:r>
              <a:rPr>
                <a:latin typeface="Arial Unicode MS"/>
              </a:rPr>
              <a:t>→</a:t>
            </a:r>
            <a:r>
              <a:t> dbo:Person và dbo:Organisation.</a:t>
            </a:r>
          </a:p>
        </p:txBody>
      </p:sp>
      <p:sp>
        <p:nvSpPr>
          <p:cNvPr id="33" name="PHOTO_P02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Artist </a:t>
            </a:r>
            <a:r>
              <a:rPr>
                <a:latin typeface="Arial Unicode MS"/>
              </a:rPr>
              <a:t>→</a:t>
            </a:r>
            <a:r>
              <a:t> Actor; Organisation </a:t>
            </a:r>
            <a:r>
              <a:rPr>
                <a:latin typeface="Arial Unicode MS"/>
              </a:rPr>
              <a:t>→</a:t>
            </a:r>
            <a:r>
              <a:t> Company.</a:t>
            </a:r>
          </a:p>
        </p:txBody>
      </p:sp>
      <p:sp>
        <p:nvSpPr>
          <p:cNvPr id="34" name="PHOTO_P02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Mở MovieDirector / Writer </a:t>
            </a:r>
            <a:r>
              <a:rPr>
                <a:latin typeface="Arial Unicode MS"/>
              </a:rPr>
              <a:t>→</a:t>
            </a:r>
            <a:r>
              <a:t> ScreenWriter.</a:t>
            </a:r>
          </a:p>
        </p:txBody>
      </p:sp>
      <p:sp>
        <p:nvSpPr>
          <p:cNvPr id="35" name="PHOTO_P02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6" name="TextBox 35"/>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No ex:Actor / Organization / ProductionCompany clones; four role values describe credit records.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Genre, awards and provenance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Explicit label mappings are distinguished from logical entailment</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08 / 24</a:t>
            </a:r>
          </a:p>
        </p:txBody>
      </p:sp>
      <p:sp>
        <p:nvSpPr>
          <p:cNvPr id="9" name="Rounded Rectangle 8"/>
          <p:cNvSpPr/>
          <p:nvPr/>
        </p:nvSpPr>
        <p:spPr>
          <a:xfrm>
            <a:off x="731520" y="2670048"/>
            <a:ext cx="6720840" cy="14813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25496"/>
            <a:ext cx="6208775"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dbo:Genre</a:t>
            </a:r>
          </a:p>
        </p:txBody>
      </p:sp>
      <p:sp>
        <p:nvSpPr>
          <p:cNvPr id="11" name="Rectangle 10"/>
          <p:cNvSpPr/>
          <p:nvPr/>
        </p:nvSpPr>
        <p:spPr>
          <a:xfrm>
            <a:off x="905256" y="3122676"/>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04388"/>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dbo:MovieGenre</a:t>
            </a:r>
          </a:p>
        </p:txBody>
      </p:sp>
      <p:sp>
        <p:nvSpPr>
          <p:cNvPr id="13" name="Rectangle 12"/>
          <p:cNvSpPr/>
          <p:nvPr/>
        </p:nvSpPr>
        <p:spPr>
          <a:xfrm>
            <a:off x="1124712" y="3401568"/>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383279"/>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ex:ActionGenre · 3 genre entities</a:t>
            </a:r>
          </a:p>
        </p:txBody>
      </p:sp>
      <p:sp>
        <p:nvSpPr>
          <p:cNvPr id="15" name="Rectangle 14"/>
          <p:cNvSpPr/>
          <p:nvPr/>
        </p:nvSpPr>
        <p:spPr>
          <a:xfrm>
            <a:off x="1124712" y="3680459"/>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662172"/>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ex:DramaGenre · 9 genre entities</a:t>
            </a:r>
          </a:p>
        </p:txBody>
      </p:sp>
      <p:sp>
        <p:nvSpPr>
          <p:cNvPr id="17" name="Rounded Rectangle 16"/>
          <p:cNvSpPr/>
          <p:nvPr/>
        </p:nvSpPr>
        <p:spPr>
          <a:xfrm>
            <a:off x="731520" y="4251960"/>
            <a:ext cx="6720840" cy="12024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407408"/>
            <a:ext cx="6208775"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dbo:Award · 672 entities</a:t>
            </a:r>
          </a:p>
        </p:txBody>
      </p:sp>
      <p:sp>
        <p:nvSpPr>
          <p:cNvPr id="19" name="Rectangle 18"/>
          <p:cNvSpPr/>
          <p:nvPr/>
        </p:nvSpPr>
        <p:spPr>
          <a:xfrm>
            <a:off x="905256" y="4704588"/>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4686300"/>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Film and person award facts</a:t>
            </a:r>
          </a:p>
        </p:txBody>
      </p:sp>
      <p:sp>
        <p:nvSpPr>
          <p:cNvPr id="21" name="Rectangle 20"/>
          <p:cNvSpPr/>
          <p:nvPr/>
        </p:nvSpPr>
        <p:spPr>
          <a:xfrm>
            <a:off x="905256" y="4983480"/>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07008" y="4965192"/>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No guessed award subclasses</a:t>
            </a:r>
          </a:p>
        </p:txBody>
      </p:sp>
      <p:sp>
        <p:nvSpPr>
          <p:cNvPr id="23" name="PHOTO_P03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HOTO_P03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P03</a:t>
            </a:r>
          </a:p>
        </p:txBody>
      </p:sp>
      <p:sp>
        <p:nvSpPr>
          <p:cNvPr id="25" name="PHOTO_P03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HOTO_P03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MovieGenre và Award</a:t>
            </a:r>
          </a:p>
        </p:txBody>
      </p:sp>
      <p:sp>
        <p:nvSpPr>
          <p:cNvPr id="27" name="PHOTO_P03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P03_genre_award_hierarchy.png</a:t>
            </a:r>
          </a:p>
        </p:txBody>
      </p:sp>
      <p:sp>
        <p:nvSpPr>
          <p:cNvPr id="28" name="PHOTO_P03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dbo:Genre </a:t>
            </a:r>
            <a:r>
              <a:rPr>
                <a:latin typeface="Arial Unicode MS"/>
              </a:rPr>
              <a:t>→</a:t>
            </a:r>
            <a:r>
              <a:t> dbo:MovieGenre.</a:t>
            </a:r>
          </a:p>
        </p:txBody>
      </p:sp>
      <p:sp>
        <p:nvSpPr>
          <p:cNvPr id="29" name="PHOTO_P03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ActionGenre / DramaGenre; chọn dbo:Award.</a:t>
            </a:r>
          </a:p>
        </p:txBody>
      </p:sp>
      <p:sp>
        <p:nvSpPr>
          <p:cNvPr id="30" name="PHOTO_P03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Description để đọc IRI và lớp cha.</a:t>
            </a:r>
          </a:p>
        </p:txBody>
      </p:sp>
      <p:sp>
        <p:nvSpPr>
          <p:cNvPr id="31" name="PHOTO_P03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2" name="TextBox 3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Supporting vocabulary: dbo:Country / Language · ex:SourceSnapshot · void:Dataset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Contribution: person, film and role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Exactly one endpoint of each kind per credit record</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09 / 24</a:t>
            </a:r>
          </a:p>
        </p:txBody>
      </p:sp>
      <p:sp>
        <p:nvSpPr>
          <p:cNvPr id="9" name="Rounded Rectangle 8"/>
          <p:cNvSpPr/>
          <p:nvPr/>
        </p:nvSpPr>
        <p:spPr>
          <a:xfrm>
            <a:off x="777240" y="2706624"/>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834640"/>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Nolan</a:t>
            </a:r>
          </a:p>
        </p:txBody>
      </p:sp>
      <p:sp>
        <p:nvSpPr>
          <p:cNvPr id="11" name="TextBox 10"/>
          <p:cNvSpPr txBox="1"/>
          <p:nvPr/>
        </p:nvSpPr>
        <p:spPr>
          <a:xfrm>
            <a:off x="3154680" y="2734056"/>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12" name="TextBox 11"/>
          <p:cNvSpPr txBox="1"/>
          <p:nvPr/>
        </p:nvSpPr>
        <p:spPr>
          <a:xfrm>
            <a:off x="3017520" y="3191256"/>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hasContribution</a:t>
            </a:r>
          </a:p>
        </p:txBody>
      </p:sp>
      <p:sp>
        <p:nvSpPr>
          <p:cNvPr id="13" name="Rounded Rectangle 12"/>
          <p:cNvSpPr/>
          <p:nvPr/>
        </p:nvSpPr>
        <p:spPr>
          <a:xfrm>
            <a:off x="4315968" y="2706624"/>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59" y="2834640"/>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15" name="Rounded Rectangle 14"/>
          <p:cNvSpPr/>
          <p:nvPr/>
        </p:nvSpPr>
        <p:spPr>
          <a:xfrm>
            <a:off x="777240" y="3767328"/>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895344"/>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17" name="TextBox 16"/>
          <p:cNvSpPr txBox="1"/>
          <p:nvPr/>
        </p:nvSpPr>
        <p:spPr>
          <a:xfrm>
            <a:off x="3154680" y="3794760"/>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18" name="TextBox 17"/>
          <p:cNvSpPr txBox="1"/>
          <p:nvPr/>
        </p:nvSpPr>
        <p:spPr>
          <a:xfrm>
            <a:off x="3017520" y="4251960"/>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contributionTo</a:t>
            </a:r>
          </a:p>
        </p:txBody>
      </p:sp>
      <p:sp>
        <p:nvSpPr>
          <p:cNvPr id="19" name="Rounded Rectangle 18"/>
          <p:cNvSpPr/>
          <p:nvPr/>
        </p:nvSpPr>
        <p:spPr>
          <a:xfrm>
            <a:off x="4315968" y="3767328"/>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59" y="3895344"/>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Inception · Film</a:t>
            </a:r>
          </a:p>
        </p:txBody>
      </p:sp>
      <p:sp>
        <p:nvSpPr>
          <p:cNvPr id="21" name="Rounded Rectangle 20"/>
          <p:cNvSpPr/>
          <p:nvPr/>
        </p:nvSpPr>
        <p:spPr>
          <a:xfrm>
            <a:off x="777240" y="4828031"/>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4956047"/>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23" name="TextBox 22"/>
          <p:cNvSpPr txBox="1"/>
          <p:nvPr/>
        </p:nvSpPr>
        <p:spPr>
          <a:xfrm>
            <a:off x="3154680" y="4855464"/>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24" name="TextBox 23"/>
          <p:cNvSpPr txBox="1"/>
          <p:nvPr/>
        </p:nvSpPr>
        <p:spPr>
          <a:xfrm>
            <a:off x="3017520" y="5312664"/>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hasRole</a:t>
            </a:r>
          </a:p>
        </p:txBody>
      </p:sp>
      <p:sp>
        <p:nvSpPr>
          <p:cNvPr id="25" name="Rounded Rectangle 24"/>
          <p:cNvSpPr/>
          <p:nvPr/>
        </p:nvSpPr>
        <p:spPr>
          <a:xfrm>
            <a:off x="4315968" y="4828031"/>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0559" y="4956047"/>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DirectorRole</a:t>
            </a:r>
          </a:p>
        </p:txBody>
      </p:sp>
      <p:sp>
        <p:nvSpPr>
          <p:cNvPr id="27" name="Rounded Rectangle 26"/>
          <p:cNvSpPr/>
          <p:nvPr/>
        </p:nvSpPr>
        <p:spPr>
          <a:xfrm>
            <a:off x="777240" y="6044184"/>
            <a:ext cx="67208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6044184"/>
            <a:ext cx="41148" cy="11430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 y="6190488"/>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Each role has its own record</a:t>
            </a:r>
          </a:p>
        </p:txBody>
      </p:sp>
      <p:sp>
        <p:nvSpPr>
          <p:cNvPr id="30" name="TextBox 29"/>
          <p:cNvSpPr txBox="1"/>
          <p:nvPr/>
        </p:nvSpPr>
        <p:spPr>
          <a:xfrm>
            <a:off x="987552" y="6634480"/>
            <a:ext cx="6300216" cy="47040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Director / Actor / Writer / Producer. Nolan has 3 roles in</a:t>
            </a:r>
          </a:p>
          <a:p>
            <a:pPr>
              <a:lnSpc>
                <a:spcPts val="2048"/>
              </a:lnSpc>
              <a:spcBef>
                <a:spcPts val="0"/>
              </a:spcBef>
              <a:spcAft>
                <a:spcPts val="0"/>
              </a:spcAft>
              <a:defRPr sz="1600" b="0">
                <a:solidFill>
                  <a:srgbClr val="506776"/>
                </a:solidFill>
                <a:latin typeface="Be Vietnam Pro"/>
              </a:defRPr>
            </a:pPr>
            <a:r>
              <a:t>Inception.</a:t>
            </a:r>
          </a:p>
        </p:txBody>
      </p:sp>
      <p:sp>
        <p:nvSpPr>
          <p:cNvPr id="31" name="PHOTO_P04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HOTO_P04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P04</a:t>
            </a:r>
          </a:p>
        </p:txBody>
      </p:sp>
      <p:sp>
        <p:nvSpPr>
          <p:cNvPr id="33" name="PHOTO_P04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HOTO_P04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Ràng buộc Contribution</a:t>
            </a:r>
          </a:p>
        </p:txBody>
      </p:sp>
      <p:sp>
        <p:nvSpPr>
          <p:cNvPr id="35" name="PHOTO_P04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P04_contribution_restrictions.png</a:t>
            </a:r>
          </a:p>
        </p:txBody>
      </p:sp>
      <p:sp>
        <p:nvSpPr>
          <p:cNvPr id="36" name="PHOTO_P04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ex:Contribution.</a:t>
            </a:r>
          </a:p>
        </p:txBody>
      </p:sp>
      <p:sp>
        <p:nvSpPr>
          <p:cNvPr id="37" name="PHOTO_P04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exactly 1 cho contributionBy, contributionTo, hasRole.</a:t>
            </a:r>
          </a:p>
        </p:txBody>
      </p:sp>
      <p:sp>
        <p:nvSpPr>
          <p:cNvPr id="38" name="PHOTO_P04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Chọn hasRole để thấy Functional và role individual.</a:t>
            </a:r>
          </a:p>
        </p:txBody>
      </p:sp>
      <p:sp>
        <p:nvSpPr>
          <p:cNvPr id="39" name="PHOTO_P04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Properties: reuse, inverse and chain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19 object properties; custom relations describe credit context</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10 / 24</a:t>
            </a:r>
          </a:p>
        </p:txBody>
      </p:sp>
      <p:sp>
        <p:nvSpPr>
          <p:cNvPr id="9" name="Rectangle 8"/>
          <p:cNvSpPr/>
          <p:nvPr/>
        </p:nvSpPr>
        <p:spPr>
          <a:xfrm>
            <a:off x="731520" y="2679192"/>
            <a:ext cx="681228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52344"/>
            <a:ext cx="1792224"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Property</a:t>
            </a:r>
          </a:p>
        </p:txBody>
      </p:sp>
      <p:sp>
        <p:nvSpPr>
          <p:cNvPr id="11" name="TextBox 10"/>
          <p:cNvSpPr txBox="1"/>
          <p:nvPr/>
        </p:nvSpPr>
        <p:spPr>
          <a:xfrm>
            <a:off x="2852928" y="2752344"/>
            <a:ext cx="2642615"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Domain </a:t>
            </a:r>
            <a:r>
              <a:rPr>
                <a:latin typeface="Arial Unicode MS"/>
              </a:rPr>
              <a:t>→</a:t>
            </a:r>
            <a:r>
              <a:t> range</a:t>
            </a:r>
          </a:p>
        </p:txBody>
      </p:sp>
      <p:sp>
        <p:nvSpPr>
          <p:cNvPr id="12" name="TextBox 11"/>
          <p:cNvSpPr txBox="1"/>
          <p:nvPr/>
        </p:nvSpPr>
        <p:spPr>
          <a:xfrm>
            <a:off x="5715000" y="2752344"/>
            <a:ext cx="1719072"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Inverse</a:t>
            </a:r>
          </a:p>
        </p:txBody>
      </p:sp>
      <p:sp>
        <p:nvSpPr>
          <p:cNvPr id="13" name="Rectangle 12"/>
          <p:cNvSpPr/>
          <p:nvPr/>
        </p:nvSpPr>
        <p:spPr>
          <a:xfrm>
            <a:off x="731520" y="3072384"/>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31820"/>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contributionBy</a:t>
            </a:r>
          </a:p>
        </p:txBody>
      </p:sp>
      <p:sp>
        <p:nvSpPr>
          <p:cNvPr id="15" name="TextBox 14"/>
          <p:cNvSpPr txBox="1"/>
          <p:nvPr/>
        </p:nvSpPr>
        <p:spPr>
          <a:xfrm>
            <a:off x="2852928" y="3131820"/>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Credit </a:t>
            </a:r>
            <a:r>
              <a:rPr>
                <a:latin typeface="Arial Unicode MS"/>
              </a:rPr>
              <a:t>→</a:t>
            </a:r>
            <a:r>
              <a:t> Person</a:t>
            </a:r>
          </a:p>
        </p:txBody>
      </p:sp>
      <p:sp>
        <p:nvSpPr>
          <p:cNvPr id="16" name="TextBox 15"/>
          <p:cNvSpPr txBox="1"/>
          <p:nvPr/>
        </p:nvSpPr>
        <p:spPr>
          <a:xfrm>
            <a:off x="5715000" y="3131820"/>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hasContribution</a:t>
            </a:r>
          </a:p>
        </p:txBody>
      </p:sp>
      <p:sp>
        <p:nvSpPr>
          <p:cNvPr id="17" name="Rectangle 16"/>
          <p:cNvSpPr/>
          <p:nvPr/>
        </p:nvSpPr>
        <p:spPr>
          <a:xfrm>
            <a:off x="731520" y="3511296"/>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570732"/>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contributionTo</a:t>
            </a:r>
          </a:p>
        </p:txBody>
      </p:sp>
      <p:sp>
        <p:nvSpPr>
          <p:cNvPr id="19" name="TextBox 18"/>
          <p:cNvSpPr txBox="1"/>
          <p:nvPr/>
        </p:nvSpPr>
        <p:spPr>
          <a:xfrm>
            <a:off x="2852928" y="3570732"/>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Credit </a:t>
            </a:r>
            <a:r>
              <a:rPr>
                <a:latin typeface="Arial Unicode MS"/>
              </a:rPr>
              <a:t>→</a:t>
            </a:r>
            <a:r>
              <a:t> Film</a:t>
            </a:r>
          </a:p>
        </p:txBody>
      </p:sp>
      <p:sp>
        <p:nvSpPr>
          <p:cNvPr id="20" name="TextBox 19"/>
          <p:cNvSpPr txBox="1"/>
          <p:nvPr/>
        </p:nvSpPr>
        <p:spPr>
          <a:xfrm>
            <a:off x="5715000" y="3570732"/>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contributionOf</a:t>
            </a:r>
          </a:p>
        </p:txBody>
      </p:sp>
      <p:sp>
        <p:nvSpPr>
          <p:cNvPr id="21" name="Rectangle 20"/>
          <p:cNvSpPr/>
          <p:nvPr/>
        </p:nvSpPr>
        <p:spPr>
          <a:xfrm>
            <a:off x="731520" y="3950208"/>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009644"/>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hasRole</a:t>
            </a:r>
          </a:p>
        </p:txBody>
      </p:sp>
      <p:sp>
        <p:nvSpPr>
          <p:cNvPr id="23" name="TextBox 22"/>
          <p:cNvSpPr txBox="1"/>
          <p:nvPr/>
        </p:nvSpPr>
        <p:spPr>
          <a:xfrm>
            <a:off x="2852928" y="4009644"/>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Credit </a:t>
            </a:r>
            <a:r>
              <a:rPr>
                <a:latin typeface="Arial Unicode MS"/>
              </a:rPr>
              <a:t>→</a:t>
            </a:r>
            <a:r>
              <a:t> Role</a:t>
            </a:r>
          </a:p>
        </p:txBody>
      </p:sp>
      <p:sp>
        <p:nvSpPr>
          <p:cNvPr id="24" name="TextBox 23"/>
          <p:cNvSpPr txBox="1"/>
          <p:nvPr/>
        </p:nvSpPr>
        <p:spPr>
          <a:xfrm>
            <a:off x="5715000" y="4009644"/>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functional</a:t>
            </a:r>
          </a:p>
        </p:txBody>
      </p:sp>
      <p:sp>
        <p:nvSpPr>
          <p:cNvPr id="25" name="Rectangle 24"/>
          <p:cNvSpPr/>
          <p:nvPr/>
        </p:nvSpPr>
        <p:spPr>
          <a:xfrm>
            <a:off x="731520" y="4389120"/>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448556"/>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dbo:director</a:t>
            </a:r>
          </a:p>
        </p:txBody>
      </p:sp>
      <p:sp>
        <p:nvSpPr>
          <p:cNvPr id="27" name="TextBox 26"/>
          <p:cNvSpPr txBox="1"/>
          <p:nvPr/>
        </p:nvSpPr>
        <p:spPr>
          <a:xfrm>
            <a:off x="2852928" y="4448556"/>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Film </a:t>
            </a:r>
            <a:r>
              <a:rPr>
                <a:latin typeface="Arial Unicode MS"/>
              </a:rPr>
              <a:t>→</a:t>
            </a:r>
            <a:r>
              <a:t> Person</a:t>
            </a:r>
          </a:p>
        </p:txBody>
      </p:sp>
      <p:sp>
        <p:nvSpPr>
          <p:cNvPr id="28" name="TextBox 27"/>
          <p:cNvSpPr txBox="1"/>
          <p:nvPr/>
        </p:nvSpPr>
        <p:spPr>
          <a:xfrm>
            <a:off x="5715000" y="4448556"/>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ex:directed</a:t>
            </a:r>
          </a:p>
        </p:txBody>
      </p:sp>
      <p:sp>
        <p:nvSpPr>
          <p:cNvPr id="29" name="Rectangle 28"/>
          <p:cNvSpPr/>
          <p:nvPr/>
        </p:nvSpPr>
        <p:spPr>
          <a:xfrm>
            <a:off x="731520" y="4828032"/>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887468"/>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dbo:starring</a:t>
            </a:r>
          </a:p>
        </p:txBody>
      </p:sp>
      <p:sp>
        <p:nvSpPr>
          <p:cNvPr id="31" name="TextBox 30"/>
          <p:cNvSpPr txBox="1"/>
          <p:nvPr/>
        </p:nvSpPr>
        <p:spPr>
          <a:xfrm>
            <a:off x="2852928" y="4887468"/>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Work </a:t>
            </a:r>
            <a:r>
              <a:rPr>
                <a:latin typeface="Arial Unicode MS"/>
              </a:rPr>
              <a:t>→</a:t>
            </a:r>
            <a:r>
              <a:t> Actor</a:t>
            </a:r>
          </a:p>
        </p:txBody>
      </p:sp>
      <p:sp>
        <p:nvSpPr>
          <p:cNvPr id="32" name="TextBox 31"/>
          <p:cNvSpPr txBox="1"/>
          <p:nvPr/>
        </p:nvSpPr>
        <p:spPr>
          <a:xfrm>
            <a:off x="5715000" y="4887468"/>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ex:actedIn</a:t>
            </a:r>
          </a:p>
        </p:txBody>
      </p:sp>
      <p:sp>
        <p:nvSpPr>
          <p:cNvPr id="33" name="Rectangle 32"/>
          <p:cNvSpPr/>
          <p:nvPr/>
        </p:nvSpPr>
        <p:spPr>
          <a:xfrm>
            <a:off x="731520" y="5266944"/>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5326380"/>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contributedTo</a:t>
            </a:r>
          </a:p>
        </p:txBody>
      </p:sp>
      <p:sp>
        <p:nvSpPr>
          <p:cNvPr id="35" name="TextBox 34"/>
          <p:cNvSpPr txBox="1"/>
          <p:nvPr/>
        </p:nvSpPr>
        <p:spPr>
          <a:xfrm>
            <a:off x="2852928" y="5326380"/>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Person </a:t>
            </a:r>
            <a:r>
              <a:rPr>
                <a:latin typeface="Arial Unicode MS"/>
              </a:rPr>
              <a:t>→</a:t>
            </a:r>
            <a:r>
              <a:t> Film</a:t>
            </a:r>
          </a:p>
        </p:txBody>
      </p:sp>
      <p:sp>
        <p:nvSpPr>
          <p:cNvPr id="36" name="TextBox 35"/>
          <p:cNvSpPr txBox="1"/>
          <p:nvPr/>
        </p:nvSpPr>
        <p:spPr>
          <a:xfrm>
            <a:off x="5715000" y="5326380"/>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property chain</a:t>
            </a:r>
          </a:p>
        </p:txBody>
      </p:sp>
      <p:sp>
        <p:nvSpPr>
          <p:cNvPr id="37" name="PHOTO_P05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HOTO_P05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P05</a:t>
            </a:r>
          </a:p>
        </p:txBody>
      </p:sp>
      <p:sp>
        <p:nvSpPr>
          <p:cNvPr id="39" name="PHOTO_P05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HOTO_P05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Domain / range / inverse</a:t>
            </a:r>
          </a:p>
        </p:txBody>
      </p:sp>
      <p:sp>
        <p:nvSpPr>
          <p:cNvPr id="41" name="PHOTO_P05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P05_object_property.png</a:t>
            </a:r>
          </a:p>
        </p:txBody>
      </p:sp>
      <p:sp>
        <p:nvSpPr>
          <p:cNvPr id="42" name="PHOTO_P05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contributionBy: Contribution </a:t>
            </a:r>
            <a:r>
              <a:rPr>
                <a:latin typeface="Arial Unicode MS"/>
              </a:rPr>
              <a:t>→</a:t>
            </a:r>
            <a:r>
              <a:t> dbo:Person.</a:t>
            </a:r>
          </a:p>
        </p:txBody>
      </p:sp>
      <p:sp>
        <p:nvSpPr>
          <p:cNvPr id="43" name="PHOTO_P05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Functional và inverse hasContribution.</a:t>
            </a:r>
          </a:p>
        </p:txBody>
      </p:sp>
      <p:sp>
        <p:nvSpPr>
          <p:cNvPr id="44" name="PHOTO_P05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Có thể chụp contributedTo với property chain.</a:t>
            </a:r>
          </a:p>
        </p:txBody>
      </p:sp>
      <p:sp>
        <p:nvSpPr>
          <p:cNvPr id="45" name="PHOTO_P05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46" name="TextBox 45"/>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contributionBy / contributionTo / hasRole: functional. Domain/range can infer types; inverse reverses a relation.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OWL axioms: what each statement means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Model semantics and structural data validation answer different questions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11 / 24</a:t>
            </a:r>
          </a:p>
        </p:txBody>
      </p:sp>
      <p:sp>
        <p:nvSpPr>
          <p:cNvPr id="9" name="Rounded Rectangle 8"/>
          <p:cNvSpPr/>
          <p:nvPr/>
        </p:nvSpPr>
        <p:spPr>
          <a:xfrm>
            <a:off x="731520" y="2697480"/>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97480"/>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843784"/>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Class definitions</a:t>
            </a:r>
          </a:p>
        </p:txBody>
      </p:sp>
      <p:sp>
        <p:nvSpPr>
          <p:cNvPr id="12" name="TextBox 11"/>
          <p:cNvSpPr txBox="1"/>
          <p:nvPr/>
        </p:nvSpPr>
        <p:spPr>
          <a:xfrm>
            <a:off x="941832" y="3287776"/>
            <a:ext cx="6144768" cy="1275079"/>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AND / OR / SOME / VALUE</a:t>
            </a:r>
          </a:p>
          <a:p>
            <a:pPr>
              <a:lnSpc>
                <a:spcPts val="2304"/>
              </a:lnSpc>
              <a:spcBef>
                <a:spcPts val="0"/>
              </a:spcBef>
              <a:spcAft>
                <a:spcPts val="0"/>
              </a:spcAft>
              <a:defRPr sz="1800" b="0">
                <a:solidFill>
                  <a:srgbClr val="506776"/>
                </a:solidFill>
                <a:latin typeface="Be Vietnam Pro"/>
              </a:defRPr>
            </a:pPr>
            <a:r>
              <a:t>Conditions produce types not asserted in source</a:t>
            </a:r>
          </a:p>
          <a:p>
            <a:pPr>
              <a:lnSpc>
                <a:spcPts val="2304"/>
              </a:lnSpc>
              <a:spcBef>
                <a:spcPts val="0"/>
              </a:spcBef>
              <a:spcAft>
                <a:spcPts val="0"/>
              </a:spcAft>
              <a:defRPr sz="1800" b="0">
                <a:solidFill>
                  <a:srgbClr val="506776"/>
                </a:solidFill>
                <a:latin typeface="Be Vietnam Pro"/>
              </a:defRPr>
            </a:pPr>
            <a:r>
              <a:t>facts.</a:t>
            </a:r>
          </a:p>
        </p:txBody>
      </p:sp>
      <p:sp>
        <p:nvSpPr>
          <p:cNvPr id="13" name="Rounded Rectangle 12"/>
          <p:cNvSpPr/>
          <p:nvPr/>
        </p:nvSpPr>
        <p:spPr>
          <a:xfrm>
            <a:off x="7571232" y="2697480"/>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71232" y="2697480"/>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81544" y="2843784"/>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Exactly one endpoint</a:t>
            </a:r>
          </a:p>
        </p:txBody>
      </p:sp>
      <p:sp>
        <p:nvSpPr>
          <p:cNvPr id="16" name="TextBox 15"/>
          <p:cNvSpPr txBox="1"/>
          <p:nvPr/>
        </p:nvSpPr>
        <p:spPr>
          <a:xfrm>
            <a:off x="7781544" y="3287776"/>
            <a:ext cx="6144768" cy="1275079"/>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Contribution: one person, film and role.</a:t>
            </a:r>
          </a:p>
          <a:p>
            <a:pPr>
              <a:lnSpc>
                <a:spcPts val="2304"/>
              </a:lnSpc>
              <a:spcBef>
                <a:spcPts val="0"/>
              </a:spcBef>
              <a:spcAft>
                <a:spcPts val="0"/>
              </a:spcAft>
              <a:defRPr sz="1800" b="0">
                <a:solidFill>
                  <a:srgbClr val="506776"/>
                </a:solidFill>
                <a:latin typeface="Be Vietnam Pro"/>
              </a:defRPr>
            </a:pPr>
            <a:r>
              <a:t>Missing-field checks are separate.</a:t>
            </a:r>
          </a:p>
        </p:txBody>
      </p:sp>
      <p:sp>
        <p:nvSpPr>
          <p:cNvPr id="17" name="Rounded Rectangle 16"/>
          <p:cNvSpPr/>
          <p:nvPr/>
        </p:nvSpPr>
        <p:spPr>
          <a:xfrm>
            <a:off x="731520" y="4910328"/>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910328"/>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056632"/>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Inverse and property chain</a:t>
            </a:r>
          </a:p>
        </p:txBody>
      </p:sp>
      <p:sp>
        <p:nvSpPr>
          <p:cNvPr id="20" name="TextBox 19"/>
          <p:cNvSpPr txBox="1"/>
          <p:nvPr/>
        </p:nvSpPr>
        <p:spPr>
          <a:xfrm>
            <a:off x="941832" y="5500624"/>
            <a:ext cx="6144768" cy="1275080"/>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hasContribution o contributionTo </a:t>
            </a:r>
            <a:r>
              <a:rPr>
                <a:latin typeface="Arial Unicode MS"/>
              </a:rPr>
              <a:t>→</a:t>
            </a:r>
            <a:r>
              <a:t> contributedTo</a:t>
            </a:r>
          </a:p>
          <a:p>
            <a:pPr>
              <a:lnSpc>
                <a:spcPts val="2304"/>
              </a:lnSpc>
              <a:spcBef>
                <a:spcPts val="0"/>
              </a:spcBef>
              <a:spcAft>
                <a:spcPts val="0"/>
              </a:spcAft>
              <a:defRPr sz="1800" b="0">
                <a:solidFill>
                  <a:srgbClr val="506776"/>
                </a:solidFill>
                <a:latin typeface="Be Vietnam Pro"/>
              </a:defRPr>
            </a:pPr>
            <a:r>
              <a:t>965 local person–film pairs.</a:t>
            </a:r>
          </a:p>
        </p:txBody>
      </p:sp>
      <p:sp>
        <p:nvSpPr>
          <p:cNvPr id="21" name="Rounded Rectangle 20"/>
          <p:cNvSpPr/>
          <p:nvPr/>
        </p:nvSpPr>
        <p:spPr>
          <a:xfrm>
            <a:off x="7571232" y="4910328"/>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71232" y="4910328"/>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81544" y="5056632"/>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Open world and identity</a:t>
            </a:r>
          </a:p>
        </p:txBody>
      </p:sp>
      <p:sp>
        <p:nvSpPr>
          <p:cNvPr id="24" name="TextBox 23"/>
          <p:cNvSpPr txBox="1"/>
          <p:nvPr/>
        </p:nvSpPr>
        <p:spPr>
          <a:xfrm>
            <a:off x="7781544" y="5500624"/>
            <a:ext cx="6144768" cy="1275080"/>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Missing facts do not imply falsehood.</a:t>
            </a:r>
          </a:p>
          <a:p>
            <a:pPr>
              <a:lnSpc>
                <a:spcPts val="2304"/>
              </a:lnSpc>
              <a:spcBef>
                <a:spcPts val="0"/>
              </a:spcBef>
              <a:spcAft>
                <a:spcPts val="0"/>
              </a:spcAft>
              <a:defRPr sz="1800" b="0">
                <a:solidFill>
                  <a:srgbClr val="506776"/>
                </a:solidFill>
                <a:latin typeface="Be Vietnam Pro"/>
              </a:defRPr>
            </a:pPr>
            <a:r>
              <a:t>Different IRIs do not establish inequality.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Verified domain classes after HermiT</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All listed types have zero assertions in the input data</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12 / 24</a:t>
            </a:r>
          </a:p>
        </p:txBody>
      </p:sp>
      <p:sp>
        <p:nvSpPr>
          <p:cNvPr id="9" name="Rectangle 8"/>
          <p:cNvSpPr/>
          <p:nvPr/>
        </p:nvSpPr>
        <p:spPr>
          <a:xfrm>
            <a:off x="731520" y="2542032"/>
            <a:ext cx="1330452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615184"/>
            <a:ext cx="357530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Class</a:t>
            </a:r>
          </a:p>
        </p:txBody>
      </p:sp>
      <p:sp>
        <p:nvSpPr>
          <p:cNvPr id="11" name="TextBox 10"/>
          <p:cNvSpPr txBox="1"/>
          <p:nvPr/>
        </p:nvSpPr>
        <p:spPr>
          <a:xfrm>
            <a:off x="4636008" y="2615184"/>
            <a:ext cx="595274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Condition in plain language</a:t>
            </a:r>
          </a:p>
        </p:txBody>
      </p:sp>
      <p:sp>
        <p:nvSpPr>
          <p:cNvPr id="12" name="TextBox 11"/>
          <p:cNvSpPr txBox="1"/>
          <p:nvPr/>
        </p:nvSpPr>
        <p:spPr>
          <a:xfrm>
            <a:off x="10808207" y="2615184"/>
            <a:ext cx="10149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Count</a:t>
            </a:r>
          </a:p>
        </p:txBody>
      </p:sp>
      <p:sp>
        <p:nvSpPr>
          <p:cNvPr id="13" name="TextBox 12"/>
          <p:cNvSpPr txBox="1"/>
          <p:nvPr/>
        </p:nvSpPr>
        <p:spPr>
          <a:xfrm>
            <a:off x="12042647" y="2615184"/>
            <a:ext cx="1883663"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Method</a:t>
            </a:r>
          </a:p>
        </p:txBody>
      </p:sp>
      <p:sp>
        <p:nvSpPr>
          <p:cNvPr id="14" name="Rectangle 13"/>
          <p:cNvSpPr/>
          <p:nvPr/>
        </p:nvSpPr>
        <p:spPr>
          <a:xfrm>
            <a:off x="731520" y="2935224"/>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96494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a:t>
            </a:r>
          </a:p>
        </p:txBody>
      </p:sp>
      <p:sp>
        <p:nvSpPr>
          <p:cNvPr id="16" name="TextBox 15"/>
          <p:cNvSpPr txBox="1"/>
          <p:nvPr/>
        </p:nvSpPr>
        <p:spPr>
          <a:xfrm>
            <a:off x="4636008" y="296494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Directing, writing or producing credit</a:t>
            </a:r>
          </a:p>
        </p:txBody>
      </p:sp>
      <p:sp>
        <p:nvSpPr>
          <p:cNvPr id="17" name="TextBox 16"/>
          <p:cNvSpPr txBox="1"/>
          <p:nvPr/>
        </p:nvSpPr>
        <p:spPr>
          <a:xfrm>
            <a:off x="10808207" y="296494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89</a:t>
            </a:r>
          </a:p>
        </p:txBody>
      </p:sp>
      <p:sp>
        <p:nvSpPr>
          <p:cNvPr id="18" name="TextBox 17"/>
          <p:cNvSpPr txBox="1"/>
          <p:nvPr/>
        </p:nvSpPr>
        <p:spPr>
          <a:xfrm>
            <a:off x="12042647" y="296494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19" name="Rectangle 18"/>
          <p:cNvSpPr/>
          <p:nvPr/>
        </p:nvSpPr>
        <p:spPr>
          <a:xfrm>
            <a:off x="731520" y="3238500"/>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26821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ActionFilm</a:t>
            </a:r>
          </a:p>
        </p:txBody>
      </p:sp>
      <p:sp>
        <p:nvSpPr>
          <p:cNvPr id="21" name="TextBox 20"/>
          <p:cNvSpPr txBox="1"/>
          <p:nvPr/>
        </p:nvSpPr>
        <p:spPr>
          <a:xfrm>
            <a:off x="4636008" y="326821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 genre membership</a:t>
            </a:r>
          </a:p>
        </p:txBody>
      </p:sp>
      <p:sp>
        <p:nvSpPr>
          <p:cNvPr id="22" name="TextBox 21"/>
          <p:cNvSpPr txBox="1"/>
          <p:nvPr/>
        </p:nvSpPr>
        <p:spPr>
          <a:xfrm>
            <a:off x="10808207" y="326821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12</a:t>
            </a:r>
          </a:p>
        </p:txBody>
      </p:sp>
      <p:sp>
        <p:nvSpPr>
          <p:cNvPr id="23" name="TextBox 22"/>
          <p:cNvSpPr txBox="1"/>
          <p:nvPr/>
        </p:nvSpPr>
        <p:spPr>
          <a:xfrm>
            <a:off x="12042647" y="326821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24" name="Rectangle 23"/>
          <p:cNvSpPr/>
          <p:nvPr/>
        </p:nvSpPr>
        <p:spPr>
          <a:xfrm>
            <a:off x="731520" y="3541775"/>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357149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AwardWinningFilm</a:t>
            </a:r>
          </a:p>
        </p:txBody>
      </p:sp>
      <p:sp>
        <p:nvSpPr>
          <p:cNvPr id="26" name="TextBox 25"/>
          <p:cNvSpPr txBox="1"/>
          <p:nvPr/>
        </p:nvSpPr>
        <p:spPr>
          <a:xfrm>
            <a:off x="4636008" y="357149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with an award</a:t>
            </a:r>
          </a:p>
        </p:txBody>
      </p:sp>
      <p:sp>
        <p:nvSpPr>
          <p:cNvPr id="27" name="TextBox 26"/>
          <p:cNvSpPr txBox="1"/>
          <p:nvPr/>
        </p:nvSpPr>
        <p:spPr>
          <a:xfrm>
            <a:off x="10808207" y="357149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26</a:t>
            </a:r>
          </a:p>
        </p:txBody>
      </p:sp>
      <p:sp>
        <p:nvSpPr>
          <p:cNvPr id="28" name="TextBox 27"/>
          <p:cNvSpPr txBox="1"/>
          <p:nvPr/>
        </p:nvSpPr>
        <p:spPr>
          <a:xfrm>
            <a:off x="12042647" y="357149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29" name="Rectangle 28"/>
          <p:cNvSpPr/>
          <p:nvPr/>
        </p:nvSpPr>
        <p:spPr>
          <a:xfrm>
            <a:off x="731520" y="3845052"/>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387477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MultiCreditContributor</a:t>
            </a:r>
          </a:p>
        </p:txBody>
      </p:sp>
      <p:sp>
        <p:nvSpPr>
          <p:cNvPr id="31" name="TextBox 30"/>
          <p:cNvSpPr txBox="1"/>
          <p:nvPr/>
        </p:nvSpPr>
        <p:spPr>
          <a:xfrm>
            <a:off x="4636008" y="387477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At least 2 provably distinct credits</a:t>
            </a:r>
          </a:p>
        </p:txBody>
      </p:sp>
      <p:sp>
        <p:nvSpPr>
          <p:cNvPr id="32" name="TextBox 31"/>
          <p:cNvSpPr txBox="1"/>
          <p:nvPr/>
        </p:nvSpPr>
        <p:spPr>
          <a:xfrm>
            <a:off x="10808207" y="387477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17</a:t>
            </a:r>
          </a:p>
        </p:txBody>
      </p:sp>
      <p:sp>
        <p:nvSpPr>
          <p:cNvPr id="33" name="TextBox 32"/>
          <p:cNvSpPr txBox="1"/>
          <p:nvPr/>
        </p:nvSpPr>
        <p:spPr>
          <a:xfrm>
            <a:off x="12042647" y="387477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34" name="Rectangle 33"/>
          <p:cNvSpPr/>
          <p:nvPr/>
        </p:nvSpPr>
        <p:spPr>
          <a:xfrm>
            <a:off x="731520" y="4148328"/>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4178046"/>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ThreeCreditContributor</a:t>
            </a:r>
          </a:p>
        </p:txBody>
      </p:sp>
      <p:sp>
        <p:nvSpPr>
          <p:cNvPr id="36" name="TextBox 35"/>
          <p:cNvSpPr txBox="1"/>
          <p:nvPr/>
        </p:nvSpPr>
        <p:spPr>
          <a:xfrm>
            <a:off x="4636008" y="4178046"/>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At least 3 provably distinct credits</a:t>
            </a:r>
          </a:p>
        </p:txBody>
      </p:sp>
      <p:sp>
        <p:nvSpPr>
          <p:cNvPr id="37" name="TextBox 36"/>
          <p:cNvSpPr txBox="1"/>
          <p:nvPr/>
        </p:nvSpPr>
        <p:spPr>
          <a:xfrm>
            <a:off x="10808207" y="4178046"/>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a:t>
            </a:r>
          </a:p>
        </p:txBody>
      </p:sp>
      <p:sp>
        <p:nvSpPr>
          <p:cNvPr id="38" name="TextBox 37"/>
          <p:cNvSpPr txBox="1"/>
          <p:nvPr/>
        </p:nvSpPr>
        <p:spPr>
          <a:xfrm>
            <a:off x="12042647" y="4178046"/>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39" name="Rectangle 38"/>
          <p:cNvSpPr/>
          <p:nvPr/>
        </p:nvSpPr>
        <p:spPr>
          <a:xfrm>
            <a:off x="731520" y="4451604"/>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1248" y="448132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WriterDirector</a:t>
            </a:r>
          </a:p>
        </p:txBody>
      </p:sp>
      <p:sp>
        <p:nvSpPr>
          <p:cNvPr id="41" name="TextBox 40"/>
          <p:cNvSpPr txBox="1"/>
          <p:nvPr/>
        </p:nvSpPr>
        <p:spPr>
          <a:xfrm>
            <a:off x="4636008" y="448132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MovieDirector AND ScreenWriter</a:t>
            </a:r>
          </a:p>
        </p:txBody>
      </p:sp>
      <p:sp>
        <p:nvSpPr>
          <p:cNvPr id="42" name="TextBox 41"/>
          <p:cNvSpPr txBox="1"/>
          <p:nvPr/>
        </p:nvSpPr>
        <p:spPr>
          <a:xfrm>
            <a:off x="10808207" y="448132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10</a:t>
            </a:r>
          </a:p>
        </p:txBody>
      </p:sp>
      <p:sp>
        <p:nvSpPr>
          <p:cNvPr id="43" name="TextBox 42"/>
          <p:cNvSpPr txBox="1"/>
          <p:nvPr/>
        </p:nvSpPr>
        <p:spPr>
          <a:xfrm>
            <a:off x="12042647" y="448132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44" name="Rectangle 43"/>
          <p:cNvSpPr/>
          <p:nvPr/>
        </p:nvSpPr>
        <p:spPr>
          <a:xfrm>
            <a:off x="731520" y="4754880"/>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 y="478459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ActorFilmmaker</a:t>
            </a:r>
          </a:p>
        </p:txBody>
      </p:sp>
      <p:sp>
        <p:nvSpPr>
          <p:cNvPr id="46" name="TextBox 45"/>
          <p:cNvSpPr txBox="1"/>
          <p:nvPr/>
        </p:nvSpPr>
        <p:spPr>
          <a:xfrm>
            <a:off x="4636008" y="478459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Actor AND Filmmaker</a:t>
            </a:r>
          </a:p>
        </p:txBody>
      </p:sp>
      <p:sp>
        <p:nvSpPr>
          <p:cNvPr id="47" name="TextBox 46"/>
          <p:cNvSpPr txBox="1"/>
          <p:nvPr/>
        </p:nvSpPr>
        <p:spPr>
          <a:xfrm>
            <a:off x="10808207" y="478459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a:t>
            </a:r>
          </a:p>
        </p:txBody>
      </p:sp>
      <p:sp>
        <p:nvSpPr>
          <p:cNvPr id="48" name="TextBox 47"/>
          <p:cNvSpPr txBox="1"/>
          <p:nvPr/>
        </p:nvSpPr>
        <p:spPr>
          <a:xfrm>
            <a:off x="12042647" y="478459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49" name="Rectangle 48"/>
          <p:cNvSpPr/>
          <p:nvPr/>
        </p:nvSpPr>
        <p:spPr>
          <a:xfrm>
            <a:off x="731520" y="5058156"/>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508787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AwardWinningFilmmaker</a:t>
            </a:r>
          </a:p>
        </p:txBody>
      </p:sp>
      <p:sp>
        <p:nvSpPr>
          <p:cNvPr id="51" name="TextBox 50"/>
          <p:cNvSpPr txBox="1"/>
          <p:nvPr/>
        </p:nvSpPr>
        <p:spPr>
          <a:xfrm>
            <a:off x="4636008" y="508787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 with an award</a:t>
            </a:r>
          </a:p>
        </p:txBody>
      </p:sp>
      <p:sp>
        <p:nvSpPr>
          <p:cNvPr id="52" name="TextBox 51"/>
          <p:cNvSpPr txBox="1"/>
          <p:nvPr/>
        </p:nvSpPr>
        <p:spPr>
          <a:xfrm>
            <a:off x="10808207" y="508787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65</a:t>
            </a:r>
          </a:p>
        </p:txBody>
      </p:sp>
      <p:sp>
        <p:nvSpPr>
          <p:cNvPr id="53" name="TextBox 52"/>
          <p:cNvSpPr txBox="1"/>
          <p:nvPr/>
        </p:nvSpPr>
        <p:spPr>
          <a:xfrm>
            <a:off x="12042647" y="508787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54" name="Rectangle 53"/>
          <p:cNvSpPr/>
          <p:nvPr/>
        </p:nvSpPr>
        <p:spPr>
          <a:xfrm>
            <a:off x="731520" y="5361432"/>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1248" y="539115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AwardWinningActionFilm</a:t>
            </a:r>
          </a:p>
        </p:txBody>
      </p:sp>
      <p:sp>
        <p:nvSpPr>
          <p:cNvPr id="56" name="TextBox 55"/>
          <p:cNvSpPr txBox="1"/>
          <p:nvPr/>
        </p:nvSpPr>
        <p:spPr>
          <a:xfrm>
            <a:off x="4636008" y="539115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ActionFilm AND AwardWinningFilm</a:t>
            </a:r>
          </a:p>
        </p:txBody>
      </p:sp>
      <p:sp>
        <p:nvSpPr>
          <p:cNvPr id="57" name="TextBox 56"/>
          <p:cNvSpPr txBox="1"/>
          <p:nvPr/>
        </p:nvSpPr>
        <p:spPr>
          <a:xfrm>
            <a:off x="10808207" y="539115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10</a:t>
            </a:r>
          </a:p>
        </p:txBody>
      </p:sp>
      <p:sp>
        <p:nvSpPr>
          <p:cNvPr id="58" name="TextBox 57"/>
          <p:cNvSpPr txBox="1"/>
          <p:nvPr/>
        </p:nvSpPr>
        <p:spPr>
          <a:xfrm>
            <a:off x="12042647" y="539115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59" name="Rectangle 58"/>
          <p:cNvSpPr/>
          <p:nvPr/>
        </p:nvSpPr>
        <p:spPr>
          <a:xfrm>
            <a:off x="731520" y="5664708"/>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41248" y="5694426"/>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GenreCrossingFilm</a:t>
            </a:r>
          </a:p>
        </p:txBody>
      </p:sp>
      <p:sp>
        <p:nvSpPr>
          <p:cNvPr id="61" name="TextBox 60"/>
          <p:cNvSpPr txBox="1"/>
          <p:nvPr/>
        </p:nvSpPr>
        <p:spPr>
          <a:xfrm>
            <a:off x="4636008" y="5694426"/>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 AND drama genre membership</a:t>
            </a:r>
          </a:p>
        </p:txBody>
      </p:sp>
      <p:sp>
        <p:nvSpPr>
          <p:cNvPr id="62" name="TextBox 61"/>
          <p:cNvSpPr txBox="1"/>
          <p:nvPr/>
        </p:nvSpPr>
        <p:spPr>
          <a:xfrm>
            <a:off x="10808207" y="5694426"/>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a:t>
            </a:r>
          </a:p>
        </p:txBody>
      </p:sp>
      <p:sp>
        <p:nvSpPr>
          <p:cNvPr id="63" name="TextBox 62"/>
          <p:cNvSpPr txBox="1"/>
          <p:nvPr/>
        </p:nvSpPr>
        <p:spPr>
          <a:xfrm>
            <a:off x="12042647" y="5694426"/>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HermiT</a:t>
            </a:r>
          </a:p>
        </p:txBody>
      </p:sp>
      <p:sp>
        <p:nvSpPr>
          <p:cNvPr id="64" name="TextBox 63"/>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Supporting credit types: Acting 855 · Directing 31 · Writing 51 · Producing 73; dbo:Actor 769.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Nolan: facts </a:t>
            </a:r>
            <a:r>
              <a:rPr>
                <a:latin typeface="Arial Unicode MS"/>
              </a:rPr>
              <a:t>→</a:t>
            </a:r>
            <a:r>
              <a:t> credit type </a:t>
            </a:r>
            <a:r>
              <a:rPr>
                <a:latin typeface="Arial Unicode MS"/>
              </a:rPr>
              <a:t>→</a:t>
            </a:r>
            <a:r>
              <a:t> Filmmaker</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A multi-step explanation grounded in real records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13 / 24</a:t>
            </a:r>
          </a:p>
        </p:txBody>
      </p:sp>
      <p:sp>
        <p:nvSpPr>
          <p:cNvPr id="9" name="Rounded Rectangle 8"/>
          <p:cNvSpPr/>
          <p:nvPr/>
        </p:nvSpPr>
        <p:spPr>
          <a:xfrm>
            <a:off x="731520" y="2651760"/>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SOURCE FACTS</a:t>
            </a:r>
          </a:p>
        </p:txBody>
      </p:sp>
      <p:sp>
        <p:nvSpPr>
          <p:cNvPr id="12" name="TextBox 11"/>
          <p:cNvSpPr txBox="1"/>
          <p:nvPr/>
        </p:nvSpPr>
        <p:spPr>
          <a:xfrm>
            <a:off x="941832" y="3242056"/>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Nolan a dbo:Person; credit hasRole DirectorRole.</a:t>
            </a:r>
          </a:p>
        </p:txBody>
      </p:sp>
      <p:sp>
        <p:nvSpPr>
          <p:cNvPr id="13" name="TextBox 12"/>
          <p:cNvSpPr txBox="1"/>
          <p:nvPr/>
        </p:nvSpPr>
        <p:spPr>
          <a:xfrm>
            <a:off x="3749039" y="3831335"/>
            <a:ext cx="731520" cy="301752"/>
          </a:xfrm>
          <a:prstGeom prst="rect">
            <a:avLst/>
          </a:prstGeom>
          <a:noFill/>
        </p:spPr>
        <p:txBody>
          <a:bodyPr wrap="none" lIns="0" rIns="0" tIns="0" bIns="0">
            <a:spAutoFit/>
          </a:bodyPr>
          <a:lstStyle/>
          <a:p>
            <a:pPr>
              <a:lnSpc>
                <a:spcPts val="2560"/>
              </a:lnSpc>
              <a:spcBef>
                <a:spcPts val="0"/>
              </a:spcBef>
              <a:spcAft>
                <a:spcPts val="0"/>
              </a:spcAft>
              <a:defRPr sz="2000" b="0">
                <a:solidFill>
                  <a:srgbClr val="007F82"/>
                </a:solidFill>
                <a:latin typeface="Be Vietnam Pro"/>
              </a:defRPr>
            </a:pPr>
            <a:r>
              <a:rPr>
                <a:latin typeface="Arial Unicode MS"/>
              </a:rPr>
              <a:t>↓</a:t>
            </a:r>
          </a:p>
        </p:txBody>
      </p:sp>
      <p:sp>
        <p:nvSpPr>
          <p:cNvPr id="14" name="Rounded Rectangle 13"/>
          <p:cNvSpPr/>
          <p:nvPr/>
        </p:nvSpPr>
        <p:spPr>
          <a:xfrm>
            <a:off x="731520" y="4087368"/>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087368"/>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4233672"/>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CREDIT CLASS</a:t>
            </a:r>
          </a:p>
        </p:txBody>
      </p:sp>
      <p:sp>
        <p:nvSpPr>
          <p:cNvPr id="17" name="TextBox 16"/>
          <p:cNvSpPr txBox="1"/>
          <p:nvPr/>
        </p:nvSpPr>
        <p:spPr>
          <a:xfrm>
            <a:off x="941832" y="4677663"/>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credit a DirectingContribution; inverse yields</a:t>
            </a:r>
          </a:p>
          <a:p>
            <a:pPr>
              <a:lnSpc>
                <a:spcPts val="2176"/>
              </a:lnSpc>
              <a:spcBef>
                <a:spcPts val="0"/>
              </a:spcBef>
              <a:spcAft>
                <a:spcPts val="0"/>
              </a:spcAft>
              <a:defRPr sz="1700" b="0">
                <a:solidFill>
                  <a:srgbClr val="506776"/>
                </a:solidFill>
                <a:latin typeface="Be Vietnam Pro"/>
              </a:defRPr>
            </a:pPr>
            <a:r>
              <a:t>hasContribution.</a:t>
            </a:r>
          </a:p>
        </p:txBody>
      </p:sp>
      <p:sp>
        <p:nvSpPr>
          <p:cNvPr id="18" name="TextBox 17"/>
          <p:cNvSpPr txBox="1"/>
          <p:nvPr/>
        </p:nvSpPr>
        <p:spPr>
          <a:xfrm>
            <a:off x="3749039" y="5266944"/>
            <a:ext cx="731520" cy="301752"/>
          </a:xfrm>
          <a:prstGeom prst="rect">
            <a:avLst/>
          </a:prstGeom>
          <a:noFill/>
        </p:spPr>
        <p:txBody>
          <a:bodyPr wrap="none" lIns="0" rIns="0" tIns="0" bIns="0">
            <a:spAutoFit/>
          </a:bodyPr>
          <a:lstStyle/>
          <a:p>
            <a:pPr>
              <a:lnSpc>
                <a:spcPts val="2560"/>
              </a:lnSpc>
              <a:spcBef>
                <a:spcPts val="0"/>
              </a:spcBef>
              <a:spcAft>
                <a:spcPts val="0"/>
              </a:spcAft>
              <a:defRPr sz="2000" b="0">
                <a:solidFill>
                  <a:srgbClr val="007F82"/>
                </a:solidFill>
                <a:latin typeface="Be Vietnam Pro"/>
              </a:defRPr>
            </a:pPr>
            <a:r>
              <a:rPr>
                <a:latin typeface="Arial Unicode MS"/>
              </a:rPr>
              <a:t>↓</a:t>
            </a:r>
          </a:p>
        </p:txBody>
      </p:sp>
      <p:sp>
        <p:nvSpPr>
          <p:cNvPr id="19" name="Rounded Rectangle 18"/>
          <p:cNvSpPr/>
          <p:nvPr/>
        </p:nvSpPr>
        <p:spPr>
          <a:xfrm>
            <a:off x="731520" y="5522976"/>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5522976"/>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669280"/>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PERSON CLASS</a:t>
            </a:r>
          </a:p>
        </p:txBody>
      </p:sp>
      <p:sp>
        <p:nvSpPr>
          <p:cNvPr id="22" name="TextBox 21"/>
          <p:cNvSpPr txBox="1"/>
          <p:nvPr/>
        </p:nvSpPr>
        <p:spPr>
          <a:xfrm>
            <a:off x="941832" y="6113272"/>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Nolan a Filmmaker; directing + writing also yield</a:t>
            </a:r>
          </a:p>
          <a:p>
            <a:pPr>
              <a:lnSpc>
                <a:spcPts val="2176"/>
              </a:lnSpc>
              <a:spcBef>
                <a:spcPts val="0"/>
              </a:spcBef>
              <a:spcAft>
                <a:spcPts val="0"/>
              </a:spcAft>
              <a:defRPr sz="1700" b="0">
                <a:solidFill>
                  <a:srgbClr val="506776"/>
                </a:solidFill>
                <a:latin typeface="Be Vietnam Pro"/>
              </a:defRPr>
            </a:pPr>
            <a:r>
              <a:t>WriterDirector.</a:t>
            </a:r>
          </a:p>
        </p:txBody>
      </p:sp>
      <p:sp>
        <p:nvSpPr>
          <p:cNvPr id="23" name="PHOTO_P06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HOTO_P06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P06</a:t>
            </a:r>
          </a:p>
        </p:txBody>
      </p:sp>
      <p:sp>
        <p:nvSpPr>
          <p:cNvPr id="25" name="PHOTO_P06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HOTO_P06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Định nghĩa Filmmaker</a:t>
            </a:r>
          </a:p>
        </p:txBody>
      </p:sp>
      <p:sp>
        <p:nvSpPr>
          <p:cNvPr id="27" name="PHOTO_P06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P06_filmmaker_equivalent_class.png</a:t>
            </a:r>
          </a:p>
        </p:txBody>
      </p:sp>
      <p:sp>
        <p:nvSpPr>
          <p:cNvPr id="28" name="PHOTO_P06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ex:Filmmaker.</a:t>
            </a:r>
          </a:p>
        </p:txBody>
      </p:sp>
      <p:sp>
        <p:nvSpPr>
          <p:cNvPr id="29" name="PHOTO_P06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Equivalent To với Person AND các nhánh SOME.</a:t>
            </a:r>
          </a:p>
        </p:txBody>
      </p:sp>
      <p:sp>
        <p:nvSpPr>
          <p:cNvPr id="30" name="PHOTO_P06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Đọc các nhánh Directing / Writing / ProducingContribution.</a:t>
            </a:r>
          </a:p>
        </p:txBody>
      </p:sp>
      <p:sp>
        <p:nvSpPr>
          <p:cNvPr id="31" name="PHOTO_P06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2" name="TextBox 3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Nolan: 8 directed films, 22 credit IRIs in the sample; three roles on Inception.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Genuine minimum-cardinality reasoning</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Functional hasRole + different roles prove distinct credits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14 / 24</a:t>
            </a:r>
          </a:p>
        </p:txBody>
      </p:sp>
      <p:sp>
        <p:nvSpPr>
          <p:cNvPr id="9" name="Rounded Rectangle 8"/>
          <p:cNvSpPr/>
          <p:nvPr/>
        </p:nvSpPr>
        <p:spPr>
          <a:xfrm>
            <a:off x="731520" y="2651760"/>
            <a:ext cx="672084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7373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MultiCreditContributor · 17</a:t>
            </a:r>
          </a:p>
        </p:txBody>
      </p:sp>
      <p:sp>
        <p:nvSpPr>
          <p:cNvPr id="12" name="TextBox 11"/>
          <p:cNvSpPr txBox="1"/>
          <p:nvPr/>
        </p:nvSpPr>
        <p:spPr>
          <a:xfrm>
            <a:off x="941832" y="3242056"/>
            <a:ext cx="6300216" cy="1064767"/>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Person and hasContribution min 2 Contribution.</a:t>
            </a:r>
          </a:p>
          <a:p>
            <a:pPr>
              <a:lnSpc>
                <a:spcPts val="2304"/>
              </a:lnSpc>
              <a:spcBef>
                <a:spcPts val="0"/>
              </a:spcBef>
              <a:spcAft>
                <a:spcPts val="0"/>
              </a:spcAft>
              <a:defRPr sz="1800" b="0">
                <a:solidFill>
                  <a:srgbClr val="506776"/>
                </a:solidFill>
                <a:latin typeface="Be Vietnam Pro"/>
              </a:defRPr>
            </a:pPr>
            <a:r>
              <a:t>Distinctness needs semantic evidence.</a:t>
            </a:r>
          </a:p>
        </p:txBody>
      </p:sp>
      <p:sp>
        <p:nvSpPr>
          <p:cNvPr id="13" name="Rounded Rectangle 12"/>
          <p:cNvSpPr/>
          <p:nvPr/>
        </p:nvSpPr>
        <p:spPr>
          <a:xfrm>
            <a:off x="731520" y="4590288"/>
            <a:ext cx="672084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590288"/>
            <a:ext cx="41148" cy="17373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36592"/>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ThreeCreditContributor · 7</a:t>
            </a:r>
          </a:p>
        </p:txBody>
      </p:sp>
      <p:sp>
        <p:nvSpPr>
          <p:cNvPr id="16" name="TextBox 15"/>
          <p:cNvSpPr txBox="1"/>
          <p:nvPr/>
        </p:nvSpPr>
        <p:spPr>
          <a:xfrm>
            <a:off x="941832" y="5180583"/>
            <a:ext cx="6300216" cy="1064768"/>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Person and hasContribution min 3 Contribution.</a:t>
            </a:r>
          </a:p>
          <a:p>
            <a:pPr>
              <a:lnSpc>
                <a:spcPts val="2304"/>
              </a:lnSpc>
              <a:spcBef>
                <a:spcPts val="0"/>
              </a:spcBef>
              <a:spcAft>
                <a:spcPts val="0"/>
              </a:spcAft>
              <a:defRPr sz="1800" b="0">
                <a:solidFill>
                  <a:srgbClr val="506776"/>
                </a:solidFill>
                <a:latin typeface="Be Vietnam Pro"/>
              </a:defRPr>
            </a:pPr>
            <a:r>
              <a:t>Nolan supplies three different-role witnesses.</a:t>
            </a:r>
          </a:p>
        </p:txBody>
      </p:sp>
      <p:sp>
        <p:nvSpPr>
          <p:cNvPr id="17" name="TextBox 16"/>
          <p:cNvSpPr txBox="1"/>
          <p:nvPr/>
        </p:nvSpPr>
        <p:spPr>
          <a:xfrm>
            <a:off x="914400" y="6592824"/>
            <a:ext cx="6336792" cy="557784"/>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Distinct IRIs </a:t>
            </a:r>
            <a:r>
              <a:rPr>
                <a:latin typeface="Arial Unicode MS"/>
              </a:rPr>
              <a:t>≠</a:t>
            </a:r>
            <a:r>
              <a:t> provably different OWL individuals.</a:t>
            </a:r>
          </a:p>
        </p:txBody>
      </p:sp>
      <p:sp>
        <p:nvSpPr>
          <p:cNvPr id="18" name="PHOTO_P07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HOTO_P07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P07</a:t>
            </a:r>
          </a:p>
        </p:txBody>
      </p:sp>
      <p:sp>
        <p:nvSpPr>
          <p:cNvPr id="20" name="PHOTO_P07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HOTO_P07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Cardinality trên Contribution</a:t>
            </a:r>
          </a:p>
        </p:txBody>
      </p:sp>
      <p:sp>
        <p:nvSpPr>
          <p:cNvPr id="22" name="PHOTO_P07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P07_three_credit_cardinality.png</a:t>
            </a:r>
          </a:p>
        </p:txBody>
      </p:sp>
      <p:sp>
        <p:nvSpPr>
          <p:cNvPr id="23" name="PHOTO_P07_5"/>
          <p:cNvSpPr txBox="1"/>
          <p:nvPr/>
        </p:nvSpPr>
        <p:spPr>
          <a:xfrm>
            <a:off x="8055864" y="4992624"/>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ex:ThreeCreditContributor; hiện min 3 hasContribution</a:t>
            </a:r>
          </a:p>
          <a:p>
            <a:pPr>
              <a:lnSpc>
                <a:spcPts val="1792"/>
              </a:lnSpc>
              <a:spcBef>
                <a:spcPts val="0"/>
              </a:spcBef>
              <a:spcAft>
                <a:spcPts val="0"/>
              </a:spcAft>
              <a:defRPr sz="1400" b="0">
                <a:solidFill>
                  <a:srgbClr val="506776"/>
                </a:solidFill>
                <a:latin typeface="Be Vietnam Pro"/>
              </a:defRPr>
            </a:pPr>
            <a:r>
              <a:t>Contribution.</a:t>
            </a:r>
          </a:p>
        </p:txBody>
      </p:sp>
      <p:sp>
        <p:nvSpPr>
          <p:cNvPr id="24" name="PHOTO_P07_6"/>
          <p:cNvSpPr txBox="1"/>
          <p:nvPr/>
        </p:nvSpPr>
        <p:spPr>
          <a:xfrm>
            <a:off x="8055864" y="55758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Chạy HermiT; chọn Nolan ở inferred view.</a:t>
            </a:r>
          </a:p>
        </p:txBody>
      </p:sp>
      <p:sp>
        <p:nvSpPr>
          <p:cNvPr id="25" name="PHOTO_P07_7"/>
          <p:cNvSpPr txBox="1"/>
          <p:nvPr/>
        </p:nvSpPr>
        <p:spPr>
          <a:xfrm>
            <a:off x="8055864" y="59314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Chụp thêm Functional hasRole và AllDifferent của bốn role.</a:t>
            </a:r>
          </a:p>
        </p:txBody>
      </p:sp>
      <p:sp>
        <p:nvSpPr>
          <p:cNvPr id="26" name="PHOTO_P07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27" name="TextBox 2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Negative test: min 2 genres gives 0 DL members; SQL/SPARQL counting is a different claim.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Source claims and reproducibility</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Real crawl fields; no fabricated budget, ratings or awards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15 / 24</a:t>
            </a:r>
          </a:p>
        </p:txBody>
      </p:sp>
      <p:sp>
        <p:nvSpPr>
          <p:cNvPr id="9" name="Rounded Rectangle 8"/>
          <p:cNvSpPr/>
          <p:nvPr/>
        </p:nvSpPr>
        <p:spPr>
          <a:xfrm>
            <a:off x="731520" y="2651760"/>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Source-supported relations</a:t>
            </a:r>
          </a:p>
        </p:txBody>
      </p:sp>
      <p:sp>
        <p:nvSpPr>
          <p:cNvPr id="12" name="TextBox 11"/>
          <p:cNvSpPr txBox="1"/>
          <p:nvPr/>
        </p:nvSpPr>
        <p:spPr>
          <a:xfrm>
            <a:off x="941832" y="3242056"/>
            <a:ext cx="6208776" cy="625855"/>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P57 / P161 / P58 / P162: credits.</a:t>
            </a:r>
          </a:p>
          <a:p>
            <a:pPr>
              <a:lnSpc>
                <a:spcPts val="2048"/>
              </a:lnSpc>
              <a:spcBef>
                <a:spcPts val="0"/>
              </a:spcBef>
              <a:spcAft>
                <a:spcPts val="0"/>
              </a:spcAft>
              <a:defRPr sz="1600" b="0">
                <a:solidFill>
                  <a:srgbClr val="506776"/>
                </a:solidFill>
                <a:latin typeface="Be Vietnam Pro"/>
              </a:defRPr>
            </a:pPr>
            <a:r>
              <a:t>P136 / P166 / P272: genre, award, company.</a:t>
            </a:r>
          </a:p>
        </p:txBody>
      </p:sp>
      <p:sp>
        <p:nvSpPr>
          <p:cNvPr id="13" name="Rounded Rectangle 12"/>
          <p:cNvSpPr/>
          <p:nvPr/>
        </p:nvSpPr>
        <p:spPr>
          <a:xfrm>
            <a:off x="731520" y="4123944"/>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123944"/>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70248"/>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Normalized values</a:t>
            </a:r>
          </a:p>
        </p:txBody>
      </p:sp>
      <p:sp>
        <p:nvSpPr>
          <p:cNvPr id="16" name="TextBox 15"/>
          <p:cNvSpPr txBox="1"/>
          <p:nvPr/>
        </p:nvSpPr>
        <p:spPr>
          <a:xfrm>
            <a:off x="941832" y="4714239"/>
            <a:ext cx="6208776" cy="625856"/>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P2047 duration </a:t>
            </a:r>
            <a:r>
              <a:rPr>
                <a:latin typeface="Arial Unicode MS"/>
              </a:rPr>
              <a:t>→</a:t>
            </a:r>
            <a:r>
              <a:t> seconds.</a:t>
            </a:r>
          </a:p>
          <a:p>
            <a:pPr>
              <a:lnSpc>
                <a:spcPts val="2048"/>
              </a:lnSpc>
              <a:spcBef>
                <a:spcPts val="0"/>
              </a:spcBef>
              <a:spcAft>
                <a:spcPts val="0"/>
              </a:spcAft>
              <a:defRPr sz="1600" b="0">
                <a:solidFill>
                  <a:srgbClr val="506776"/>
                </a:solidFill>
                <a:latin typeface="Be Vietnam Pro"/>
              </a:defRPr>
            </a:pPr>
            <a:r>
              <a:t>P577 </a:t>
            </a:r>
            <a:r>
              <a:rPr>
                <a:latin typeface="Arial Unicode MS"/>
              </a:rPr>
              <a:t>→</a:t>
            </a:r>
            <a:r>
              <a:t> earliest Gregorian release-year summary.</a:t>
            </a:r>
          </a:p>
        </p:txBody>
      </p:sp>
      <p:sp>
        <p:nvSpPr>
          <p:cNvPr id="17" name="Rounded Rectangle 16"/>
          <p:cNvSpPr/>
          <p:nvPr/>
        </p:nvSpPr>
        <p:spPr>
          <a:xfrm>
            <a:off x="731520" y="5596128"/>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596128"/>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742432"/>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Traceability</a:t>
            </a:r>
          </a:p>
        </p:txBody>
      </p:sp>
      <p:sp>
        <p:nvSpPr>
          <p:cNvPr id="20" name="TextBox 19"/>
          <p:cNvSpPr txBox="1"/>
          <p:nvPr/>
        </p:nvSpPr>
        <p:spPr>
          <a:xfrm>
            <a:off x="941832" y="6186424"/>
            <a:ext cx="6208776" cy="625856"/>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76 responses; retrieval URL / time / SHA-256.</a:t>
            </a:r>
          </a:p>
          <a:p>
            <a:pPr>
              <a:lnSpc>
                <a:spcPts val="2048"/>
              </a:lnSpc>
              <a:spcBef>
                <a:spcPts val="0"/>
              </a:spcBef>
              <a:spcAft>
                <a:spcPts val="0"/>
              </a:spcAft>
              <a:defRPr sz="1600" b="0">
                <a:solidFill>
                  <a:srgbClr val="506776"/>
                </a:solidFill>
                <a:latin typeface="Be Vietnam Pro"/>
              </a:defRPr>
            </a:pPr>
            <a:r>
              <a:t>Identity links and provenance have different meanings.</a:t>
            </a:r>
          </a:p>
        </p:txBody>
      </p:sp>
      <p:pic>
        <p:nvPicPr>
          <p:cNvPr id="21" name="Picture 20" descr="12_sources_en.png"/>
          <p:cNvPicPr>
            <a:picLocks noChangeAspect="1"/>
          </p:cNvPicPr>
          <p:nvPr/>
        </p:nvPicPr>
        <p:blipFill>
          <a:blip r:embed="rId2"/>
          <a:stretch>
            <a:fillRect/>
          </a:stretch>
        </p:blipFill>
        <p:spPr>
          <a:xfrm>
            <a:off x="7726679" y="2821686"/>
            <a:ext cx="6263640" cy="4351020"/>
          </a:xfrm>
          <a:prstGeom prst="rect">
            <a:avLst/>
          </a:prstGeom>
        </p:spPr>
      </p:pic>
      <p:sp>
        <p:nvSpPr>
          <p:cNvPr id="22" name="TextBox 2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Right: actual Wikidata metadata and response excerpt. Hashes verify integrity, not real-world truth.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RDF literals and DBpedia units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runtime is seconds; labels are annotations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16 / 24</a:t>
            </a:r>
          </a:p>
        </p:txBody>
      </p:sp>
      <p:sp>
        <p:nvSpPr>
          <p:cNvPr id="9" name="Rounded Rectangle 8"/>
          <p:cNvSpPr/>
          <p:nvPr/>
        </p:nvSpPr>
        <p:spPr>
          <a:xfrm>
            <a:off x="731520" y="2633472"/>
            <a:ext cx="6720840" cy="1810512"/>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98064"/>
            <a:ext cx="6318503" cy="1481328"/>
          </a:xfrm>
          <a:prstGeom prst="rect">
            <a:avLst/>
          </a:prstGeom>
          <a:noFill/>
        </p:spPr>
        <p:txBody>
          <a:bodyPr wrap="none" lIns="0" rIns="0" tIns="0" bIns="0">
            <a:spAutoFit/>
          </a:bodyPr>
          <a:lstStyle/>
          <a:p>
            <a:pPr>
              <a:lnSpc>
                <a:spcPts val="2048"/>
              </a:lnSpc>
              <a:spcBef>
                <a:spcPts val="0"/>
              </a:spcBef>
              <a:spcAft>
                <a:spcPts val="0"/>
              </a:spcAft>
              <a:defRPr sz="1600" b="0">
                <a:solidFill>
                  <a:srgbClr val="FFFFFF"/>
                </a:solidFill>
                <a:latin typeface="Be Vietnam Pro"/>
              </a:defRPr>
            </a:pPr>
            <a:r>
              <a:t>res:film-Q25188 a dbo:Film ;</a:t>
            </a:r>
          </a:p>
          <a:p>
            <a:pPr>
              <a:lnSpc>
                <a:spcPts val="2048"/>
              </a:lnSpc>
              <a:spcBef>
                <a:spcPts val="0"/>
              </a:spcBef>
              <a:spcAft>
                <a:spcPts val="0"/>
              </a:spcAft>
              <a:defRPr sz="1600" b="0">
                <a:solidFill>
                  <a:srgbClr val="FFFFFF"/>
                </a:solidFill>
                <a:latin typeface="Be Vietnam Pro"/>
              </a:defRPr>
            </a:pPr>
            <a:r>
              <a:t>rdfs:label "Inception"@en ;</a:t>
            </a:r>
          </a:p>
          <a:p>
            <a:pPr>
              <a:lnSpc>
                <a:spcPts val="2048"/>
              </a:lnSpc>
              <a:spcBef>
                <a:spcPts val="0"/>
              </a:spcBef>
              <a:spcAft>
                <a:spcPts val="0"/>
              </a:spcAft>
              <a:defRPr sz="1600" b="0">
                <a:solidFill>
                  <a:srgbClr val="FFFFFF"/>
                </a:solidFill>
                <a:latin typeface="Be Vietnam Pro"/>
              </a:defRPr>
            </a:pPr>
            <a:r>
              <a:t>ex:releaseYear 2010 ;</a:t>
            </a:r>
          </a:p>
          <a:p>
            <a:pPr>
              <a:lnSpc>
                <a:spcPts val="2048"/>
              </a:lnSpc>
              <a:spcBef>
                <a:spcPts val="0"/>
              </a:spcBef>
              <a:spcAft>
                <a:spcPts val="0"/>
              </a:spcAft>
              <a:defRPr sz="1600" b="0">
                <a:solidFill>
                  <a:srgbClr val="FFFFFF"/>
                </a:solidFill>
                <a:latin typeface="Be Vietnam Pro"/>
              </a:defRPr>
            </a:pPr>
            <a:r>
              <a:t>dbo:runtime "8880.0"^^xsd:double ;</a:t>
            </a:r>
          </a:p>
          <a:p>
            <a:pPr>
              <a:lnSpc>
                <a:spcPts val="2048"/>
              </a:lnSpc>
              <a:spcBef>
                <a:spcPts val="0"/>
              </a:spcBef>
              <a:spcAft>
                <a:spcPts val="0"/>
              </a:spcAft>
              <a:defRPr sz="1600" b="0">
                <a:solidFill>
                  <a:srgbClr val="FFFFFF"/>
                </a:solidFill>
                <a:latin typeface="Be Vietnam Pro"/>
              </a:defRPr>
            </a:pPr>
            <a:r>
              <a:t>dbo:director res:person-Q25191 .</a:t>
            </a:r>
          </a:p>
        </p:txBody>
      </p:sp>
      <p:sp>
        <p:nvSpPr>
          <p:cNvPr id="11" name="Rectangle 10"/>
          <p:cNvSpPr/>
          <p:nvPr/>
        </p:nvSpPr>
        <p:spPr>
          <a:xfrm>
            <a:off x="731520" y="4645152"/>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4718304"/>
            <a:ext cx="3483863"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Data property</a:t>
            </a:r>
          </a:p>
        </p:txBody>
      </p:sp>
      <p:sp>
        <p:nvSpPr>
          <p:cNvPr id="13" name="TextBox 12"/>
          <p:cNvSpPr txBox="1"/>
          <p:nvPr/>
        </p:nvSpPr>
        <p:spPr>
          <a:xfrm>
            <a:off x="4544568" y="4718304"/>
            <a:ext cx="2798063"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xsd: type</a:t>
            </a:r>
          </a:p>
        </p:txBody>
      </p:sp>
      <p:sp>
        <p:nvSpPr>
          <p:cNvPr id="14" name="Rectangle 13"/>
          <p:cNvSpPr/>
          <p:nvPr/>
        </p:nvSpPr>
        <p:spPr>
          <a:xfrm>
            <a:off x="731520" y="5038344"/>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5097780"/>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dbo:runtime</a:t>
            </a:r>
          </a:p>
        </p:txBody>
      </p:sp>
      <p:sp>
        <p:nvSpPr>
          <p:cNvPr id="16" name="TextBox 15"/>
          <p:cNvSpPr txBox="1"/>
          <p:nvPr/>
        </p:nvSpPr>
        <p:spPr>
          <a:xfrm>
            <a:off x="4544568" y="5097780"/>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double · seconds</a:t>
            </a:r>
          </a:p>
        </p:txBody>
      </p:sp>
      <p:sp>
        <p:nvSpPr>
          <p:cNvPr id="17" name="Rectangle 16"/>
          <p:cNvSpPr/>
          <p:nvPr/>
        </p:nvSpPr>
        <p:spPr>
          <a:xfrm>
            <a:off x="731520" y="5417312"/>
            <a:ext cx="6720840" cy="378968"/>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5476748"/>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ex:releaseYear</a:t>
            </a:r>
          </a:p>
        </p:txBody>
      </p:sp>
      <p:sp>
        <p:nvSpPr>
          <p:cNvPr id="19" name="TextBox 18"/>
          <p:cNvSpPr txBox="1"/>
          <p:nvPr/>
        </p:nvSpPr>
        <p:spPr>
          <a:xfrm>
            <a:off x="4544568" y="5476748"/>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integer</a:t>
            </a:r>
          </a:p>
        </p:txBody>
      </p:sp>
      <p:sp>
        <p:nvSpPr>
          <p:cNvPr id="20" name="Rectangle 19"/>
          <p:cNvSpPr/>
          <p:nvPr/>
        </p:nvSpPr>
        <p:spPr>
          <a:xfrm>
            <a:off x="731520" y="5796280"/>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855716"/>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ex:sourceUrl</a:t>
            </a:r>
          </a:p>
        </p:txBody>
      </p:sp>
      <p:sp>
        <p:nvSpPr>
          <p:cNvPr id="22" name="TextBox 21"/>
          <p:cNvSpPr txBox="1"/>
          <p:nvPr/>
        </p:nvSpPr>
        <p:spPr>
          <a:xfrm>
            <a:off x="4544568" y="5855716"/>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anyURI</a:t>
            </a:r>
          </a:p>
        </p:txBody>
      </p:sp>
      <p:sp>
        <p:nvSpPr>
          <p:cNvPr id="23" name="Rectangle 22"/>
          <p:cNvSpPr/>
          <p:nvPr/>
        </p:nvSpPr>
        <p:spPr>
          <a:xfrm>
            <a:off x="731520" y="6175248"/>
            <a:ext cx="6720840" cy="378968"/>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6234684"/>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ex:retrievedAt</a:t>
            </a:r>
          </a:p>
        </p:txBody>
      </p:sp>
      <p:sp>
        <p:nvSpPr>
          <p:cNvPr id="25" name="TextBox 24"/>
          <p:cNvSpPr txBox="1"/>
          <p:nvPr/>
        </p:nvSpPr>
        <p:spPr>
          <a:xfrm>
            <a:off x="4544568" y="6234684"/>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dateTime</a:t>
            </a:r>
          </a:p>
        </p:txBody>
      </p:sp>
      <p:sp>
        <p:nvSpPr>
          <p:cNvPr id="26" name="Rectangle 25"/>
          <p:cNvSpPr/>
          <p:nvPr/>
        </p:nvSpPr>
        <p:spPr>
          <a:xfrm>
            <a:off x="731520" y="6554216"/>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6613652"/>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ex:sha256</a:t>
            </a:r>
          </a:p>
        </p:txBody>
      </p:sp>
      <p:sp>
        <p:nvSpPr>
          <p:cNvPr id="28" name="TextBox 27"/>
          <p:cNvSpPr txBox="1"/>
          <p:nvPr/>
        </p:nvSpPr>
        <p:spPr>
          <a:xfrm>
            <a:off x="4544568" y="6613652"/>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string</a:t>
            </a:r>
          </a:p>
        </p:txBody>
      </p:sp>
      <p:sp>
        <p:nvSpPr>
          <p:cNvPr id="29" name="PHOTO_P08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HOTO_P08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P08</a:t>
            </a:r>
          </a:p>
        </p:txBody>
      </p:sp>
      <p:sp>
        <p:nvSpPr>
          <p:cNvPr id="31" name="PHOTO_P08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HOTO_P08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Thời lượng theo DBpedia</a:t>
            </a:r>
          </a:p>
        </p:txBody>
      </p:sp>
      <p:sp>
        <p:nvSpPr>
          <p:cNvPr id="33" name="PHOTO_P08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P08_runtime_datatype.png</a:t>
            </a:r>
          </a:p>
        </p:txBody>
      </p:sp>
      <p:sp>
        <p:nvSpPr>
          <p:cNvPr id="34" name="PHOTO_P08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dbo:runtime trong Data properties.</a:t>
            </a:r>
          </a:p>
        </p:txBody>
      </p:sp>
      <p:sp>
        <p:nvSpPr>
          <p:cNvPr id="35" name="PHOTO_P08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domain dbo:Work và range xsd:double.</a:t>
            </a:r>
          </a:p>
        </p:txBody>
      </p:sp>
      <p:sp>
        <p:nvSpPr>
          <p:cNvPr id="36" name="PHOTO_P08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Chọn Inception: runtime = 8880 giây.</a:t>
            </a:r>
          </a:p>
        </p:txBody>
      </p:sp>
      <p:sp>
        <p:nvSpPr>
          <p:cNvPr id="37" name="PHOTO_P08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Linked data: identity and publication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Canonical identifiers, graph exports and external identity links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17 / 24</a:t>
            </a:r>
          </a:p>
        </p:txBody>
      </p:sp>
      <p:sp>
        <p:nvSpPr>
          <p:cNvPr id="9" name="Rounded Rectangle 8"/>
          <p:cNvSpPr/>
          <p:nvPr/>
        </p:nvSpPr>
        <p:spPr>
          <a:xfrm>
            <a:off x="731520" y="2651760"/>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770632"/>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1★</a:t>
            </a:r>
          </a:p>
        </p:txBody>
      </p:sp>
      <p:sp>
        <p:nvSpPr>
          <p:cNvPr id="11" name="TextBox 10"/>
          <p:cNvSpPr txBox="1"/>
          <p:nvPr/>
        </p:nvSpPr>
        <p:spPr>
          <a:xfrm>
            <a:off x="2377440" y="2788920"/>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Open license</a:t>
            </a:r>
          </a:p>
        </p:txBody>
      </p:sp>
      <p:sp>
        <p:nvSpPr>
          <p:cNvPr id="12" name="TextBox 11"/>
          <p:cNvSpPr txBox="1"/>
          <p:nvPr/>
        </p:nvSpPr>
        <p:spPr>
          <a:xfrm>
            <a:off x="8385048" y="2788920"/>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CC BY-SA 4.0</a:t>
            </a:r>
          </a:p>
        </p:txBody>
      </p:sp>
      <p:sp>
        <p:nvSpPr>
          <p:cNvPr id="13" name="Rounded Rectangle 12"/>
          <p:cNvSpPr/>
          <p:nvPr/>
        </p:nvSpPr>
        <p:spPr>
          <a:xfrm>
            <a:off x="731520" y="3438144"/>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557015"/>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2★</a:t>
            </a:r>
          </a:p>
        </p:txBody>
      </p:sp>
      <p:sp>
        <p:nvSpPr>
          <p:cNvPr id="15" name="TextBox 14"/>
          <p:cNvSpPr txBox="1"/>
          <p:nvPr/>
        </p:nvSpPr>
        <p:spPr>
          <a:xfrm>
            <a:off x="2377440" y="3575303"/>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Structured source descriptions</a:t>
            </a:r>
          </a:p>
        </p:txBody>
      </p:sp>
      <p:sp>
        <p:nvSpPr>
          <p:cNvPr id="16" name="TextBox 15"/>
          <p:cNvSpPr txBox="1"/>
          <p:nvPr/>
        </p:nvSpPr>
        <p:spPr>
          <a:xfrm>
            <a:off x="8385048" y="3575303"/>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Claims, identifiers, values</a:t>
            </a:r>
          </a:p>
        </p:txBody>
      </p:sp>
      <p:sp>
        <p:nvSpPr>
          <p:cNvPr id="17" name="Rounded Rectangle 16"/>
          <p:cNvSpPr/>
          <p:nvPr/>
        </p:nvSpPr>
        <p:spPr>
          <a:xfrm>
            <a:off x="731520" y="4224528"/>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343400"/>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3★</a:t>
            </a:r>
          </a:p>
        </p:txBody>
      </p:sp>
      <p:sp>
        <p:nvSpPr>
          <p:cNvPr id="19" name="TextBox 18"/>
          <p:cNvSpPr txBox="1"/>
          <p:nvPr/>
        </p:nvSpPr>
        <p:spPr>
          <a:xfrm>
            <a:off x="2377440" y="4361688"/>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Open RDF serializations</a:t>
            </a:r>
          </a:p>
        </p:txBody>
      </p:sp>
      <p:sp>
        <p:nvSpPr>
          <p:cNvPr id="20" name="TextBox 19"/>
          <p:cNvSpPr txBox="1"/>
          <p:nvPr/>
        </p:nvSpPr>
        <p:spPr>
          <a:xfrm>
            <a:off x="8385048" y="4361688"/>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RDF/XML, Turtle, JSON-LD</a:t>
            </a:r>
          </a:p>
        </p:txBody>
      </p:sp>
      <p:sp>
        <p:nvSpPr>
          <p:cNvPr id="21" name="Rounded Rectangle 20"/>
          <p:cNvSpPr/>
          <p:nvPr/>
        </p:nvSpPr>
        <p:spPr>
          <a:xfrm>
            <a:off x="731520" y="5010912"/>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5129784"/>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4★</a:t>
            </a:r>
          </a:p>
        </p:txBody>
      </p:sp>
      <p:sp>
        <p:nvSpPr>
          <p:cNvPr id="23" name="TextBox 22"/>
          <p:cNvSpPr txBox="1"/>
          <p:nvPr/>
        </p:nvSpPr>
        <p:spPr>
          <a:xfrm>
            <a:off x="2377440" y="5148072"/>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HTTP identifiers and RDF</a:t>
            </a:r>
          </a:p>
        </p:txBody>
      </p:sp>
      <p:sp>
        <p:nvSpPr>
          <p:cNvPr id="24" name="TextBox 23"/>
          <p:cNvSpPr txBox="1"/>
          <p:nvPr/>
        </p:nvSpPr>
        <p:spPr>
          <a:xfrm>
            <a:off x="8385048" y="5148072"/>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Canonical version 3.0.0</a:t>
            </a:r>
          </a:p>
        </p:txBody>
      </p:sp>
      <p:sp>
        <p:nvSpPr>
          <p:cNvPr id="25" name="Rounded Rectangle 24"/>
          <p:cNvSpPr/>
          <p:nvPr/>
        </p:nvSpPr>
        <p:spPr>
          <a:xfrm>
            <a:off x="731520" y="5797296"/>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5916168"/>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5★</a:t>
            </a:r>
          </a:p>
        </p:txBody>
      </p:sp>
      <p:sp>
        <p:nvSpPr>
          <p:cNvPr id="27" name="TextBox 26"/>
          <p:cNvSpPr txBox="1"/>
          <p:nvPr/>
        </p:nvSpPr>
        <p:spPr>
          <a:xfrm>
            <a:off x="2377440" y="5934456"/>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External identity links</a:t>
            </a:r>
          </a:p>
        </p:txBody>
      </p:sp>
      <p:sp>
        <p:nvSpPr>
          <p:cNvPr id="28" name="TextBox 27"/>
          <p:cNvSpPr txBox="1"/>
          <p:nvPr/>
        </p:nvSpPr>
        <p:spPr>
          <a:xfrm>
            <a:off x="8385048" y="5934456"/>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1,699 Wikidata + 28 DBpedia</a:t>
            </a:r>
          </a:p>
        </p:txBody>
      </p:sp>
      <p:sp>
        <p:nvSpPr>
          <p:cNvPr id="29" name="TextBox 2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Public graphs and local canonical exports are checked for semantic equality.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Inception: RDF resource and OWL</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The web description and final OWL share the same source facts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18 / 24</a:t>
            </a:r>
          </a:p>
        </p:txBody>
      </p:sp>
      <p:pic>
        <p:nvPicPr>
          <p:cNvPr id="9" name="Picture 8" descr="09_inception_resource.png"/>
          <p:cNvPicPr>
            <a:picLocks noChangeAspect="1"/>
          </p:cNvPicPr>
          <p:nvPr/>
        </p:nvPicPr>
        <p:blipFill>
          <a:blip r:embed="rId2"/>
          <a:stretch>
            <a:fillRect/>
          </a:stretch>
        </p:blipFill>
        <p:spPr>
          <a:xfrm>
            <a:off x="758190" y="2606040"/>
            <a:ext cx="6713220" cy="4663440"/>
          </a:xfrm>
          <a:prstGeom prst="rect">
            <a:avLst/>
          </a:prstGeom>
        </p:spPr>
      </p:pic>
      <p:sp>
        <p:nvSpPr>
          <p:cNvPr id="10" name="PHOTO_P09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HOTO_P09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P09</a:t>
            </a:r>
          </a:p>
        </p:txBody>
      </p:sp>
      <p:sp>
        <p:nvSpPr>
          <p:cNvPr id="12" name="PHOTO_P09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HOTO_P09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Cá thể Inception bản mới</a:t>
            </a:r>
          </a:p>
        </p:txBody>
      </p:sp>
      <p:sp>
        <p:nvSpPr>
          <p:cNvPr id="14" name="PHOTO_P09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P09_inception_individual.png</a:t>
            </a:r>
          </a:p>
        </p:txBody>
      </p:sp>
      <p:sp>
        <p:nvSpPr>
          <p:cNvPr id="15" name="PHOTO_P09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Movie_Knowledge_Graph.owl 3.0.0.</a:t>
            </a:r>
          </a:p>
        </p:txBody>
      </p:sp>
      <p:sp>
        <p:nvSpPr>
          <p:cNvPr id="16" name="PHOTO_P09_6"/>
          <p:cNvSpPr txBox="1"/>
          <p:nvPr/>
        </p:nvSpPr>
        <p:spPr>
          <a:xfrm>
            <a:off x="8055864" y="5348223"/>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Chọn film-Q25188; hiện label, releaseYear 2010, runtime</a:t>
            </a:r>
          </a:p>
          <a:p>
            <a:pPr>
              <a:lnSpc>
                <a:spcPts val="1792"/>
              </a:lnSpc>
              <a:spcBef>
                <a:spcPts val="0"/>
              </a:spcBef>
              <a:spcAft>
                <a:spcPts val="0"/>
              </a:spcAft>
              <a:defRPr sz="1400" b="0">
                <a:solidFill>
                  <a:srgbClr val="506776"/>
                </a:solidFill>
                <a:latin typeface="Be Vietnam Pro"/>
              </a:defRPr>
            </a:pPr>
            <a:r>
              <a:t>8880.</a:t>
            </a:r>
          </a:p>
        </p:txBody>
      </p:sp>
      <p:sp>
        <p:nvSpPr>
          <p:cNvPr id="17" name="PHOTO_P09_7"/>
          <p:cNvSpPr txBox="1"/>
          <p:nvPr/>
        </p:nvSpPr>
        <p:spPr>
          <a:xfrm>
            <a:off x="8055864" y="59314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dbo:director, genre, productionCompany và award.</a:t>
            </a:r>
          </a:p>
        </p:txBody>
      </p:sp>
      <p:sp>
        <p:nvSpPr>
          <p:cNvPr id="18" name="PHOTO_P09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19" name="TextBox 1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Left: current version-3 web description. Right: capture the same individual in Protégé.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SPARQL: choose the knowledge scope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Source facts, OWL inference or before/after named graphs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19 / 24</a:t>
            </a:r>
          </a:p>
        </p:txBody>
      </p:sp>
      <p:sp>
        <p:nvSpPr>
          <p:cNvPr id="9" name="Rounded Rectangle 8"/>
          <p:cNvSpPr/>
          <p:nvPr/>
        </p:nvSpPr>
        <p:spPr>
          <a:xfrm>
            <a:off x="731520" y="2697480"/>
            <a:ext cx="5715000" cy="3017520"/>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62072"/>
            <a:ext cx="5312664" cy="2688336"/>
          </a:xfrm>
          <a:prstGeom prst="rect">
            <a:avLst/>
          </a:prstGeom>
          <a:noFill/>
        </p:spPr>
        <p:txBody>
          <a:bodyPr wrap="none" lIns="0" rIns="0" tIns="0" bIns="0">
            <a:spAutoFit/>
          </a:bodyPr>
          <a:lstStyle/>
          <a:p>
            <a:pPr>
              <a:lnSpc>
                <a:spcPts val="1792"/>
              </a:lnSpc>
              <a:spcBef>
                <a:spcPts val="0"/>
              </a:spcBef>
              <a:spcAft>
                <a:spcPts val="0"/>
              </a:spcAft>
              <a:defRPr sz="1400" b="0">
                <a:solidFill>
                  <a:srgbClr val="FFFFFF"/>
                </a:solidFill>
                <a:latin typeface="Be Vietnam Pro"/>
              </a:defRPr>
            </a:pPr>
            <a:r>
              <a:t>SELECT ?year ?seconds ?director WHERE {</a:t>
            </a:r>
          </a:p>
          <a:p>
            <a:pPr>
              <a:lnSpc>
                <a:spcPts val="1792"/>
              </a:lnSpc>
              <a:spcBef>
                <a:spcPts val="0"/>
              </a:spcBef>
              <a:spcAft>
                <a:spcPts val="0"/>
              </a:spcAft>
              <a:defRPr sz="1400" b="0">
                <a:solidFill>
                  <a:srgbClr val="FFFFFF"/>
                </a:solidFill>
                <a:latin typeface="Be Vietnam Pro"/>
              </a:defRPr>
            </a:pPr>
            <a:r>
              <a:t>res:film-Q25188 ex:releaseYear ?year ;</a:t>
            </a:r>
          </a:p>
          <a:p>
            <a:pPr>
              <a:lnSpc>
                <a:spcPts val="1792"/>
              </a:lnSpc>
              <a:spcBef>
                <a:spcPts val="0"/>
              </a:spcBef>
              <a:spcAft>
                <a:spcPts val="0"/>
              </a:spcAft>
              <a:defRPr sz="1400" b="0">
                <a:solidFill>
                  <a:srgbClr val="FFFFFF"/>
                </a:solidFill>
                <a:latin typeface="Be Vietnam Pro"/>
              </a:defRPr>
            </a:pPr>
            <a:r>
              <a:t>dbo:runtime ?seconds ; dbo:director ?person .</a:t>
            </a:r>
          </a:p>
          <a:p>
            <a:pPr>
              <a:lnSpc>
                <a:spcPts val="1792"/>
              </a:lnSpc>
              <a:spcBef>
                <a:spcPts val="0"/>
              </a:spcBef>
              <a:spcAft>
                <a:spcPts val="0"/>
              </a:spcAft>
              <a:defRPr sz="1400" b="0">
                <a:solidFill>
                  <a:srgbClr val="FFFFFF"/>
                </a:solidFill>
                <a:latin typeface="Be Vietnam Pro"/>
              </a:defRPr>
            </a:pPr>
            <a:r>
              <a:t>?person rdfs:label ?director .</a:t>
            </a:r>
          </a:p>
          <a:p>
            <a:pPr>
              <a:lnSpc>
                <a:spcPts val="1792"/>
              </a:lnSpc>
              <a:spcBef>
                <a:spcPts val="0"/>
              </a:spcBef>
              <a:spcAft>
                <a:spcPts val="0"/>
              </a:spcAft>
              <a:defRPr sz="1400" b="0">
                <a:solidFill>
                  <a:srgbClr val="FFFFFF"/>
                </a:solidFill>
                <a:latin typeface="Be Vietnam Pro"/>
              </a:defRPr>
            </a:pPr>
            <a:r>
              <a:t>}</a:t>
            </a:r>
          </a:p>
        </p:txBody>
      </p:sp>
      <p:sp>
        <p:nvSpPr>
          <p:cNvPr id="11" name="Rounded Rectangle 10"/>
          <p:cNvSpPr/>
          <p:nvPr/>
        </p:nvSpPr>
        <p:spPr>
          <a:xfrm>
            <a:off x="731520" y="5998464"/>
            <a:ext cx="5715000" cy="1097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5998464"/>
            <a:ext cx="41148" cy="10972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6144768"/>
            <a:ext cx="52943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2010 · 8,880 seconds · Nolan</a:t>
            </a:r>
          </a:p>
        </p:txBody>
      </p:sp>
      <p:sp>
        <p:nvSpPr>
          <p:cNvPr id="14" name="TextBox 13"/>
          <p:cNvSpPr txBox="1"/>
          <p:nvPr/>
        </p:nvSpPr>
        <p:spPr>
          <a:xfrm>
            <a:off x="941832" y="6588759"/>
            <a:ext cx="5294376" cy="424688"/>
          </a:xfrm>
          <a:prstGeom prst="rect">
            <a:avLst/>
          </a:prstGeom>
          <a:noFill/>
        </p:spPr>
        <p:txBody>
          <a:bodyPr wrap="none" lIns="0" rIns="0" tIns="0" bIns="0">
            <a:spAutoFit/>
          </a:bodyPr>
          <a:lstStyle/>
          <a:p>
            <a:pPr>
              <a:lnSpc>
                <a:spcPts val="1920"/>
              </a:lnSpc>
              <a:spcBef>
                <a:spcPts val="0"/>
              </a:spcBef>
              <a:spcAft>
                <a:spcPts val="0"/>
              </a:spcAft>
              <a:defRPr sz="1500" b="0">
                <a:solidFill>
                  <a:srgbClr val="506776"/>
                </a:solidFill>
                <a:latin typeface="Be Vietnam Pro"/>
              </a:defRPr>
            </a:pPr>
            <a:r>
              <a:t>SELECT chooses columns; WHERE matches; OPTIONAL</a:t>
            </a:r>
          </a:p>
          <a:p>
            <a:pPr>
              <a:lnSpc>
                <a:spcPts val="1920"/>
              </a:lnSpc>
              <a:spcBef>
                <a:spcPts val="0"/>
              </a:spcBef>
              <a:spcAft>
                <a:spcPts val="0"/>
              </a:spcAft>
              <a:defRPr sz="1500" b="0">
                <a:solidFill>
                  <a:srgbClr val="506776"/>
                </a:solidFill>
                <a:latin typeface="Be Vietnam Pro"/>
              </a:defRPr>
            </a:pPr>
            <a:r>
              <a:t>preserves rows.</a:t>
            </a:r>
          </a:p>
        </p:txBody>
      </p:sp>
      <p:pic>
        <p:nvPicPr>
          <p:cNvPr id="15" name="Picture 14" descr="05_inception_current.png"/>
          <p:cNvPicPr>
            <a:picLocks noChangeAspect="1"/>
          </p:cNvPicPr>
          <p:nvPr/>
        </p:nvPicPr>
        <p:blipFill>
          <a:blip r:embed="rId2"/>
          <a:stretch>
            <a:fillRect/>
          </a:stretch>
        </p:blipFill>
        <p:spPr>
          <a:xfrm>
            <a:off x="6966204" y="2595372"/>
            <a:ext cx="6888480" cy="4785360"/>
          </a:xfrm>
          <a:prstGeom prst="rect">
            <a:avLst/>
          </a:prstGeom>
        </p:spPr>
      </p:pic>
      <p:sp>
        <p:nvSpPr>
          <p:cNvPr id="16" name="TextBox 15"/>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The sample chooses its required scope automatically; change scope to compare before and after.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Credit records and competency questions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27 design queries; counts use local identities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20 / 24</a:t>
            </a:r>
          </a:p>
        </p:txBody>
      </p:sp>
      <p:pic>
        <p:nvPicPr>
          <p:cNvPr id="9" name="Picture 8" descr="06_nolan_roles.png"/>
          <p:cNvPicPr>
            <a:picLocks noChangeAspect="1"/>
          </p:cNvPicPr>
          <p:nvPr/>
        </p:nvPicPr>
        <p:blipFill>
          <a:blip r:embed="rId2"/>
          <a:stretch>
            <a:fillRect/>
          </a:stretch>
        </p:blipFill>
        <p:spPr>
          <a:xfrm>
            <a:off x="1626870" y="2606040"/>
            <a:ext cx="6850380" cy="4754880"/>
          </a:xfrm>
          <a:prstGeom prst="rect">
            <a:avLst/>
          </a:prstGeom>
        </p:spPr>
      </p:pic>
      <p:sp>
        <p:nvSpPr>
          <p:cNvPr id="10" name="Rounded Rectangle 9"/>
          <p:cNvSpPr/>
          <p:nvPr/>
        </p:nvSpPr>
        <p:spPr>
          <a:xfrm>
            <a:off x="9601200" y="267004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601200" y="267004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1512" y="281635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25 Inception credits</a:t>
            </a:r>
          </a:p>
        </p:txBody>
      </p:sp>
      <p:sp>
        <p:nvSpPr>
          <p:cNvPr id="13" name="TextBox 12"/>
          <p:cNvSpPr txBox="1"/>
          <p:nvPr/>
        </p:nvSpPr>
        <p:spPr>
          <a:xfrm>
            <a:off x="9811512" y="3260344"/>
            <a:ext cx="4023360" cy="653287"/>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21 acting + 1 directing + 1 writing + 2</a:t>
            </a:r>
          </a:p>
          <a:p>
            <a:pPr>
              <a:lnSpc>
                <a:spcPts val="2048"/>
              </a:lnSpc>
              <a:spcBef>
                <a:spcPts val="0"/>
              </a:spcBef>
              <a:spcAft>
                <a:spcPts val="0"/>
              </a:spcAft>
              <a:defRPr sz="1600" b="0">
                <a:solidFill>
                  <a:srgbClr val="506776"/>
                </a:solidFill>
                <a:latin typeface="Be Vietnam Pro"/>
              </a:defRPr>
            </a:pPr>
            <a:r>
              <a:t>producing.</a:t>
            </a:r>
          </a:p>
        </p:txBody>
      </p:sp>
      <p:sp>
        <p:nvSpPr>
          <p:cNvPr id="14" name="Rounded Rectangle 13"/>
          <p:cNvSpPr/>
          <p:nvPr/>
        </p:nvSpPr>
        <p:spPr>
          <a:xfrm>
            <a:off x="9601200" y="422452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601200" y="422452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1512" y="437083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8 / 4 / 7</a:t>
            </a:r>
          </a:p>
        </p:txBody>
      </p:sp>
      <p:sp>
        <p:nvSpPr>
          <p:cNvPr id="17" name="TextBox 16"/>
          <p:cNvSpPr txBox="1"/>
          <p:nvPr/>
        </p:nvSpPr>
        <p:spPr>
          <a:xfrm>
            <a:off x="9811512" y="4814824"/>
            <a:ext cx="4023360" cy="65328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Nolan films / Inception companies /</a:t>
            </a:r>
          </a:p>
          <a:p>
            <a:pPr>
              <a:lnSpc>
                <a:spcPts val="2048"/>
              </a:lnSpc>
              <a:spcBef>
                <a:spcPts val="0"/>
              </a:spcBef>
              <a:spcAft>
                <a:spcPts val="0"/>
              </a:spcAft>
              <a:defRPr sz="1600" b="0">
                <a:solidFill>
                  <a:srgbClr val="506776"/>
                </a:solidFill>
                <a:latin typeface="Be Vietnam Pro"/>
              </a:defRPr>
            </a:pPr>
            <a:r>
              <a:t>Godfather awards.</a:t>
            </a:r>
          </a:p>
        </p:txBody>
      </p:sp>
      <p:sp>
        <p:nvSpPr>
          <p:cNvPr id="18" name="Rounded Rectangle 17"/>
          <p:cNvSpPr/>
          <p:nvPr/>
        </p:nvSpPr>
        <p:spPr>
          <a:xfrm>
            <a:off x="9601200" y="577900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601200" y="577900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11512" y="592531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27 design queries</a:t>
            </a:r>
          </a:p>
        </p:txBody>
      </p:sp>
      <p:sp>
        <p:nvSpPr>
          <p:cNvPr id="21" name="TextBox 20"/>
          <p:cNvSpPr txBox="1"/>
          <p:nvPr/>
        </p:nvSpPr>
        <p:spPr>
          <a:xfrm>
            <a:off x="9811512" y="6369304"/>
            <a:ext cx="4023360" cy="65328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Direct facts / hierarchy / inferred</a:t>
            </a:r>
          </a:p>
          <a:p>
            <a:pPr>
              <a:lnSpc>
                <a:spcPts val="2048"/>
              </a:lnSpc>
              <a:spcBef>
                <a:spcPts val="0"/>
              </a:spcBef>
              <a:spcAft>
                <a:spcPts val="0"/>
              </a:spcAft>
              <a:defRPr sz="1600" b="0">
                <a:solidFill>
                  <a:srgbClr val="506776"/>
                </a:solidFill>
                <a:latin typeface="Be Vietnam Pro"/>
              </a:defRPr>
            </a:pPr>
            <a:r>
              <a:t>knowledge.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Before / after: Nolan and WriterDirector</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The same result is available in web, endpoint and terminal</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21 / 24</a:t>
            </a:r>
          </a:p>
        </p:txBody>
      </p:sp>
      <p:sp>
        <p:nvSpPr>
          <p:cNvPr id="9" name="Rounded Rectangle 8"/>
          <p:cNvSpPr/>
          <p:nvPr/>
        </p:nvSpPr>
        <p:spPr>
          <a:xfrm>
            <a:off x="731520" y="2606040"/>
            <a:ext cx="6720840" cy="2496312"/>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70632"/>
            <a:ext cx="6318503" cy="2167128"/>
          </a:xfrm>
          <a:prstGeom prst="rect">
            <a:avLst/>
          </a:prstGeom>
          <a:noFill/>
        </p:spPr>
        <p:txBody>
          <a:bodyPr wrap="none" lIns="0" rIns="0" tIns="0" bIns="0">
            <a:spAutoFit/>
          </a:bodyPr>
          <a:lstStyle/>
          <a:p>
            <a:pPr>
              <a:lnSpc>
                <a:spcPts val="1792"/>
              </a:lnSpc>
              <a:spcBef>
                <a:spcPts val="0"/>
              </a:spcBef>
              <a:spcAft>
                <a:spcPts val="0"/>
              </a:spcAft>
              <a:defRPr sz="1400" b="0">
                <a:solidFill>
                  <a:srgbClr val="FFFFFF"/>
                </a:solidFill>
                <a:latin typeface="Be Vietnam Pro"/>
              </a:defRPr>
            </a:pPr>
            <a:r>
              <a:t>.venv/bin/python src/query.py queries/20.rq</a:t>
            </a:r>
          </a:p>
          <a:p>
            <a:pPr>
              <a:lnSpc>
                <a:spcPts val="1792"/>
              </a:lnSpc>
              <a:spcBef>
                <a:spcPts val="0"/>
              </a:spcBef>
              <a:spcAft>
                <a:spcPts val="0"/>
              </a:spcAft>
              <a:defRPr sz="1400" b="0">
                <a:solidFill>
                  <a:srgbClr val="FFFFFF"/>
                </a:solidFill>
                <a:latin typeface="Be Vietnam Pro"/>
              </a:defRPr>
            </a:pPr>
            <a:r>
              <a:t>.venv/bin/python src/query.py queries/20.rq --reasoned</a:t>
            </a:r>
          </a:p>
          <a:p>
            <a:pPr>
              <a:lnSpc>
                <a:spcPts val="1792"/>
              </a:lnSpc>
              <a:spcBef>
                <a:spcPts val="0"/>
              </a:spcBef>
              <a:spcAft>
                <a:spcPts val="0"/>
              </a:spcAft>
              <a:defRPr sz="1400" b="0">
                <a:solidFill>
                  <a:srgbClr val="FFFFFF"/>
                </a:solidFill>
                <a:latin typeface="Be Vietnam Pro"/>
              </a:defRPr>
            </a:pPr>
            <a:r>
              <a:t>.venv/bin/python src/query.py queries/27.rq --mode dataset</a:t>
            </a:r>
          </a:p>
        </p:txBody>
      </p:sp>
      <p:sp>
        <p:nvSpPr>
          <p:cNvPr id="11" name="Rectangle 10"/>
          <p:cNvSpPr/>
          <p:nvPr/>
        </p:nvSpPr>
        <p:spPr>
          <a:xfrm>
            <a:off x="731520" y="5431536"/>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5504688"/>
            <a:ext cx="1810512"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Mode</a:t>
            </a:r>
          </a:p>
        </p:txBody>
      </p:sp>
      <p:sp>
        <p:nvSpPr>
          <p:cNvPr id="13" name="TextBox 12"/>
          <p:cNvSpPr txBox="1"/>
          <p:nvPr/>
        </p:nvSpPr>
        <p:spPr>
          <a:xfrm>
            <a:off x="2871216" y="5504688"/>
            <a:ext cx="4471416"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Nolan types returned</a:t>
            </a:r>
          </a:p>
        </p:txBody>
      </p:sp>
      <p:sp>
        <p:nvSpPr>
          <p:cNvPr id="14" name="Rectangle 13"/>
          <p:cNvSpPr/>
          <p:nvPr/>
        </p:nvSpPr>
        <p:spPr>
          <a:xfrm>
            <a:off x="731520" y="5824728"/>
            <a:ext cx="672084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5884164"/>
            <a:ext cx="1810512"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Asserted</a:t>
            </a:r>
          </a:p>
        </p:txBody>
      </p:sp>
      <p:sp>
        <p:nvSpPr>
          <p:cNvPr id="16" name="TextBox 15"/>
          <p:cNvSpPr txBox="1"/>
          <p:nvPr/>
        </p:nvSpPr>
        <p:spPr>
          <a:xfrm>
            <a:off x="2871216" y="5884164"/>
            <a:ext cx="4471416"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WriterDirector 0; Nolan min 3: false</a:t>
            </a:r>
          </a:p>
        </p:txBody>
      </p:sp>
      <p:sp>
        <p:nvSpPr>
          <p:cNvPr id="17" name="Rectangle 16"/>
          <p:cNvSpPr/>
          <p:nvPr/>
        </p:nvSpPr>
        <p:spPr>
          <a:xfrm>
            <a:off x="731520" y="6446520"/>
            <a:ext cx="6720840" cy="62179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6505956"/>
            <a:ext cx="1810512"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Reasoned</a:t>
            </a:r>
          </a:p>
        </p:txBody>
      </p:sp>
      <p:sp>
        <p:nvSpPr>
          <p:cNvPr id="19" name="TextBox 18"/>
          <p:cNvSpPr txBox="1"/>
          <p:nvPr/>
        </p:nvSpPr>
        <p:spPr>
          <a:xfrm>
            <a:off x="2871216" y="6505956"/>
            <a:ext cx="4471416"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WriterDirector 10; Nolan min 3: true</a:t>
            </a:r>
          </a:p>
        </p:txBody>
      </p:sp>
      <p:sp>
        <p:nvSpPr>
          <p:cNvPr id="20" name="PHOTO_P10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HOTO_P10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P10</a:t>
            </a:r>
          </a:p>
        </p:txBody>
      </p:sp>
      <p:sp>
        <p:nvSpPr>
          <p:cNvPr id="22" name="PHOTO_P10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HOTO_P10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Các type suy luận của Nolan</a:t>
            </a:r>
          </a:p>
        </p:txBody>
      </p:sp>
      <p:sp>
        <p:nvSpPr>
          <p:cNvPr id="24" name="PHOTO_P10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P10_nolan_inferred_types.png</a:t>
            </a:r>
          </a:p>
        </p:txBody>
      </p:sp>
      <p:sp>
        <p:nvSpPr>
          <p:cNvPr id="25" name="PHOTO_P10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Chọn HermiT </a:t>
            </a:r>
            <a:r>
              <a:rPr>
                <a:latin typeface="Arial Unicode MS"/>
              </a:rPr>
              <a:t>→</a:t>
            </a:r>
            <a:r>
              <a:t> Start reasoner, chờ hoàn tất.</a:t>
            </a:r>
          </a:p>
        </p:txBody>
      </p:sp>
      <p:sp>
        <p:nvSpPr>
          <p:cNvPr id="26" name="PHOTO_P10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Chọn person-Q25191; mở inferred types.</a:t>
            </a:r>
          </a:p>
        </p:txBody>
      </p:sp>
      <p:sp>
        <p:nvSpPr>
          <p:cNvPr id="27" name="PHOTO_P10_7"/>
          <p:cNvSpPr txBox="1"/>
          <p:nvPr/>
        </p:nvSpPr>
        <p:spPr>
          <a:xfrm>
            <a:off x="8055864" y="5703823"/>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WriterDirector, Filmmaker, ThreeCreditContributor trong</a:t>
            </a:r>
          </a:p>
          <a:p>
            <a:pPr>
              <a:lnSpc>
                <a:spcPts val="1792"/>
              </a:lnSpc>
              <a:spcBef>
                <a:spcPts val="0"/>
              </a:spcBef>
              <a:spcAft>
                <a:spcPts val="0"/>
              </a:spcAft>
              <a:defRPr sz="1400" b="0">
                <a:solidFill>
                  <a:srgbClr val="506776"/>
                </a:solidFill>
                <a:latin typeface="Be Vietnam Pro"/>
              </a:defRPr>
            </a:pPr>
            <a:r>
              <a:t>ảnh.</a:t>
            </a:r>
          </a:p>
        </p:txBody>
      </p:sp>
      <p:sp>
        <p:nvSpPr>
          <p:cNvPr id="28" name="PHOTO_P10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29" name="TextBox 2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All query interfaces read the same canonical graph exports; inference is computed before serving.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Verification of the final OWL</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Direct HermiT run; evidence bound to the file hash</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22 / 24</a:t>
            </a:r>
          </a:p>
        </p:txBody>
      </p:sp>
      <p:sp>
        <p:nvSpPr>
          <p:cNvPr id="9" name="Rounded Rectangle 8"/>
          <p:cNvSpPr/>
          <p:nvPr/>
        </p:nvSpPr>
        <p:spPr>
          <a:xfrm>
            <a:off x="731520" y="267919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2549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PASS</a:t>
            </a:r>
          </a:p>
        </p:txBody>
      </p:sp>
      <p:sp>
        <p:nvSpPr>
          <p:cNvPr id="11" name="TextBox 10"/>
          <p:cNvSpPr txBox="1"/>
          <p:nvPr/>
        </p:nvSpPr>
        <p:spPr>
          <a:xfrm>
            <a:off x="3145536" y="288950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HermiT consistency</a:t>
            </a:r>
          </a:p>
        </p:txBody>
      </p:sp>
      <p:sp>
        <p:nvSpPr>
          <p:cNvPr id="12" name="Rounded Rectangle 11"/>
          <p:cNvSpPr/>
          <p:nvPr/>
        </p:nvSpPr>
        <p:spPr>
          <a:xfrm>
            <a:off x="731520" y="373075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87705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0</a:t>
            </a:r>
          </a:p>
        </p:txBody>
      </p:sp>
      <p:sp>
        <p:nvSpPr>
          <p:cNvPr id="14" name="TextBox 13"/>
          <p:cNvSpPr txBox="1"/>
          <p:nvPr/>
        </p:nvSpPr>
        <p:spPr>
          <a:xfrm>
            <a:off x="3145536" y="394106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unsatisfiable named classes</a:t>
            </a:r>
          </a:p>
        </p:txBody>
      </p:sp>
      <p:sp>
        <p:nvSpPr>
          <p:cNvPr id="15" name="Rounded Rectangle 14"/>
          <p:cNvSpPr/>
          <p:nvPr/>
        </p:nvSpPr>
        <p:spPr>
          <a:xfrm>
            <a:off x="731520" y="478231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92861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27</a:t>
            </a:r>
          </a:p>
        </p:txBody>
      </p:sp>
      <p:sp>
        <p:nvSpPr>
          <p:cNvPr id="17" name="TextBox 16"/>
          <p:cNvSpPr txBox="1"/>
          <p:nvPr/>
        </p:nvSpPr>
        <p:spPr>
          <a:xfrm>
            <a:off x="3145536" y="499262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design queries executed</a:t>
            </a:r>
          </a:p>
        </p:txBody>
      </p:sp>
      <p:sp>
        <p:nvSpPr>
          <p:cNvPr id="18" name="Rounded Rectangle 17"/>
          <p:cNvSpPr/>
          <p:nvPr/>
        </p:nvSpPr>
        <p:spPr>
          <a:xfrm>
            <a:off x="731520" y="583387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98017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965</a:t>
            </a:r>
          </a:p>
        </p:txBody>
      </p:sp>
      <p:sp>
        <p:nvSpPr>
          <p:cNvPr id="20" name="TextBox 19"/>
          <p:cNvSpPr txBox="1"/>
          <p:nvPr/>
        </p:nvSpPr>
        <p:spPr>
          <a:xfrm>
            <a:off x="3145536" y="604418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chain pairs verified</a:t>
            </a:r>
          </a:p>
        </p:txBody>
      </p:sp>
      <p:pic>
        <p:nvPicPr>
          <p:cNvPr id="21" name="Picture 20" descr="verification.png"/>
          <p:cNvPicPr>
            <a:picLocks noChangeAspect="1"/>
          </p:cNvPicPr>
          <p:nvPr/>
        </p:nvPicPr>
        <p:blipFill>
          <a:blip r:embed="rId2"/>
          <a:stretch>
            <a:fillRect/>
          </a:stretch>
        </p:blipFill>
        <p:spPr>
          <a:xfrm>
            <a:off x="7077456" y="2912364"/>
            <a:ext cx="6903720" cy="3886200"/>
          </a:xfrm>
          <a:prstGeom prst="rect">
            <a:avLst/>
          </a:prstGeom>
        </p:spPr>
      </p:pic>
      <p:sp>
        <p:nvSpPr>
          <p:cNvPr id="22" name="TextBox 2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Canonical OWL verified by HermiT; browser queries use matching source, reasoned and named graphs.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Coverage and limitations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Verified functional requirements; evidence scope remains explicit</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23 / 24</a:t>
            </a:r>
          </a:p>
        </p:txBody>
      </p:sp>
      <p:sp>
        <p:nvSpPr>
          <p:cNvPr id="9" name="Rectangle 8"/>
          <p:cNvSpPr/>
          <p:nvPr/>
        </p:nvSpPr>
        <p:spPr>
          <a:xfrm>
            <a:off x="731520" y="2697480"/>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70632"/>
            <a:ext cx="740664"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Req.</a:t>
            </a:r>
          </a:p>
        </p:txBody>
      </p:sp>
      <p:sp>
        <p:nvSpPr>
          <p:cNvPr id="11" name="TextBox 10"/>
          <p:cNvSpPr txBox="1"/>
          <p:nvPr/>
        </p:nvSpPr>
        <p:spPr>
          <a:xfrm>
            <a:off x="1801368" y="2770632"/>
            <a:ext cx="3803904"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Evidence</a:t>
            </a:r>
          </a:p>
        </p:txBody>
      </p:sp>
      <p:sp>
        <p:nvSpPr>
          <p:cNvPr id="12" name="TextBox 11"/>
          <p:cNvSpPr txBox="1"/>
          <p:nvPr/>
        </p:nvSpPr>
        <p:spPr>
          <a:xfrm>
            <a:off x="5824728" y="2770632"/>
            <a:ext cx="1517904"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Status</a:t>
            </a:r>
          </a:p>
        </p:txBody>
      </p:sp>
      <p:sp>
        <p:nvSpPr>
          <p:cNvPr id="13" name="Rectangle 12"/>
          <p:cNvSpPr/>
          <p:nvPr/>
        </p:nvSpPr>
        <p:spPr>
          <a:xfrm>
            <a:off x="731520" y="309067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50108"/>
            <a:ext cx="7406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R1</a:t>
            </a:r>
          </a:p>
        </p:txBody>
      </p:sp>
      <p:sp>
        <p:nvSpPr>
          <p:cNvPr id="15" name="TextBox 14"/>
          <p:cNvSpPr txBox="1"/>
          <p:nvPr/>
        </p:nvSpPr>
        <p:spPr>
          <a:xfrm>
            <a:off x="1801368" y="3150108"/>
            <a:ext cx="3803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Canonical OWL + HermiT</a:t>
            </a:r>
          </a:p>
        </p:txBody>
      </p:sp>
      <p:sp>
        <p:nvSpPr>
          <p:cNvPr id="16" name="TextBox 15"/>
          <p:cNvSpPr txBox="1"/>
          <p:nvPr/>
        </p:nvSpPr>
        <p:spPr>
          <a:xfrm>
            <a:off x="5824728" y="3150108"/>
            <a:ext cx="1517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Verified</a:t>
            </a:r>
          </a:p>
        </p:txBody>
      </p:sp>
      <p:sp>
        <p:nvSpPr>
          <p:cNvPr id="17" name="Rectangle 16"/>
          <p:cNvSpPr/>
          <p:nvPr/>
        </p:nvSpPr>
        <p:spPr>
          <a:xfrm>
            <a:off x="731520" y="3685032"/>
            <a:ext cx="6720840" cy="59436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744468"/>
            <a:ext cx="7406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R2</a:t>
            </a:r>
          </a:p>
        </p:txBody>
      </p:sp>
      <p:sp>
        <p:nvSpPr>
          <p:cNvPr id="19" name="TextBox 18"/>
          <p:cNvSpPr txBox="1"/>
          <p:nvPr/>
        </p:nvSpPr>
        <p:spPr>
          <a:xfrm>
            <a:off x="1801368" y="3744468"/>
            <a:ext cx="3803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Source facts + provenance</a:t>
            </a:r>
          </a:p>
        </p:txBody>
      </p:sp>
      <p:sp>
        <p:nvSpPr>
          <p:cNvPr id="20" name="TextBox 19"/>
          <p:cNvSpPr txBox="1"/>
          <p:nvPr/>
        </p:nvSpPr>
        <p:spPr>
          <a:xfrm>
            <a:off x="5824728" y="3744468"/>
            <a:ext cx="1517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Verified</a:t>
            </a:r>
          </a:p>
        </p:txBody>
      </p:sp>
      <p:sp>
        <p:nvSpPr>
          <p:cNvPr id="21" name="Rectangle 20"/>
          <p:cNvSpPr/>
          <p:nvPr/>
        </p:nvSpPr>
        <p:spPr>
          <a:xfrm>
            <a:off x="731520" y="427939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338828"/>
            <a:ext cx="7406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R3</a:t>
            </a:r>
          </a:p>
        </p:txBody>
      </p:sp>
      <p:sp>
        <p:nvSpPr>
          <p:cNvPr id="23" name="TextBox 22"/>
          <p:cNvSpPr txBox="1"/>
          <p:nvPr/>
        </p:nvSpPr>
        <p:spPr>
          <a:xfrm>
            <a:off x="1801368" y="4338828"/>
            <a:ext cx="3803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Public RDF / OWL</a:t>
            </a:r>
          </a:p>
        </p:txBody>
      </p:sp>
      <p:sp>
        <p:nvSpPr>
          <p:cNvPr id="24" name="TextBox 23"/>
          <p:cNvSpPr txBox="1"/>
          <p:nvPr/>
        </p:nvSpPr>
        <p:spPr>
          <a:xfrm>
            <a:off x="5824728" y="4338828"/>
            <a:ext cx="1517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Aligned</a:t>
            </a:r>
          </a:p>
        </p:txBody>
      </p:sp>
      <p:sp>
        <p:nvSpPr>
          <p:cNvPr id="25" name="Rectangle 24"/>
          <p:cNvSpPr/>
          <p:nvPr/>
        </p:nvSpPr>
        <p:spPr>
          <a:xfrm>
            <a:off x="731520" y="4873752"/>
            <a:ext cx="6720840" cy="59436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933188"/>
            <a:ext cx="7406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R4</a:t>
            </a:r>
          </a:p>
        </p:txBody>
      </p:sp>
      <p:sp>
        <p:nvSpPr>
          <p:cNvPr id="27" name="TextBox 26"/>
          <p:cNvSpPr txBox="1"/>
          <p:nvPr/>
        </p:nvSpPr>
        <p:spPr>
          <a:xfrm>
            <a:off x="1801368" y="4933188"/>
            <a:ext cx="3803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Retained identity links</a:t>
            </a:r>
          </a:p>
        </p:txBody>
      </p:sp>
      <p:sp>
        <p:nvSpPr>
          <p:cNvPr id="28" name="TextBox 27"/>
          <p:cNvSpPr txBox="1"/>
          <p:nvPr/>
        </p:nvSpPr>
        <p:spPr>
          <a:xfrm>
            <a:off x="5824728" y="4933188"/>
            <a:ext cx="1517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Verified</a:t>
            </a:r>
          </a:p>
        </p:txBody>
      </p:sp>
      <p:sp>
        <p:nvSpPr>
          <p:cNvPr id="29" name="Rectangle 28"/>
          <p:cNvSpPr/>
          <p:nvPr/>
        </p:nvSpPr>
        <p:spPr>
          <a:xfrm>
            <a:off x="731520" y="546811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5527548"/>
            <a:ext cx="7406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R5</a:t>
            </a:r>
          </a:p>
        </p:txBody>
      </p:sp>
      <p:sp>
        <p:nvSpPr>
          <p:cNvPr id="31" name="TextBox 30"/>
          <p:cNvSpPr txBox="1"/>
          <p:nvPr/>
        </p:nvSpPr>
        <p:spPr>
          <a:xfrm>
            <a:off x="1801368" y="5527548"/>
            <a:ext cx="3803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Three query scopes</a:t>
            </a:r>
          </a:p>
        </p:txBody>
      </p:sp>
      <p:sp>
        <p:nvSpPr>
          <p:cNvPr id="32" name="TextBox 31"/>
          <p:cNvSpPr txBox="1"/>
          <p:nvPr/>
        </p:nvSpPr>
        <p:spPr>
          <a:xfrm>
            <a:off x="5824728" y="5527548"/>
            <a:ext cx="15179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Verified</a:t>
            </a:r>
          </a:p>
        </p:txBody>
      </p:sp>
      <p:sp>
        <p:nvSpPr>
          <p:cNvPr id="33" name="Rounded Rectangle 32"/>
          <p:cNvSpPr/>
          <p:nvPr/>
        </p:nvSpPr>
        <p:spPr>
          <a:xfrm>
            <a:off x="731520" y="6565392"/>
            <a:ext cx="6720840" cy="640080"/>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264" y="6665976"/>
            <a:ext cx="6217920" cy="411480"/>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Canonical model and application are aligned.</a:t>
            </a:r>
          </a:p>
        </p:txBody>
      </p:sp>
      <p:sp>
        <p:nvSpPr>
          <p:cNvPr id="35" name="Rounded Rectangle 34"/>
          <p:cNvSpPr/>
          <p:nvPr/>
        </p:nvSpPr>
        <p:spPr>
          <a:xfrm>
            <a:off x="7818120" y="2688336"/>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18120" y="2688336"/>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28432" y="2834640"/>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Inference scope</a:t>
            </a:r>
          </a:p>
        </p:txBody>
      </p:sp>
      <p:sp>
        <p:nvSpPr>
          <p:cNvPr id="38" name="TextBox 37"/>
          <p:cNvSpPr txBox="1"/>
          <p:nvPr/>
        </p:nvSpPr>
        <p:spPr>
          <a:xfrm>
            <a:off x="8028432" y="3278632"/>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Consistency does not prove completeness or factual</a:t>
            </a:r>
          </a:p>
          <a:p>
            <a:pPr>
              <a:lnSpc>
                <a:spcPts val="2048"/>
              </a:lnSpc>
              <a:spcBef>
                <a:spcPts val="0"/>
              </a:spcBef>
              <a:spcAft>
                <a:spcPts val="0"/>
              </a:spcAft>
              <a:defRPr sz="1600" b="0">
                <a:solidFill>
                  <a:srgbClr val="506776"/>
                </a:solidFill>
                <a:latin typeface="Be Vietnam Pro"/>
              </a:defRPr>
            </a:pPr>
            <a:r>
              <a:t>accuracy.</a:t>
            </a:r>
          </a:p>
        </p:txBody>
      </p:sp>
      <p:sp>
        <p:nvSpPr>
          <p:cNvPr id="39" name="Rounded Rectangle 38"/>
          <p:cNvSpPr/>
          <p:nvPr/>
        </p:nvSpPr>
        <p:spPr>
          <a:xfrm>
            <a:off x="7818120" y="4178808"/>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818120" y="4178808"/>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28432" y="4325112"/>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Source and identity</a:t>
            </a:r>
          </a:p>
        </p:txBody>
      </p:sp>
      <p:sp>
        <p:nvSpPr>
          <p:cNvPr id="42" name="TextBox 41"/>
          <p:cNvSpPr txBox="1"/>
          <p:nvPr/>
        </p:nvSpPr>
        <p:spPr>
          <a:xfrm>
            <a:off x="8028432" y="4769104"/>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No blanket inequality for QIDs; genre buckets are</a:t>
            </a:r>
          </a:p>
          <a:p>
            <a:pPr>
              <a:lnSpc>
                <a:spcPts val="2048"/>
              </a:lnSpc>
              <a:spcBef>
                <a:spcPts val="0"/>
              </a:spcBef>
              <a:spcAft>
                <a:spcPts val="0"/>
              </a:spcAft>
              <a:defRPr sz="1600" b="0">
                <a:solidFill>
                  <a:srgbClr val="506776"/>
                </a:solidFill>
                <a:latin typeface="Be Vietnam Pro"/>
              </a:defRPr>
            </a:pPr>
            <a:r>
              <a:t>author mappings.</a:t>
            </a:r>
          </a:p>
        </p:txBody>
      </p:sp>
      <p:sp>
        <p:nvSpPr>
          <p:cNvPr id="43" name="Rounded Rectangle 42"/>
          <p:cNvSpPr/>
          <p:nvPr/>
        </p:nvSpPr>
        <p:spPr>
          <a:xfrm>
            <a:off x="7818120" y="5669279"/>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818120" y="5669279"/>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28432" y="5815583"/>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Deliverables</a:t>
            </a:r>
          </a:p>
        </p:txBody>
      </p:sp>
      <p:sp>
        <p:nvSpPr>
          <p:cNvPr id="46" name="TextBox 45"/>
          <p:cNvSpPr txBox="1"/>
          <p:nvPr/>
        </p:nvSpPr>
        <p:spPr>
          <a:xfrm>
            <a:off x="8028432" y="6259575"/>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Slides, report and guides are current. No MP4 files are</a:t>
            </a:r>
          </a:p>
          <a:p>
            <a:pPr>
              <a:lnSpc>
                <a:spcPts val="2048"/>
              </a:lnSpc>
              <a:spcBef>
                <a:spcPts val="0"/>
              </a:spcBef>
              <a:spcAft>
                <a:spcPts val="0"/>
              </a:spcAft>
              <a:defRPr sz="1600" b="0">
                <a:solidFill>
                  <a:srgbClr val="506776"/>
                </a:solidFill>
                <a:latin typeface="Be Vietnam Pro"/>
              </a:defRPr>
            </a:pPr>
            <a:r>
              <a:t>included.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3.0.0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Evidence capture and submission checklist</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Report: 15 pages · main deck: 24 slides · no MP4 included</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09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24 / 24</a:t>
            </a:r>
          </a:p>
        </p:txBody>
      </p:sp>
      <p:sp>
        <p:nvSpPr>
          <p:cNvPr id="9" name="Rectangle 8"/>
          <p:cNvSpPr/>
          <p:nvPr/>
        </p:nvSpPr>
        <p:spPr>
          <a:xfrm>
            <a:off x="731520" y="2615184"/>
            <a:ext cx="790956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688336"/>
            <a:ext cx="7863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Image</a:t>
            </a:r>
          </a:p>
        </p:txBody>
      </p:sp>
      <p:sp>
        <p:nvSpPr>
          <p:cNvPr id="11" name="TextBox 10"/>
          <p:cNvSpPr txBox="1"/>
          <p:nvPr/>
        </p:nvSpPr>
        <p:spPr>
          <a:xfrm>
            <a:off x="1847088" y="2688336"/>
            <a:ext cx="7863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Slide</a:t>
            </a:r>
          </a:p>
        </p:txBody>
      </p:sp>
      <p:sp>
        <p:nvSpPr>
          <p:cNvPr id="12" name="TextBox 11"/>
          <p:cNvSpPr txBox="1"/>
          <p:nvPr/>
        </p:nvSpPr>
        <p:spPr>
          <a:xfrm>
            <a:off x="2852928" y="2688336"/>
            <a:ext cx="567842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Evidence to capture</a:t>
            </a:r>
          </a:p>
        </p:txBody>
      </p:sp>
      <p:sp>
        <p:nvSpPr>
          <p:cNvPr id="13" name="Rectangle 12"/>
          <p:cNvSpPr/>
          <p:nvPr/>
        </p:nvSpPr>
        <p:spPr>
          <a:xfrm>
            <a:off x="731520" y="3008376"/>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06781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P00</a:t>
            </a:r>
          </a:p>
        </p:txBody>
      </p:sp>
      <p:sp>
        <p:nvSpPr>
          <p:cNvPr id="15" name="TextBox 14"/>
          <p:cNvSpPr txBox="1"/>
          <p:nvPr/>
        </p:nvSpPr>
        <p:spPr>
          <a:xfrm>
            <a:off x="1847088" y="306781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5</a:t>
            </a:r>
          </a:p>
        </p:txBody>
      </p:sp>
      <p:sp>
        <p:nvSpPr>
          <p:cNvPr id="16" name="TextBox 15"/>
          <p:cNvSpPr txBox="1"/>
          <p:nvPr/>
        </p:nvSpPr>
        <p:spPr>
          <a:xfrm>
            <a:off x="2852928" y="3067812"/>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Ontology 3.0.0 header</a:t>
            </a:r>
          </a:p>
        </p:txBody>
      </p:sp>
      <p:sp>
        <p:nvSpPr>
          <p:cNvPr id="17" name="Rectangle 16"/>
          <p:cNvSpPr/>
          <p:nvPr/>
        </p:nvSpPr>
        <p:spPr>
          <a:xfrm>
            <a:off x="731520" y="3371088"/>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430524"/>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P01</a:t>
            </a:r>
          </a:p>
        </p:txBody>
      </p:sp>
      <p:sp>
        <p:nvSpPr>
          <p:cNvPr id="19" name="TextBox 18"/>
          <p:cNvSpPr txBox="1"/>
          <p:nvPr/>
        </p:nvSpPr>
        <p:spPr>
          <a:xfrm>
            <a:off x="1847088" y="3430524"/>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a:t>
            </a:r>
          </a:p>
        </p:txBody>
      </p:sp>
      <p:sp>
        <p:nvSpPr>
          <p:cNvPr id="20" name="TextBox 19"/>
          <p:cNvSpPr txBox="1"/>
          <p:nvPr/>
        </p:nvSpPr>
        <p:spPr>
          <a:xfrm>
            <a:off x="2852928" y="3430524"/>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Work and Film hierarchy</a:t>
            </a:r>
          </a:p>
        </p:txBody>
      </p:sp>
      <p:sp>
        <p:nvSpPr>
          <p:cNvPr id="21" name="Rectangle 20"/>
          <p:cNvSpPr/>
          <p:nvPr/>
        </p:nvSpPr>
        <p:spPr>
          <a:xfrm>
            <a:off x="731520" y="3733799"/>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793236"/>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P02</a:t>
            </a:r>
          </a:p>
        </p:txBody>
      </p:sp>
      <p:sp>
        <p:nvSpPr>
          <p:cNvPr id="23" name="TextBox 22"/>
          <p:cNvSpPr txBox="1"/>
          <p:nvPr/>
        </p:nvSpPr>
        <p:spPr>
          <a:xfrm>
            <a:off x="1847088" y="3793236"/>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a:t>
            </a:r>
          </a:p>
        </p:txBody>
      </p:sp>
      <p:sp>
        <p:nvSpPr>
          <p:cNvPr id="24" name="TextBox 23"/>
          <p:cNvSpPr txBox="1"/>
          <p:nvPr/>
        </p:nvSpPr>
        <p:spPr>
          <a:xfrm>
            <a:off x="2852928" y="3793236"/>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DBpedia agent hierarchy</a:t>
            </a:r>
          </a:p>
        </p:txBody>
      </p:sp>
      <p:sp>
        <p:nvSpPr>
          <p:cNvPr id="25" name="Rectangle 24"/>
          <p:cNvSpPr/>
          <p:nvPr/>
        </p:nvSpPr>
        <p:spPr>
          <a:xfrm>
            <a:off x="731520" y="4096511"/>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55948"/>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P03</a:t>
            </a:r>
          </a:p>
        </p:txBody>
      </p:sp>
      <p:sp>
        <p:nvSpPr>
          <p:cNvPr id="27" name="TextBox 26"/>
          <p:cNvSpPr txBox="1"/>
          <p:nvPr/>
        </p:nvSpPr>
        <p:spPr>
          <a:xfrm>
            <a:off x="1847088" y="4155948"/>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a:t>
            </a:r>
          </a:p>
        </p:txBody>
      </p:sp>
      <p:sp>
        <p:nvSpPr>
          <p:cNvPr id="28" name="TextBox 27"/>
          <p:cNvSpPr txBox="1"/>
          <p:nvPr/>
        </p:nvSpPr>
        <p:spPr>
          <a:xfrm>
            <a:off x="2852928" y="4155948"/>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MovieGenre and Award</a:t>
            </a:r>
          </a:p>
        </p:txBody>
      </p:sp>
      <p:sp>
        <p:nvSpPr>
          <p:cNvPr id="29" name="Rectangle 28"/>
          <p:cNvSpPr/>
          <p:nvPr/>
        </p:nvSpPr>
        <p:spPr>
          <a:xfrm>
            <a:off x="731520" y="4459223"/>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518660"/>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P04</a:t>
            </a:r>
          </a:p>
        </p:txBody>
      </p:sp>
      <p:sp>
        <p:nvSpPr>
          <p:cNvPr id="31" name="TextBox 30"/>
          <p:cNvSpPr txBox="1"/>
          <p:nvPr/>
        </p:nvSpPr>
        <p:spPr>
          <a:xfrm>
            <a:off x="1847088" y="4518660"/>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9</a:t>
            </a:r>
          </a:p>
        </p:txBody>
      </p:sp>
      <p:sp>
        <p:nvSpPr>
          <p:cNvPr id="32" name="TextBox 31"/>
          <p:cNvSpPr txBox="1"/>
          <p:nvPr/>
        </p:nvSpPr>
        <p:spPr>
          <a:xfrm>
            <a:off x="2852928" y="4518660"/>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restrictions</a:t>
            </a:r>
          </a:p>
        </p:txBody>
      </p:sp>
      <p:sp>
        <p:nvSpPr>
          <p:cNvPr id="33" name="Rectangle 32"/>
          <p:cNvSpPr/>
          <p:nvPr/>
        </p:nvSpPr>
        <p:spPr>
          <a:xfrm>
            <a:off x="731520" y="4821935"/>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488137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P05</a:t>
            </a:r>
          </a:p>
        </p:txBody>
      </p:sp>
      <p:sp>
        <p:nvSpPr>
          <p:cNvPr id="35" name="TextBox 34"/>
          <p:cNvSpPr txBox="1"/>
          <p:nvPr/>
        </p:nvSpPr>
        <p:spPr>
          <a:xfrm>
            <a:off x="1847088" y="488137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10</a:t>
            </a:r>
          </a:p>
        </p:txBody>
      </p:sp>
      <p:sp>
        <p:nvSpPr>
          <p:cNvPr id="36" name="TextBox 35"/>
          <p:cNvSpPr txBox="1"/>
          <p:nvPr/>
        </p:nvSpPr>
        <p:spPr>
          <a:xfrm>
            <a:off x="2852928" y="4881372"/>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Inverse and functional properties</a:t>
            </a:r>
          </a:p>
        </p:txBody>
      </p:sp>
      <p:sp>
        <p:nvSpPr>
          <p:cNvPr id="37" name="Rectangle 36"/>
          <p:cNvSpPr/>
          <p:nvPr/>
        </p:nvSpPr>
        <p:spPr>
          <a:xfrm>
            <a:off x="731520" y="5184647"/>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1248" y="5244083"/>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P06</a:t>
            </a:r>
          </a:p>
        </p:txBody>
      </p:sp>
      <p:sp>
        <p:nvSpPr>
          <p:cNvPr id="39" name="TextBox 38"/>
          <p:cNvSpPr txBox="1"/>
          <p:nvPr/>
        </p:nvSpPr>
        <p:spPr>
          <a:xfrm>
            <a:off x="1847088" y="5244083"/>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13</a:t>
            </a:r>
          </a:p>
        </p:txBody>
      </p:sp>
      <p:sp>
        <p:nvSpPr>
          <p:cNvPr id="40" name="TextBox 39"/>
          <p:cNvSpPr txBox="1"/>
          <p:nvPr/>
        </p:nvSpPr>
        <p:spPr>
          <a:xfrm>
            <a:off x="2852928" y="5244083"/>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 equivalent class</a:t>
            </a:r>
          </a:p>
        </p:txBody>
      </p:sp>
      <p:sp>
        <p:nvSpPr>
          <p:cNvPr id="41" name="Rectangle 40"/>
          <p:cNvSpPr/>
          <p:nvPr/>
        </p:nvSpPr>
        <p:spPr>
          <a:xfrm>
            <a:off x="731520" y="5547359"/>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1248" y="5606795"/>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P07</a:t>
            </a:r>
          </a:p>
        </p:txBody>
      </p:sp>
      <p:sp>
        <p:nvSpPr>
          <p:cNvPr id="43" name="TextBox 42"/>
          <p:cNvSpPr txBox="1"/>
          <p:nvPr/>
        </p:nvSpPr>
        <p:spPr>
          <a:xfrm>
            <a:off x="1847088" y="5606795"/>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14</a:t>
            </a:r>
          </a:p>
        </p:txBody>
      </p:sp>
      <p:sp>
        <p:nvSpPr>
          <p:cNvPr id="44" name="TextBox 43"/>
          <p:cNvSpPr txBox="1"/>
          <p:nvPr/>
        </p:nvSpPr>
        <p:spPr>
          <a:xfrm>
            <a:off x="2852928" y="5606795"/>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Three-credit cardinality</a:t>
            </a:r>
          </a:p>
        </p:txBody>
      </p:sp>
      <p:sp>
        <p:nvSpPr>
          <p:cNvPr id="45" name="Rectangle 44"/>
          <p:cNvSpPr/>
          <p:nvPr/>
        </p:nvSpPr>
        <p:spPr>
          <a:xfrm>
            <a:off x="731520" y="5910071"/>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 y="5969507"/>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P08</a:t>
            </a:r>
          </a:p>
        </p:txBody>
      </p:sp>
      <p:sp>
        <p:nvSpPr>
          <p:cNvPr id="47" name="TextBox 46"/>
          <p:cNvSpPr txBox="1"/>
          <p:nvPr/>
        </p:nvSpPr>
        <p:spPr>
          <a:xfrm>
            <a:off x="1847088" y="5969507"/>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16</a:t>
            </a:r>
          </a:p>
        </p:txBody>
      </p:sp>
      <p:sp>
        <p:nvSpPr>
          <p:cNvPr id="48" name="TextBox 47"/>
          <p:cNvSpPr txBox="1"/>
          <p:nvPr/>
        </p:nvSpPr>
        <p:spPr>
          <a:xfrm>
            <a:off x="2852928" y="5969507"/>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DBpedia runtime in seconds</a:t>
            </a:r>
          </a:p>
        </p:txBody>
      </p:sp>
      <p:sp>
        <p:nvSpPr>
          <p:cNvPr id="49" name="Rectangle 48"/>
          <p:cNvSpPr/>
          <p:nvPr/>
        </p:nvSpPr>
        <p:spPr>
          <a:xfrm>
            <a:off x="731520" y="6272783"/>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6332219"/>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P09</a:t>
            </a:r>
          </a:p>
        </p:txBody>
      </p:sp>
      <p:sp>
        <p:nvSpPr>
          <p:cNvPr id="51" name="TextBox 50"/>
          <p:cNvSpPr txBox="1"/>
          <p:nvPr/>
        </p:nvSpPr>
        <p:spPr>
          <a:xfrm>
            <a:off x="1847088" y="6332219"/>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18</a:t>
            </a:r>
          </a:p>
        </p:txBody>
      </p:sp>
      <p:sp>
        <p:nvSpPr>
          <p:cNvPr id="52" name="TextBox 51"/>
          <p:cNvSpPr txBox="1"/>
          <p:nvPr/>
        </p:nvSpPr>
        <p:spPr>
          <a:xfrm>
            <a:off x="2852928" y="6332219"/>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Inception in the final OWL</a:t>
            </a:r>
          </a:p>
        </p:txBody>
      </p:sp>
      <p:sp>
        <p:nvSpPr>
          <p:cNvPr id="53" name="Rectangle 52"/>
          <p:cNvSpPr/>
          <p:nvPr/>
        </p:nvSpPr>
        <p:spPr>
          <a:xfrm>
            <a:off x="731520" y="6635495"/>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1248" y="6694931"/>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P10</a:t>
            </a:r>
          </a:p>
        </p:txBody>
      </p:sp>
      <p:sp>
        <p:nvSpPr>
          <p:cNvPr id="55" name="TextBox 54"/>
          <p:cNvSpPr txBox="1"/>
          <p:nvPr/>
        </p:nvSpPr>
        <p:spPr>
          <a:xfrm>
            <a:off x="1847088" y="6694931"/>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21</a:t>
            </a:r>
          </a:p>
        </p:txBody>
      </p:sp>
      <p:sp>
        <p:nvSpPr>
          <p:cNvPr id="56" name="TextBox 55"/>
          <p:cNvSpPr txBox="1"/>
          <p:nvPr/>
        </p:nvSpPr>
        <p:spPr>
          <a:xfrm>
            <a:off x="2852928" y="6694931"/>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Nolan inferred types</a:t>
            </a:r>
          </a:p>
        </p:txBody>
      </p:sp>
      <p:sp>
        <p:nvSpPr>
          <p:cNvPr id="57" name="Rounded Rectangle 56"/>
          <p:cNvSpPr/>
          <p:nvPr/>
        </p:nvSpPr>
        <p:spPr>
          <a:xfrm>
            <a:off x="8915400" y="2679192"/>
            <a:ext cx="4965192"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915400" y="2679192"/>
            <a:ext cx="41148" cy="44805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25712" y="2825496"/>
            <a:ext cx="45445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Before submission</a:t>
            </a:r>
          </a:p>
        </p:txBody>
      </p:sp>
      <p:sp>
        <p:nvSpPr>
          <p:cNvPr id="60" name="TextBox 59"/>
          <p:cNvSpPr txBox="1"/>
          <p:nvPr/>
        </p:nvSpPr>
        <p:spPr>
          <a:xfrm>
            <a:off x="9125712" y="3269488"/>
            <a:ext cx="4544568" cy="3807968"/>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1. Verify ontology version 3.0.0.</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2. Insert the requested genuine</a:t>
            </a:r>
          </a:p>
          <a:p>
            <a:pPr>
              <a:lnSpc>
                <a:spcPts val="2304"/>
              </a:lnSpc>
              <a:spcBef>
                <a:spcPts val="0"/>
              </a:spcBef>
              <a:spcAft>
                <a:spcPts val="0"/>
              </a:spcAft>
              <a:defRPr sz="1800" b="0">
                <a:solidFill>
                  <a:srgbClr val="506776"/>
                </a:solidFill>
                <a:latin typeface="Be Vietnam Pro"/>
              </a:defRPr>
            </a:pPr>
            <a:r>
              <a:t>screenshots.</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3. Save them in evidence/protege/ for</a:t>
            </a:r>
          </a:p>
          <a:p>
            <a:pPr>
              <a:lnSpc>
                <a:spcPts val="2304"/>
              </a:lnSpc>
              <a:spcBef>
                <a:spcPts val="0"/>
              </a:spcBef>
              <a:spcAft>
                <a:spcPts val="0"/>
              </a:spcAft>
              <a:defRPr sz="1800" b="0">
                <a:solidFill>
                  <a:srgbClr val="506776"/>
                </a:solidFill>
                <a:latin typeface="Be Vietnam Pro"/>
              </a:defRPr>
            </a:pPr>
            <a:r>
              <a:t>automatic replacement.</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4. Rehearse the script and demonstrate</a:t>
            </a:r>
          </a:p>
          <a:p>
            <a:pPr>
              <a:lnSpc>
                <a:spcPts val="2304"/>
              </a:lnSpc>
              <a:spcBef>
                <a:spcPts val="0"/>
              </a:spcBef>
              <a:spcAft>
                <a:spcPts val="0"/>
              </a:spcAft>
              <a:defRPr sz="1800" b="0">
                <a:solidFill>
                  <a:srgbClr val="506776"/>
                </a:solidFill>
                <a:latin typeface="Be Vietnam Pro"/>
              </a:defRPr>
            </a:pPr>
            <a:r>
              <a:t>the current query modes.</a:t>
            </a:r>
          </a:p>
        </p:txBody>
      </p:sp>
      <p:sp>
        <p:nvSpPr>
          <p:cNvPr id="61" name="TextBox 60"/>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Use the canonical OWL for Protégé evidence; source facts and inferred knowledge have separate scopes.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