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We present MovieLOD, a linked open data application for movies. The project connects a domain ontology, real source responses, RDF, external links and SPARQL queries. The current version contains 30 films, 42 declared classes and 1,727 external identity links. Inception and Christopher Nolan are our running examples. This deck has 24 slides. Vietnamese instructions remain inside the 11 empty Protégé screenshot slots so the team can add genuine evidence. These slots are placeholders, not screenshots. The demo video remains unchanged.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Movie data contains many related entities and overlapping roles. We want to identify Nolan’s roles in Inception, its production companies and the source of each claim. The five requirements form a workflow: define an ontology, collect real data, publish RDF with HTTP identifiers and an open license, link entities to external datasets, and provide SPARQL interfaces. Deliverables include a report of at most 15 pages, slides and a three-to-five-minute demo. The current video runs for about four minutes and fifty seconds.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starts with the film list in config. collect.py fetches responses and stores provenance metadata. build.py creates the ontology and normalized RDF graph. validate.py checks application fields, source hashes and queries. reason.py writes additional types to a separate file. The local application uses Flask and RDFLib; the hosted application runs Comunica in the browser. The endpoint loads movies.ttl by default. The terminal --reasoned option also loads the schema and saved inferred types; it does not start a reasoner for every query. All RDF exports now use millisecond timestamps, while raw source metadata retains its original precision.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sample contains 30 films, 851 people and 1,010 contribution records. It also includes 45 companies, 672 award entities, 75 genres, 11 countries and 15 languages. All 76 raw source responses are present and their hashes match. The asserted graph has 19,339 triples, separate from 518 schema triples. Units matter: 672 counts distinct award entities, not award events; 1,010 counts person-film-role records, not people. All sampled films have a year, runtime and director. This selected sample does not represent the entire film industry.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ontology declares 42 named owl:Class IRIs. Three directly reuse DBpedia classes; the other 39 belong to our namespace. The six groups cover creative works and films, people and organizations, contributions and roles, genres, awards, and supporting context and provenance. Fourteen classes receive additional types through definitions or application rules. Protégé Metrics may include referenced external classes, so its total can differ from our count of explicitly declared classes. The screenshot slot requests the ontology IRI and versionInfo 2.0.0.</a:t>
            </a:r>
          </a:p>
          <a:p/>
          <a:p>
            <a:r>
              <a:t>ẢNH PROTÉGÉ CẦN BỔ SUNG P00 — P00_ontology_header.png</a:t>
            </a:r>
          </a:p>
          <a:p>
            <a:r>
              <a:t>Mở ontology/Movie_Ontology.owl</a:t>
            </a:r>
          </a:p>
          <a:p>
            <a:r>
              <a:t>1. Mở ontology/Movie_Ontology.owl.</a:t>
            </a:r>
          </a:p>
          <a:p>
            <a:r>
              <a:t>2. Chọn Active Ontology / Ontology Header.</a:t>
            </a:r>
          </a:p>
          <a:p>
            <a:r>
              <a:t>3. Giữ IRI ontology và versionInfo 2.0.0 trong khung hình.</a:t>
            </a:r>
          </a:p>
          <a:p>
            <a:r>
              <a:t>Cần thấy: IRI đúng namespace của bài; phiên bản 2.0.0. Metrics có thể tính cả lớp ngoài được tham chiếu, khác 42 lớp tự khai báo.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CreativeWork is the top-level branch for works. Film reuses the DBpedia IRI. Its subclasses include FeatureFilm, AnimatedFilm and DocumentaryFilm. FeatureFilm and AnimatedFilm follow the project’s P31 mapping, a simplified rule rather than a full release-policy assessment. Genre-based film classes and AwardWinningFilm receive inferred types. MultiGenreFilm receives types through a separate counting rule in the application. DocumentaryFilm has no instances in this sample; defining a class does not require a sample instance. The requested Protégé view shows the asserted CreativeWork/Film hierarchy and Film’s DBpedia IRI.</a:t>
            </a:r>
          </a:p>
          <a:p/>
          <a:p>
            <a:r>
              <a:t>ẢNH PROTÉGÉ CẦN BỔ SUNG P01 — P01_film_hierarchy.png</a:t>
            </a:r>
          </a:p>
          <a:p>
            <a:r>
              <a:t>Mở ontology/Movie_Ontology.owl</a:t>
            </a:r>
          </a:p>
          <a:p>
            <a:r>
              <a:t>1. Entities → Classes → mở CreativeWork và Film.</a:t>
            </a:r>
          </a:p>
          <a:p>
            <a:r>
              <a:t>2. Hiện các lớp con FeatureFilm, AnimatedFilm và nhóm phim.</a:t>
            </a:r>
          </a:p>
          <a:p>
            <a:r>
              <a:t>3. Chọn Film; giữ IRI DBpedia và Class Description.</a:t>
            </a:r>
          </a:p>
          <a:p>
            <a:r>
              <a:t>Cần thấy: Film thuộc CreativeWork; IRI là http://dbpedia.org/ontology/Film. Chụp cây khai báo, không gọi là cây đã suy luận.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includes Person and Organization. Person reuses DBpedia and has Actor, Filmmaker and AwardWinner subclasses. Organization includes ProductionCompany. The application classifies six companies as FilmStudio using the number of film IRIs, while the DL reasoners infer no FilmStudio instances under the current axioms. Actor and Filmmaker are not disjoint: a person can act and also direct or write. Each role is represented by its own Contribution, rather than a combined DirectorWriter class. A query with LIMIT cannot establish the total number of people. The screenshot slot requests both Person and Organization branches.</a:t>
            </a:r>
          </a:p>
          <a:p/>
          <a:p>
            <a:r>
              <a:t>ẢNH PROTÉGÉ CẦN BỔ SUNG P02 — P02_agent_hierarchy.png</a:t>
            </a:r>
          </a:p>
          <a:p>
            <a:r>
              <a:t>Mở ontology/Movie_Ontology.owl</a:t>
            </a:r>
          </a:p>
          <a:p>
            <a:r>
              <a:t>1. Entities → Classes → mở Agent.</a:t>
            </a:r>
          </a:p>
          <a:p>
            <a:r>
              <a:t>2. Mở Person và Organization → ProductionCompany.</a:t>
            </a:r>
          </a:p>
          <a:p>
            <a:r>
              <a:t>3. Chọn Person hoặc Filmmaker; giữ cây lớp và Description.</a:t>
            </a:r>
          </a:p>
          <a:p>
            <a:r>
              <a:t>Cần thấy: Person và Organization cùng dưới Agent; Actor/Filmmaker/AwardWinner là lớp con Person.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Genre contains FictionGenre and NonFictionGenre. Action, comedy, drama and science fiction genres belong to FictionGenre; DocumentaryGenre belongs to NonFictionGenre. Award includes FilmAward, ActingAward, DirectingAward and WritingAward. These groups are mapped from label keywords during build, rather than discovered automatically by reasoning. FilmAward is the fallback group when no role-specific keyword matches. Country, Language, SourceSnapshot and Dataset supply context and provenance. Awards received by people are kept distinct from awards received by films. The requested view shows the Genre and Award branches.</a:t>
            </a:r>
          </a:p>
          <a:p/>
          <a:p>
            <a:r>
              <a:t>ẢNH PROTÉGÉ CẦN BỔ SUNG P03 — P03_genre_award_hierarchy.png</a:t>
            </a:r>
          </a:p>
          <a:p>
            <a:r>
              <a:t>Mở ontology/Movie_Ontology.owl</a:t>
            </a:r>
          </a:p>
          <a:p>
            <a:r>
              <a:t>1. Thu gọn Film/Agent để ảnh dễ đọc.</a:t>
            </a:r>
          </a:p>
          <a:p>
            <a:r>
              <a:t>2. Mở Genre → FictionGenre / NonFictionGenre và Award.</a:t>
            </a:r>
          </a:p>
          <a:p>
            <a:r>
              <a:t>3. Hiện các lớp thể loại và nhóm giải; giữ Class Description.</a:t>
            </a:r>
          </a:p>
          <a:p>
            <a:r>
              <a:t>Cần thấy: Cây Genre/Award khớp sơ đồ. Nhóm thể loại/giải được ánh xạ theo nhãn trong bước build.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profession label alone does not identify a person’s role in a particular film. Contribution connects a person, film and role. contributionBy points to Person, contributionTo to Film, and hasRole to ContributionRole. Each relation has an exactly-one qualified restriction. Four role individuals are DirectorRole, ActorRole, WriterRole and ProducerRole. Nolan has three roles in Inception, represented by three separate contributions. Acting, Directing, Writing and ProducingContribution are classified from hasRole. The screenshot should show Contribution’s restrictions, including exactly-one and allValuesFrom expressions.</a:t>
            </a:r>
          </a:p>
          <a:p/>
          <a:p>
            <a:r>
              <a:t>ẢNH PROTÉGÉ CẦN BỔ SUNG P04 — P04_contribution_restrictions.png</a:t>
            </a:r>
          </a:p>
          <a:p>
            <a:r>
              <a:t>Mở ontology/Movie_Ontology.owl</a:t>
            </a:r>
          </a:p>
          <a:p>
            <a:r>
              <a:t>1. Entities → Classes → chọn Contribution.</a:t>
            </a:r>
          </a:p>
          <a:p>
            <a:r>
              <a:t>2. Trong Class Description, mở đủ SubClass Of.</a:t>
            </a:r>
          </a:p>
          <a:p>
            <a:r>
              <a:t>3. Hiện contributionBy / contributionTo / hasRole: exactly 1.</a:t>
            </a:r>
          </a:p>
          <a:p>
            <a:r>
              <a:t>Cần thấy: Ba qualified cardinality đúng 1, cùng các allValuesFrom. Đây là mô hình OWL, không phải biên bản kiểm tra thiếu trường.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object property connects two entities. contributionBy has domain Contribution, range Person and inverse hasContribution. contributionTo connects to Film; hasRole connects to ContributionRole. These three properties are functional. Direct director, starring, writer and producer properties reuse DBpedia vocabulary. Inverse pairs such as hasGenre/genreOf and hasAward/awardOf support navigation in either direction. An inverse is not a symmetric property. Domain and range can infer types; they are not input-rejection rules. The requested screenshot shows contributionBy’s domain, range, inverse and functional characteristic.</a:t>
            </a:r>
          </a:p>
          <a:p/>
          <a:p>
            <a:r>
              <a:t>ẢNH PROTÉGÉ CẦN BỔ SUNG P05 — P05_object_property.png</a:t>
            </a:r>
          </a:p>
          <a:p>
            <a:r>
              <a:t>Mở ontology/Movie_Ontology.owl</a:t>
            </a:r>
          </a:p>
          <a:p>
            <a:r>
              <a:t>1. Entities → Object properties → chọn contributionBy.</a:t>
            </a:r>
          </a:p>
          <a:p>
            <a:r>
              <a:t>2. Hiện Domain=Contribution, Range=Person.</a:t>
            </a:r>
          </a:p>
          <a:p>
            <a:r>
              <a:t>3. Giữ inverse hasContribution và ô Functional được chọn.</a:t>
            </a:r>
          </a:p>
          <a:p>
            <a:r>
              <a:t>Cần thấy: Đúng domain/range/inverse/functional của contributionBy. Nếu cần, chụp bổ sung hasRole hoặc director.</a:t>
            </a:r>
          </a:p>
          <a:p/>
          <a:p>
            <a:r>
              <a:t>Reference: all 23 object properties (not intended to be read aloud in full):</a:t>
            </a:r>
          </a:p>
          <a:p>
            <a:r>
              <a:t>| Property | Domain | Range | Inverse / characteristics |</a:t>
            </a:r>
          </a:p>
          <a:p>
            <a:r>
              <a:t>|:--|:--|:--|:--|</a:t>
            </a:r>
          </a:p>
          <a:p>
            <a:r>
              <a:t>| dbo:director | dbo:Film | dbo:Person | ex:directed |</a:t>
            </a:r>
          </a:p>
          <a:p>
            <a:r>
              <a:t>| dbo:producer | dbo:Film | dbo:Person | ex:produced |</a:t>
            </a:r>
          </a:p>
          <a:p>
            <a:r>
              <a:t>| dbo:starring | dbo:Film | dbo:Person | ex:actedIn |</a:t>
            </a:r>
          </a:p>
          <a:p>
            <a:r>
              <a:t>| dbo:writer | dbo:Film | dbo:Person | ex:wrote |</a:t>
            </a:r>
          </a:p>
          <a:p>
            <a:r>
              <a:t>| ex:actedIn | dbo:Person | dbo:Film | dbo:starring |</a:t>
            </a:r>
          </a:p>
          <a:p>
            <a:r>
              <a:t>| ex:awardOf | ex:Award | dbo:Film or dbo:Person | ex:hasAward |</a:t>
            </a:r>
          </a:p>
          <a:p>
            <a:r>
              <a:t>| ex:contributionBy | ex:Contribution | dbo:Person | ex:hasContribution · functional |</a:t>
            </a:r>
          </a:p>
          <a:p>
            <a:r>
              <a:t>| ex:contributionOf | dbo:Film | ex:Contribution | ex:contributionTo |</a:t>
            </a:r>
          </a:p>
          <a:p>
            <a:r>
              <a:t>| ex:contributionTo | ex:Contribution | dbo:Film | ex:contributionOf · functional |</a:t>
            </a:r>
          </a:p>
          <a:p>
            <a:r>
              <a:t>| ex:country | dbo:Film | dbo:Country | — |</a:t>
            </a:r>
          </a:p>
          <a:p>
            <a:r>
              <a:t>| ex:directed | dbo:Person | dbo:Film | dbo:director |</a:t>
            </a:r>
          </a:p>
          <a:p>
            <a:r>
              <a:t>| ex:genreOf | ex:Genre | dbo:Film | ex:hasGenre |</a:t>
            </a:r>
          </a:p>
          <a:p>
            <a:r>
              <a:t>| ex:hasAward | dbo:Film or dbo:Person | ex:Award | ex:awardOf |</a:t>
            </a:r>
          </a:p>
          <a:p>
            <a:r>
              <a:t>| ex:hasContribution | dbo:Person | ex:Contribution | ex:contributionBy |</a:t>
            </a:r>
          </a:p>
          <a:p>
            <a:r>
              <a:t>| ex:hasGenre | dbo:Film | ex:Genre | ex:genreOf |</a:t>
            </a:r>
          </a:p>
          <a:p>
            <a:r>
              <a:t>| ex:hasProductionCompany | dbo:Film | ex:ProductionCompany | ex:productionOf |</a:t>
            </a:r>
          </a:p>
          <a:p>
            <a:r>
              <a:t>| ex:hasRole | ex:Contribution | ex:ContributionRole | ex:roleOf · functional |</a:t>
            </a:r>
          </a:p>
          <a:p>
            <a:r>
              <a:t>| ex:language | dbo:Film | ex:Language | — |</a:t>
            </a:r>
          </a:p>
          <a:p>
            <a:r>
              <a:t>| ex:produced | dbo:Person | dbo:Film | dbo:producer |</a:t>
            </a:r>
          </a:p>
          <a:p>
            <a:r>
              <a:t>| ex:productionOf | ex:ProductionCompany | dbo:Film | ex:hasProductionCompany |</a:t>
            </a:r>
          </a:p>
          <a:p>
            <a:r>
              <a:t>| ex:roleOf | ex:ContributionRole | ex:Contribution | ex:hasRole |</a:t>
            </a:r>
          </a:p>
          <a:p>
            <a:r>
              <a:t>| ex:sourceSnapshot | — | ex:SourceSnapshot | — |</a:t>
            </a:r>
          </a:p>
          <a:p>
            <a:r>
              <a:t>| ex:wrote | dbo:Person | dbo:Film | dbo:writer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OWL supports equivalent class definitions, intersections, unions, existential restrictions, fixed values and cardinality. Contribution connects exactly one suitable Person, Film and Role. A contribution with DirectorRole belongs to DirectingContribution. Inverse properties support reverse paths. Disjointness is used for incompatible entity categories, not for Actor and Filmmaker. Under the open-world assumption, a missing triple is not evidence that something is false. Different IRIs need not denote different individuals. Python checks required application fields, while OWL expresses meaning and supports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summarizes additional classification in the application. Four contribution classes use roles, three person classes use contributions or awards, and five film classes use genres or awards. Those twelve classes use OWL RL, and their counts are independently confirmed by HermiT and Pellet. MultiGenreFilm and FilmStudio use COUNT DISTINCT after rule closure. Counts include only local resource IRIs to avoid duplicate sameAs aliases. This application table comes from ontology_reasoning.json. HermiT and Pellet infer zero instances for the two counting classes. Person queries have LIMIT 20, so their returned rows are not the totals of 769 Actors or 89 Filmmakers.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asserted data types Nolan as Person and records his contributions and awards. One of his Inception contributions has DirectorRole. A hasValue definition classifies it as DirectingContribution. Filmmaker combines Person with the existence of a directing, writing or producing contribution. Nolan also receives awards, so he is inferred to be an AwardWinner. HermiT and Pellet confirm both types. The screenshot slot requests Filmmaker’s Equivalent To expression. A definition screenshot proves the axiom is present; execution logs separately demonstrate the inference.</a:t>
            </a:r>
          </a:p>
          <a:p/>
          <a:p>
            <a:r>
              <a:t>ẢNH PROTÉGÉ CẦN BỔ SUNG P06 — P06_filmmaker_equivalent_class.png</a:t>
            </a:r>
          </a:p>
          <a:p>
            <a:r>
              <a:t>Mở ontology/Movie_Ontology.owl</a:t>
            </a:r>
          </a:p>
          <a:p>
            <a:r>
              <a:t>1. Entities → Classes → chọn Filmmaker.</a:t>
            </a:r>
          </a:p>
          <a:p>
            <a:r>
              <a:t>2. Mở Class Description → Equivalent To.</a:t>
            </a:r>
          </a:p>
          <a:p>
            <a:r>
              <a:t>3. Hiện Person AND các nhánh SOME Directing/Writing/ProducingContribution.</a:t>
            </a:r>
          </a:p>
          <a:p>
            <a:r>
              <a:t>Cần thấy: Định nghĩa giao/hợp/tồn tại. Ảnh định nghĩa không tự chứng minh HermiT đã phân loại dữ liệu.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MultiGenreFilm is a Film with at least two Genres. FilmStudio is a ProductionCompany with at least three Films through productionOf. All 30 sampled films have at least two genre IRIs; six companies meet the application’s three-film threshold. Warner Bros. is linked to eleven sampled films. reason.py uses COUNT DISTINCT after inverse-property closure because OWL RL does not cover these thresholds. Different IRIs need not be different individuals under OWL semantics. HermiT and Pellet infer zero instances for both classes. The figures thirty and six are application counts, not DL membership results. Capture the actual class definitions in Protégé.</a:t>
            </a:r>
          </a:p>
          <a:p/>
          <a:p>
            <a:r>
              <a:t>ẢNH PROTÉGÉ CẦN BỔ SUNG P07 — P07_filmstudio_cardinality.png</a:t>
            </a:r>
          </a:p>
          <a:p>
            <a:r>
              <a:t>Mở ontology/Movie_Ontology.owl</a:t>
            </a:r>
          </a:p>
          <a:p>
            <a:r>
              <a:t>1. Entities → Classes → chọn FilmStudio.</a:t>
            </a:r>
          </a:p>
          <a:p>
            <a:r>
              <a:t>2. Mở Equivalent To; hiện min 3 productionOf Film.</a:t>
            </a:r>
          </a:p>
          <a:p>
            <a:r>
              <a:t>3. Có thể chụp thêm MultiGenreFilm: min 2 hasGenre Genre.</a:t>
            </a:r>
          </a:p>
          <a:p>
            <a:r>
              <a:t>Cần thấy: Ảnh công thức cardinality. Kết quả 6 studio/30 phim nhiều thể loại của app dùng COUNT DISTINCT, không tự coi là chứng minh OWL DL.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Film identity is resolved through an exact English Wikipedia sitelink, rather than approximate title matching. Wikidata supplies directors, actors, writers, producers, awards and production companies. DBpedia links require the matched root subject to be a Film, resulting in twenty-eight verified links rather than guessing thirty. Each saved response has a URL, provider, timestamp, HTTP status, SHA-256 and path. All 76 responses are present and verified. A re-fetched response that changed was assigned its new timestamp and hash while retaining the historical manifest. Hashes verify byte integrity, not the truth of every claim.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RDF triple has a subject, predicate and object or literal. Inception is directed by Nolan, released in 2010 and has a runtime of 148 minutes. director links entities; year and runtime are typed literals. QIDs produce stable local IRIs. Hours, minutes and seconds are normalized to minutes, with ambiguous source values recorded for review. The six declared data properties are title, releaseYear, runtimeMinutes, sourceUrl, retrievedAt and sha256. All exports use millisecond timestamps. Turtle and JSON-LD represent the same graph; the main Knowledge Graph OWL contains schema and data. The screenshot slot requests runtimeMinutes with Film domain and decimal range.</a:t>
            </a:r>
          </a:p>
          <a:p/>
          <a:p>
            <a:r>
              <a:t>ẢNH PROTÉGÉ CẦN BỔ SUNG P08 — P08_runtime_datatype.png</a:t>
            </a:r>
          </a:p>
          <a:p>
            <a:r>
              <a:t>Mở ontology/Movie_Ontology.owl</a:t>
            </a:r>
          </a:p>
          <a:p>
            <a:r>
              <a:t>1. Entities → Data properties → chọn runtimeMinutes.</a:t>
            </a:r>
          </a:p>
          <a:p>
            <a:r>
              <a:t>2. Hiện Domain=Film và Range=xsd:decimal.</a:t>
            </a:r>
          </a:p>
          <a:p>
            <a:r>
              <a:t>3. Có thể chụp thêm releaseYear có range xsd:integer.</a:t>
            </a:r>
          </a:p>
          <a:p>
            <a:r>
              <a:t>Cần thấy: Thuộc tính dữ liệu nối thực thể với literal, khác quan hệ nối hai thực thể.</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One-star data is available on the Web with an open license. Two-star data is structured; three-star data uses open formats. Four-star data uses HTTP identifiers and RDF for lookup. Five-star data adds links to other datasets. The project publishes CC BY-SA 4.0 data in Turtle and JSON-LD with resolvable descriptions. Four public RDF graphs were compared with local graphs without authentication. There are 1,699 Wikidata and 28 DBpedia identity links. sameAs expresses shared identity; sourceSnapshot records provenance. Reusing dbo:Film is vocabulary reuse in R1, distinct from linking individuals in R4.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Inception page shows its title, types, year, runtime, director, contributions, external links and provenance. Readers can download Turtle; HTML also embeds JSON-LD. The local Flask server responds to a Turtle Accept header with a 303 redirect, which curl -L follows. The static hosted site provides HTML, JSON-LD and an RDF link; we do not claim it reproduces Flask’s 303 behavior. The left image is a real application screenshot. The right slot requests the Inception individual from the full Knowledge Graph in Protégé. A schema-only file has no film individuals to capture.</a:t>
            </a:r>
          </a:p>
          <a:p/>
          <a:p>
            <a:r>
              <a:t>ẢNH PROTÉGÉ CẦN BỔ SUNG P09 — P09_inception_individual.png</a:t>
            </a:r>
          </a:p>
          <a:p>
            <a:r>
              <a:t>Mở ontology/Movie_Knowledge_Graph.owl</a:t>
            </a:r>
          </a:p>
          <a:p>
            <a:r>
              <a:t>1. Mở ontology/Movie_Knowledge_Graph.owl.</a:t>
            </a:r>
          </a:p>
          <a:p>
            <a:r>
              <a:t>2. Individuals → chọn film-Q25188 (Inception).</a:t>
            </a:r>
          </a:p>
          <a:p>
            <a:r>
              <a:t>3. Hiện Film, title, releaseYear=2010, runtimeMinutes=148 và director.</a:t>
            </a:r>
          </a:p>
          <a:p>
            <a:r>
              <a:t>Cần thấy: Cá thể thật và thuộc tính khớp truy vấn. Giữ tên ontology để không chụp nhầm file chỉ có schema.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query matches Inception, follows director to a person and retrieves the person’s label. It returns Inception, 2010, 148 minutes and Christopher Nolan. SELECT chooses columns, WHERE matches graph patterns and question marks denote variables. OPTIONAL preserves rows when year or runtime is absent. Users can edit the query, run it and export results. The interface offers fourteen direct samples. ASK returns a boolean; CONSTRUCT returns an RDF graph. The query engine computes the results from RDF rather than displaying a hard-coded result table.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complete Inception contribution query returns twenty-five records: twenty-one actors, one director, one writer and two producers. The screenshot filters Christopher Nolan and therefore shows only three rows. Those three rows are not the total contribution count. Other queries return eight sampled Nolan films, four Inception production companies and seven recorded Godfather awards. Additional questions reuse the graph and model without a separate manually populated result table. Download results exports the current result. Query files and execution reports make these counts reproducible.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provides GET/POST endpoint and terminal interfaces in addition to the Web application. SELECT and ASK return JSON; CONSTRUCT and DESCRIBE return Turtle. The endpoint loads the asserted graph by default. query.py --reasoned also loads the schema and inferred_classes.ttl. Query 24 returns Person in asserted mode, and Person, Filmmaker and AwardWinner with inference. reason.py creates the saved types beforehand; querying does not rerun reasoning. Hierarchy query 13 requires the schema. Actor and Filmmaker queries have LIMIT 20, while full totals are 769 and 89. Capture Nolan’s asserted Types or clearly label a genuine inferred view.</a:t>
            </a:r>
          </a:p>
          <a:p/>
          <a:p>
            <a:r>
              <a:t>ẢNH PROTÉGÉ CẦN BỔ SUNG P10 — P10_nolan_asserted_types.png</a:t>
            </a:r>
          </a:p>
          <a:p>
            <a:r>
              <a:t>Mở ontology/Movie_Knowledge_Graph.owl</a:t>
            </a:r>
          </a:p>
          <a:p>
            <a:r>
              <a:t>1. Mở Movie_Knowledge_Graph.owl, chọn person-Q25191 (Nolan).</a:t>
            </a:r>
          </a:p>
          <a:p>
            <a:r>
              <a:t>2. Hiện Types trong chế độ asserted / trước suy luận.</a:t>
            </a:r>
          </a:p>
          <a:p>
            <a:r>
              <a:t>3. Giữ dbo:Person và các quan hệ đóng góp/giải trong ảnh.</a:t>
            </a:r>
          </a:p>
          <a:p>
            <a:r>
              <a:t>Cần thấy: Kiểu gán gốc là Person; Filmmaker/AwardWinner trong app được bổ sung qua file phân loại. Nếu chụp sau reasoner, phải ghi rõ tên và trạng thái thực thi.</a:t>
            </a:r>
          </a:p>
          <a:p/>
          <a:p>
            <a:r>
              <a:t>Reference: 24 queries; values are result-row counts or ASK booleans:</a:t>
            </a:r>
          </a:p>
          <a:p>
            <a:r>
              <a:t>| File | Asserted | With schema / inference |</a:t>
            </a:r>
          </a:p>
          <a:p>
            <a:r>
              <a:t>|:--|:--|:--|</a:t>
            </a:r>
          </a:p>
          <a:p>
            <a:r>
              <a:t>| 01_films.rq | 30 | 30 |</a:t>
            </a:r>
          </a:p>
          <a:p>
            <a:r>
              <a:t>| 02_inception.rq | 1 | 1 |</a:t>
            </a:r>
          </a:p>
          <a:p>
            <a:r>
              <a:t>| 03_nolan.rq | 8 | 8 |</a:t>
            </a:r>
          </a:p>
          <a:p>
            <a:r>
              <a:t>| 04_credits.rq | 25 | 25 |</a:t>
            </a:r>
          </a:p>
          <a:p>
            <a:r>
              <a:t>| 05_external_links.rq | 58 | 58 |</a:t>
            </a:r>
          </a:p>
          <a:p>
            <a:r>
              <a:t>| 06_genres.rq | 75 | 75 |</a:t>
            </a:r>
          </a:p>
          <a:p>
            <a:r>
              <a:t>| 07_source.rq | 2 | 2 |</a:t>
            </a:r>
          </a:p>
          <a:p>
            <a:r>
              <a:t>| 08_ask.rq | true | true |</a:t>
            </a:r>
          </a:p>
          <a:p>
            <a:r>
              <a:t>| 09_actors_of_inception.rq | 21 | 21 |</a:t>
            </a:r>
          </a:p>
          <a:p>
            <a:r>
              <a:t>| 10_production_companies_of_a_film.rq | 4 | 4 |</a:t>
            </a:r>
          </a:p>
          <a:p>
            <a:r>
              <a:t>| 11_awards_received_by_a_film.rq | 7 | 7 |</a:t>
            </a:r>
          </a:p>
          <a:p>
            <a:r>
              <a:t>| 12_countries_and_languages_of_a_film.rq | 1 | 1 |</a:t>
            </a:r>
          </a:p>
          <a:p>
            <a:r>
              <a:t>| 13_fiction_genre_films_via_hierarchy.rq | 0 | 29 |</a:t>
            </a:r>
          </a:p>
          <a:p>
            <a:r>
              <a:t>| 14_all_agents_people_and_organizations.rq | 1 | 1 |</a:t>
            </a:r>
          </a:p>
          <a:p>
            <a:r>
              <a:t>| 15_feature_vs_animated_film_counts.rq | 1 | 1 |</a:t>
            </a:r>
          </a:p>
          <a:p>
            <a:r>
              <a:t>| 16_documentary_film_count_ask.rq | false | false |</a:t>
            </a:r>
          </a:p>
          <a:p>
            <a:r>
              <a:t>| 17_inferred_actors.rq | 0 | 20 |</a:t>
            </a:r>
          </a:p>
          <a:p>
            <a:r>
              <a:t>| 18_inferred_filmmakers.rq | 0 | 20 |</a:t>
            </a:r>
          </a:p>
          <a:p>
            <a:r>
              <a:t>| 19_inferred_action_films.rq | 0 | 12 |</a:t>
            </a:r>
          </a:p>
          <a:p>
            <a:r>
              <a:t>| 20_inferred_multi_genre_films.rq | 0 | 30 |</a:t>
            </a:r>
          </a:p>
          <a:p>
            <a:r>
              <a:t>| 21_inferred_award_winning_films.rq | 0 | 26 |</a:t>
            </a:r>
          </a:p>
          <a:p>
            <a:r>
              <a:t>| 22_inferred_film_studios.rq | 0 | 6 |</a:t>
            </a:r>
          </a:p>
          <a:p>
            <a:r>
              <a:t>| 23_people_with_directing_and_writing_contribution.rq | 0 | 10 |</a:t>
            </a:r>
          </a:p>
          <a:p>
            <a:r>
              <a:t>| 24_nolan_asserted_types_only.rq | 1 | 3 |</a:t>
            </a:r>
          </a:p>
          <a:p>
            <a:r>
              <a:t>Queries 14/15 each return one aggregate row. Queries 17/18 have LIMIT 20; full Actor/Filmmaker totals are 769/89. Query 24 returns one asserted type or three with inference.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Validation checks film names, provenance, external links and contribution fields. All 76 source hashes match and all 24 query files execute in their appropriate graph mode. Fourteen tests and nine browser checks pass, covering endpoint behavior, Comunica, syntax errors, ASK, CONSTRUCT, IRI pages and mobile layout. Sixteen production query checks also pass. Eight public URLs are accessible without authentication; four checked RDF graphs are isomorphic to local graphs. HermiT and Pellet confirm consistency and no unsatisfiable named classes. OWL, Turtle and JSON-LD share millisecond timestamps. Tests and hashes do not establish the truth of every real-world claim.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assignment does not specify weights, so the team proposes two points per requirement. Ontology, collection, publication, external links and SPARQL interfaces each have evidence, giving a proposed ten out of ten rather than an official grade. Limitations remain: a selected thirty-film sample, label-based genre and award grouping, and no budget or streaming data. HermiT and Pellet confirm consistency, but the two cardinality classes still have zero DL-inferred instances, compared with application counts of thirty and six. SQL can answer many questions with joins, views and rules. The Semantic Web contribution is shared identifiers, reusable vocabulary, cross-dataset links, provenance and explicit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MovieLOD connects a domain model, real source data, provenance, RDF, external links and queries in one application. This twenty-four-slide deck supports an eighteen-to-twenty-two-minute presentation or a shorter selection of key slides. Before submission, fill in team details and add genuine Protégé screenshots using the listed codes. Vietnamese instructions remain in the empty slots. No fabricated Protégé screenshots have been inserted. Images can be added directly in PowerPoint or saved with the expected filenames in evidence/protege before regenerating the deck. The demo video remains unchanged. Thank you; we welcome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2B3A"/>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E8B65D"/>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FFFFFF"/>
                </a:solidFill>
                <a:latin typeface="Be Vietnam Pro"/>
              </a:defRPr>
            </a:pPr>
            <a:r>
              <a:t>MovieLOD</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B8CDD6"/>
                </a:solidFill>
                <a:latin typeface="Be Vietnam Pro"/>
              </a:defRPr>
            </a:pPr>
            <a:r>
              <a:t>Linked movie data application · Semantic Web</a:t>
            </a:r>
          </a:p>
        </p:txBody>
      </p:sp>
      <p:sp>
        <p:nvSpPr>
          <p:cNvPr id="6" name="Rectangle 5"/>
          <p:cNvSpPr/>
          <p:nvPr/>
        </p:nvSpPr>
        <p:spPr>
          <a:xfrm>
            <a:off x="594360" y="7708392"/>
            <a:ext cx="13441680" cy="9144"/>
          </a:xfrm>
          <a:prstGeom prst="rect">
            <a:avLst/>
          </a:prstGeom>
          <a:solidFill>
            <a:srgbClr val="3953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B8CDD6"/>
                </a:solidFill>
                <a:latin typeface="Be Vietnam Pro"/>
              </a:defRPr>
            </a:pPr>
            <a:r>
              <a:t>Data checked: 08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E8B65D"/>
                </a:solidFill>
                <a:latin typeface="Be Vietnam Pro"/>
              </a:defRPr>
            </a:pPr>
            <a:r>
              <a:t>01 / 24</a:t>
            </a:r>
          </a:p>
        </p:txBody>
      </p:sp>
      <p:sp>
        <p:nvSpPr>
          <p:cNvPr id="9" name="TextBox 8"/>
          <p:cNvSpPr txBox="1"/>
          <p:nvPr/>
        </p:nvSpPr>
        <p:spPr>
          <a:xfrm>
            <a:off x="777240" y="2743200"/>
            <a:ext cx="7772400" cy="1463040"/>
          </a:xfrm>
          <a:prstGeom prst="rect">
            <a:avLst/>
          </a:prstGeom>
          <a:noFill/>
        </p:spPr>
        <p:txBody>
          <a:bodyPr wrap="none" lIns="0" rIns="0" tIns="0" bIns="0">
            <a:spAutoFit/>
          </a:bodyPr>
          <a:lstStyle/>
          <a:p>
            <a:pPr>
              <a:lnSpc>
                <a:spcPts val="4480"/>
              </a:lnSpc>
              <a:spcBef>
                <a:spcPts val="0"/>
              </a:spcBef>
              <a:spcAft>
                <a:spcPts val="0"/>
              </a:spcAft>
              <a:defRPr sz="3500" b="1">
                <a:solidFill>
                  <a:srgbClr val="FFFFFF"/>
                </a:solidFill>
                <a:latin typeface="Be Vietnam Pro"/>
              </a:defRPr>
            </a:pPr>
            <a:r>
              <a:t>From movie data</a:t>
            </a:r>
          </a:p>
          <a:p>
            <a:pPr>
              <a:lnSpc>
                <a:spcPts val="4480"/>
              </a:lnSpc>
              <a:spcBef>
                <a:spcPts val="0"/>
              </a:spcBef>
              <a:spcAft>
                <a:spcPts val="0"/>
              </a:spcAft>
              <a:defRPr sz="3500" b="1">
                <a:solidFill>
                  <a:srgbClr val="FFFFFF"/>
                </a:solidFill>
                <a:latin typeface="Be Vietnam Pro"/>
              </a:defRPr>
            </a:pPr>
            <a:r>
              <a:t>to a knowledge graph</a:t>
            </a:r>
          </a:p>
        </p:txBody>
      </p:sp>
      <p:sp>
        <p:nvSpPr>
          <p:cNvPr id="10" name="TextBox 9"/>
          <p:cNvSpPr txBox="1"/>
          <p:nvPr/>
        </p:nvSpPr>
        <p:spPr>
          <a:xfrm>
            <a:off x="777240" y="4645152"/>
            <a:ext cx="7315200" cy="640080"/>
          </a:xfrm>
          <a:prstGeom prst="rect">
            <a:avLst/>
          </a:prstGeom>
          <a:noFill/>
        </p:spPr>
        <p:txBody>
          <a:bodyPr wrap="none" lIns="0" rIns="0" tIns="0" bIns="0">
            <a:spAutoFit/>
          </a:bodyPr>
          <a:lstStyle/>
          <a:p>
            <a:pPr>
              <a:lnSpc>
                <a:spcPts val="2688"/>
              </a:lnSpc>
              <a:spcBef>
                <a:spcPts val="0"/>
              </a:spcBef>
              <a:spcAft>
                <a:spcPts val="0"/>
              </a:spcAft>
              <a:defRPr sz="2100" b="0">
                <a:solidFill>
                  <a:srgbClr val="B8CDD6"/>
                </a:solidFill>
                <a:latin typeface="Be Vietnam Pro"/>
              </a:defRPr>
            </a:pPr>
            <a:r>
              <a:t>Ontology · RDF · Linked Open Data · SPARQL</a:t>
            </a:r>
          </a:p>
        </p:txBody>
      </p:sp>
      <p:sp>
        <p:nvSpPr>
          <p:cNvPr id="11" name="TextBox 10"/>
          <p:cNvSpPr txBox="1"/>
          <p:nvPr/>
        </p:nvSpPr>
        <p:spPr>
          <a:xfrm>
            <a:off x="777240" y="5760720"/>
            <a:ext cx="7315200" cy="731520"/>
          </a:xfrm>
          <a:prstGeom prst="rect">
            <a:avLst/>
          </a:prstGeom>
          <a:noFill/>
        </p:spPr>
        <p:txBody>
          <a:bodyPr wrap="none" lIns="0" rIns="0" tIns="0" bIns="0">
            <a:spAutoFit/>
          </a:bodyPr>
          <a:lstStyle/>
          <a:p>
            <a:pPr>
              <a:lnSpc>
                <a:spcPts val="2176"/>
              </a:lnSpc>
              <a:spcBef>
                <a:spcPts val="0"/>
              </a:spcBef>
              <a:spcAft>
                <a:spcPts val="0"/>
              </a:spcAft>
              <a:defRPr sz="1700" b="0">
                <a:solidFill>
                  <a:srgbClr val="B8CDD6"/>
                </a:solidFill>
                <a:latin typeface="Be Vietnam Pro"/>
              </a:defRPr>
            </a:pPr>
            <a:r>
              <a:t>Full 24-slide presentation</a:t>
            </a:r>
          </a:p>
          <a:p>
            <a:pPr>
              <a:lnSpc>
                <a:spcPts val="2176"/>
              </a:lnSpc>
              <a:spcBef>
                <a:spcPts val="0"/>
              </a:spcBef>
              <a:spcAft>
                <a:spcPts val="0"/>
              </a:spcAft>
              <a:defRPr sz="1700" b="0">
                <a:solidFill>
                  <a:srgbClr val="B8CDD6"/>
                </a:solidFill>
                <a:latin typeface="Be Vietnam Pro"/>
              </a:defRPr>
            </a:pPr>
            <a:r>
              <a:t>Team / members / class: [complete before submission]</a:t>
            </a:r>
          </a:p>
        </p:txBody>
      </p:sp>
      <p:sp>
        <p:nvSpPr>
          <p:cNvPr id="12" name="Rounded Rectangle 11"/>
          <p:cNvSpPr/>
          <p:nvPr/>
        </p:nvSpPr>
        <p:spPr>
          <a:xfrm>
            <a:off x="9189720" y="2697480"/>
            <a:ext cx="4709160" cy="1170432"/>
          </a:xfrm>
          <a:prstGeom prst="roundRect">
            <a:avLst/>
          </a:prstGeom>
          <a:solidFill>
            <a:srgbClr val="244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36608" y="2843784"/>
            <a:ext cx="2011680" cy="594360"/>
          </a:xfrm>
          <a:prstGeom prst="rect">
            <a:avLst/>
          </a:prstGeom>
          <a:noFill/>
        </p:spPr>
        <p:txBody>
          <a:bodyPr wrap="none" lIns="0" rIns="0" tIns="0" bIns="0">
            <a:spAutoFit/>
          </a:bodyPr>
          <a:lstStyle/>
          <a:p>
            <a:pPr>
              <a:lnSpc>
                <a:spcPts val="3840"/>
              </a:lnSpc>
              <a:spcBef>
                <a:spcPts val="0"/>
              </a:spcBef>
              <a:spcAft>
                <a:spcPts val="0"/>
              </a:spcAft>
              <a:defRPr sz="3000" b="1">
                <a:solidFill>
                  <a:srgbClr val="E8B65D"/>
                </a:solidFill>
                <a:latin typeface="Be Vietnam Pro"/>
              </a:defRPr>
            </a:pPr>
            <a:r>
              <a:t>30</a:t>
            </a:r>
          </a:p>
        </p:txBody>
      </p:sp>
      <p:sp>
        <p:nvSpPr>
          <p:cNvPr id="14" name="TextBox 13"/>
          <p:cNvSpPr txBox="1"/>
          <p:nvPr/>
        </p:nvSpPr>
        <p:spPr>
          <a:xfrm>
            <a:off x="11548872" y="3035808"/>
            <a:ext cx="2103120"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FFFFFF"/>
                </a:solidFill>
                <a:latin typeface="Be Vietnam Pro"/>
              </a:defRPr>
            </a:pPr>
            <a:r>
              <a:t>real films</a:t>
            </a:r>
          </a:p>
        </p:txBody>
      </p:sp>
      <p:sp>
        <p:nvSpPr>
          <p:cNvPr id="15" name="Rounded Rectangle 14"/>
          <p:cNvSpPr/>
          <p:nvPr/>
        </p:nvSpPr>
        <p:spPr>
          <a:xfrm>
            <a:off x="9189720" y="4069080"/>
            <a:ext cx="4709160" cy="1170432"/>
          </a:xfrm>
          <a:prstGeom prst="roundRect">
            <a:avLst/>
          </a:prstGeom>
          <a:solidFill>
            <a:srgbClr val="244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36608" y="4215383"/>
            <a:ext cx="2011680" cy="594360"/>
          </a:xfrm>
          <a:prstGeom prst="rect">
            <a:avLst/>
          </a:prstGeom>
          <a:noFill/>
        </p:spPr>
        <p:txBody>
          <a:bodyPr wrap="none" lIns="0" rIns="0" tIns="0" bIns="0">
            <a:spAutoFit/>
          </a:bodyPr>
          <a:lstStyle/>
          <a:p>
            <a:pPr>
              <a:lnSpc>
                <a:spcPts val="3840"/>
              </a:lnSpc>
              <a:spcBef>
                <a:spcPts val="0"/>
              </a:spcBef>
              <a:spcAft>
                <a:spcPts val="0"/>
              </a:spcAft>
              <a:defRPr sz="3000" b="1">
                <a:solidFill>
                  <a:srgbClr val="E8B65D"/>
                </a:solidFill>
                <a:latin typeface="Be Vietnam Pro"/>
              </a:defRPr>
            </a:pPr>
            <a:r>
              <a:t>42</a:t>
            </a:r>
          </a:p>
        </p:txBody>
      </p:sp>
      <p:sp>
        <p:nvSpPr>
          <p:cNvPr id="17" name="TextBox 16"/>
          <p:cNvSpPr txBox="1"/>
          <p:nvPr/>
        </p:nvSpPr>
        <p:spPr>
          <a:xfrm>
            <a:off x="11548872" y="4407408"/>
            <a:ext cx="2103120"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FFFFFF"/>
                </a:solidFill>
                <a:latin typeface="Be Vietnam Pro"/>
              </a:defRPr>
            </a:pPr>
            <a:r>
              <a:t>named classes</a:t>
            </a:r>
          </a:p>
        </p:txBody>
      </p:sp>
      <p:sp>
        <p:nvSpPr>
          <p:cNvPr id="18" name="Rounded Rectangle 17"/>
          <p:cNvSpPr/>
          <p:nvPr/>
        </p:nvSpPr>
        <p:spPr>
          <a:xfrm>
            <a:off x="9189720" y="5440680"/>
            <a:ext cx="4709160" cy="1170432"/>
          </a:xfrm>
          <a:prstGeom prst="roundRect">
            <a:avLst/>
          </a:prstGeom>
          <a:solidFill>
            <a:srgbClr val="244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36608" y="5586983"/>
            <a:ext cx="2011680" cy="594360"/>
          </a:xfrm>
          <a:prstGeom prst="rect">
            <a:avLst/>
          </a:prstGeom>
          <a:noFill/>
        </p:spPr>
        <p:txBody>
          <a:bodyPr wrap="none" lIns="0" rIns="0" tIns="0" bIns="0">
            <a:spAutoFit/>
          </a:bodyPr>
          <a:lstStyle/>
          <a:p>
            <a:pPr>
              <a:lnSpc>
                <a:spcPts val="3840"/>
              </a:lnSpc>
              <a:spcBef>
                <a:spcPts val="0"/>
              </a:spcBef>
              <a:spcAft>
                <a:spcPts val="0"/>
              </a:spcAft>
              <a:defRPr sz="3000" b="1">
                <a:solidFill>
                  <a:srgbClr val="E8B65D"/>
                </a:solidFill>
                <a:latin typeface="Be Vietnam Pro"/>
              </a:defRPr>
            </a:pPr>
            <a:r>
              <a:t>1,727</a:t>
            </a:r>
          </a:p>
        </p:txBody>
      </p:sp>
      <p:sp>
        <p:nvSpPr>
          <p:cNvPr id="20" name="TextBox 19"/>
          <p:cNvSpPr txBox="1"/>
          <p:nvPr/>
        </p:nvSpPr>
        <p:spPr>
          <a:xfrm>
            <a:off x="11548872" y="5779008"/>
            <a:ext cx="2103120"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FFFFFF"/>
                </a:solidFill>
                <a:latin typeface="Be Vietnam Pro"/>
              </a:defRPr>
            </a:pPr>
            <a:r>
              <a:t>external links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Problem and five assignment requirements</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Who did what in which film? Where did the data come from? How can we query it?</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08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02 / 24</a:t>
            </a:r>
          </a:p>
        </p:txBody>
      </p:sp>
      <p:sp>
        <p:nvSpPr>
          <p:cNvPr id="9" name="Rectangle 8"/>
          <p:cNvSpPr/>
          <p:nvPr/>
        </p:nvSpPr>
        <p:spPr>
          <a:xfrm>
            <a:off x="731520" y="2697480"/>
            <a:ext cx="13304520" cy="39319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770632"/>
            <a:ext cx="740664" cy="301752"/>
          </a:xfrm>
          <a:prstGeom prst="rect">
            <a:avLst/>
          </a:prstGeom>
          <a:noFill/>
        </p:spPr>
        <p:txBody>
          <a:bodyPr wrap="none" lIns="0" rIns="0" tIns="0" bIns="0">
            <a:spAutoFit/>
          </a:bodyPr>
          <a:lstStyle/>
          <a:p>
            <a:pPr>
              <a:lnSpc>
                <a:spcPts val="2560"/>
              </a:lnSpc>
              <a:spcBef>
                <a:spcPts val="0"/>
              </a:spcBef>
              <a:spcAft>
                <a:spcPts val="0"/>
              </a:spcAft>
              <a:defRPr sz="2000" b="1">
                <a:solidFill>
                  <a:srgbClr val="FFFFFF"/>
                </a:solidFill>
                <a:latin typeface="Be Vietnam Pro"/>
              </a:defRPr>
            </a:pPr>
            <a:r>
              <a:t>ID</a:t>
            </a:r>
          </a:p>
        </p:txBody>
      </p:sp>
      <p:sp>
        <p:nvSpPr>
          <p:cNvPr id="11" name="TextBox 10"/>
          <p:cNvSpPr txBox="1"/>
          <p:nvPr/>
        </p:nvSpPr>
        <p:spPr>
          <a:xfrm>
            <a:off x="1801368" y="2770632"/>
            <a:ext cx="3666744" cy="301752"/>
          </a:xfrm>
          <a:prstGeom prst="rect">
            <a:avLst/>
          </a:prstGeom>
          <a:noFill/>
        </p:spPr>
        <p:txBody>
          <a:bodyPr wrap="none" lIns="0" rIns="0" tIns="0" bIns="0">
            <a:spAutoFit/>
          </a:bodyPr>
          <a:lstStyle/>
          <a:p>
            <a:pPr>
              <a:lnSpc>
                <a:spcPts val="2560"/>
              </a:lnSpc>
              <a:spcBef>
                <a:spcPts val="0"/>
              </a:spcBef>
              <a:spcAft>
                <a:spcPts val="0"/>
              </a:spcAft>
              <a:defRPr sz="2000" b="1">
                <a:solidFill>
                  <a:srgbClr val="FFFFFF"/>
                </a:solidFill>
                <a:latin typeface="Be Vietnam Pro"/>
              </a:defRPr>
            </a:pPr>
            <a:r>
              <a:t>Requirement</a:t>
            </a:r>
          </a:p>
        </p:txBody>
      </p:sp>
      <p:sp>
        <p:nvSpPr>
          <p:cNvPr id="12" name="TextBox 11"/>
          <p:cNvSpPr txBox="1"/>
          <p:nvPr/>
        </p:nvSpPr>
        <p:spPr>
          <a:xfrm>
            <a:off x="5687568" y="2770632"/>
            <a:ext cx="8238744" cy="301752"/>
          </a:xfrm>
          <a:prstGeom prst="rect">
            <a:avLst/>
          </a:prstGeom>
          <a:noFill/>
        </p:spPr>
        <p:txBody>
          <a:bodyPr wrap="none" lIns="0" rIns="0" tIns="0" bIns="0">
            <a:spAutoFit/>
          </a:bodyPr>
          <a:lstStyle/>
          <a:p>
            <a:pPr>
              <a:lnSpc>
                <a:spcPts val="2560"/>
              </a:lnSpc>
              <a:spcBef>
                <a:spcPts val="0"/>
              </a:spcBef>
              <a:spcAft>
                <a:spcPts val="0"/>
              </a:spcAft>
              <a:defRPr sz="2000" b="1">
                <a:solidFill>
                  <a:srgbClr val="FFFFFF"/>
                </a:solidFill>
                <a:latin typeface="Be Vietnam Pro"/>
              </a:defRPr>
            </a:pPr>
            <a:r>
              <a:t>Deliverable / evidence</a:t>
            </a:r>
          </a:p>
        </p:txBody>
      </p:sp>
      <p:sp>
        <p:nvSpPr>
          <p:cNvPr id="13" name="Rectangle 12"/>
          <p:cNvSpPr/>
          <p:nvPr/>
        </p:nvSpPr>
        <p:spPr>
          <a:xfrm>
            <a:off x="731520" y="3090672"/>
            <a:ext cx="1330452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3150108"/>
            <a:ext cx="74066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R1</a:t>
            </a:r>
          </a:p>
        </p:txBody>
      </p:sp>
      <p:sp>
        <p:nvSpPr>
          <p:cNvPr id="15" name="TextBox 14"/>
          <p:cNvSpPr txBox="1"/>
          <p:nvPr/>
        </p:nvSpPr>
        <p:spPr>
          <a:xfrm>
            <a:off x="1801368" y="3150108"/>
            <a:ext cx="3666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Define an ontology</a:t>
            </a:r>
          </a:p>
        </p:txBody>
      </p:sp>
      <p:sp>
        <p:nvSpPr>
          <p:cNvPr id="16" name="TextBox 15"/>
          <p:cNvSpPr txBox="1"/>
          <p:nvPr/>
        </p:nvSpPr>
        <p:spPr>
          <a:xfrm>
            <a:off x="5687568" y="3150108"/>
            <a:ext cx="8238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OWL/Turtle, classes, properties and restrictions</a:t>
            </a:r>
          </a:p>
        </p:txBody>
      </p:sp>
      <p:sp>
        <p:nvSpPr>
          <p:cNvPr id="17" name="Rectangle 16"/>
          <p:cNvSpPr/>
          <p:nvPr/>
        </p:nvSpPr>
        <p:spPr>
          <a:xfrm>
            <a:off x="731520" y="3867912"/>
            <a:ext cx="13304520" cy="777240"/>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3927348"/>
            <a:ext cx="74066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R2</a:t>
            </a:r>
          </a:p>
        </p:txBody>
      </p:sp>
      <p:sp>
        <p:nvSpPr>
          <p:cNvPr id="19" name="TextBox 18"/>
          <p:cNvSpPr txBox="1"/>
          <p:nvPr/>
        </p:nvSpPr>
        <p:spPr>
          <a:xfrm>
            <a:off x="1801368" y="3927348"/>
            <a:ext cx="3666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Collect domain data</a:t>
            </a:r>
          </a:p>
        </p:txBody>
      </p:sp>
      <p:sp>
        <p:nvSpPr>
          <p:cNvPr id="20" name="TextBox 19"/>
          <p:cNvSpPr txBox="1"/>
          <p:nvPr/>
        </p:nvSpPr>
        <p:spPr>
          <a:xfrm>
            <a:off x="5687568" y="3927348"/>
            <a:ext cx="8238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APIs, raw responses, URLs, timestamps and hashes</a:t>
            </a:r>
          </a:p>
        </p:txBody>
      </p:sp>
      <p:sp>
        <p:nvSpPr>
          <p:cNvPr id="21" name="Rectangle 20"/>
          <p:cNvSpPr/>
          <p:nvPr/>
        </p:nvSpPr>
        <p:spPr>
          <a:xfrm>
            <a:off x="731520" y="4645152"/>
            <a:ext cx="1330452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4704588"/>
            <a:ext cx="74066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R3</a:t>
            </a:r>
          </a:p>
        </p:txBody>
      </p:sp>
      <p:sp>
        <p:nvSpPr>
          <p:cNvPr id="23" name="TextBox 22"/>
          <p:cNvSpPr txBox="1"/>
          <p:nvPr/>
        </p:nvSpPr>
        <p:spPr>
          <a:xfrm>
            <a:off x="1801368" y="4704588"/>
            <a:ext cx="3666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Publish four-star data</a:t>
            </a:r>
          </a:p>
        </p:txBody>
      </p:sp>
      <p:sp>
        <p:nvSpPr>
          <p:cNvPr id="24" name="TextBox 23"/>
          <p:cNvSpPr txBox="1"/>
          <p:nvPr/>
        </p:nvSpPr>
        <p:spPr>
          <a:xfrm>
            <a:off x="5687568" y="4704588"/>
            <a:ext cx="8238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RDF, HTTP IRIs, open license and publication</a:t>
            </a:r>
          </a:p>
        </p:txBody>
      </p:sp>
      <p:sp>
        <p:nvSpPr>
          <p:cNvPr id="25" name="Rectangle 24"/>
          <p:cNvSpPr/>
          <p:nvPr/>
        </p:nvSpPr>
        <p:spPr>
          <a:xfrm>
            <a:off x="731520" y="5422392"/>
            <a:ext cx="13304520" cy="777240"/>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5481828"/>
            <a:ext cx="74066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R4</a:t>
            </a:r>
          </a:p>
        </p:txBody>
      </p:sp>
      <p:sp>
        <p:nvSpPr>
          <p:cNvPr id="27" name="TextBox 26"/>
          <p:cNvSpPr txBox="1"/>
          <p:nvPr/>
        </p:nvSpPr>
        <p:spPr>
          <a:xfrm>
            <a:off x="1801368" y="5481828"/>
            <a:ext cx="3666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Link to reach five stars</a:t>
            </a:r>
          </a:p>
        </p:txBody>
      </p:sp>
      <p:sp>
        <p:nvSpPr>
          <p:cNvPr id="28" name="TextBox 27"/>
          <p:cNvSpPr txBox="1"/>
          <p:nvPr/>
        </p:nvSpPr>
        <p:spPr>
          <a:xfrm>
            <a:off x="5687568" y="5481828"/>
            <a:ext cx="8238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sameAs links, matching method and public data</a:t>
            </a:r>
          </a:p>
        </p:txBody>
      </p:sp>
      <p:sp>
        <p:nvSpPr>
          <p:cNvPr id="29" name="Rectangle 28"/>
          <p:cNvSpPr/>
          <p:nvPr/>
        </p:nvSpPr>
        <p:spPr>
          <a:xfrm>
            <a:off x="731520" y="6199631"/>
            <a:ext cx="1330452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 y="6259068"/>
            <a:ext cx="74066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R5</a:t>
            </a:r>
          </a:p>
        </p:txBody>
      </p:sp>
      <p:sp>
        <p:nvSpPr>
          <p:cNvPr id="31" name="TextBox 30"/>
          <p:cNvSpPr txBox="1"/>
          <p:nvPr/>
        </p:nvSpPr>
        <p:spPr>
          <a:xfrm>
            <a:off x="1801368" y="6259068"/>
            <a:ext cx="3666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Provide SPARQL interfaces</a:t>
            </a:r>
          </a:p>
        </p:txBody>
      </p:sp>
      <p:sp>
        <p:nvSpPr>
          <p:cNvPr id="32" name="TextBox 31"/>
          <p:cNvSpPr txBox="1"/>
          <p:nvPr/>
        </p:nvSpPr>
        <p:spPr>
          <a:xfrm>
            <a:off x="5687568" y="6259068"/>
            <a:ext cx="8238744" cy="658368"/>
          </a:xfrm>
          <a:prstGeom prst="rect">
            <a:avLst/>
          </a:prstGeom>
          <a:noFill/>
        </p:spPr>
        <p:txBody>
          <a:bodyPr wrap="none" lIns="0" rIns="0" tIns="0" bIns="0">
            <a:spAutoFit/>
          </a:bodyPr>
          <a:lstStyle/>
          <a:p>
            <a:pPr>
              <a:lnSpc>
                <a:spcPts val="2560"/>
              </a:lnSpc>
              <a:spcBef>
                <a:spcPts val="0"/>
              </a:spcBef>
              <a:spcAft>
                <a:spcPts val="0"/>
              </a:spcAft>
              <a:defRPr sz="2000" b="0">
                <a:solidFill>
                  <a:srgbClr val="152B3A"/>
                </a:solidFill>
                <a:latin typeface="Be Vietnam Pro"/>
              </a:defRPr>
            </a:pPr>
            <a:r>
              <a:t>Web application, endpoint and terminal</a:t>
            </a:r>
          </a:p>
        </p:txBody>
      </p:sp>
      <p:sp>
        <p:nvSpPr>
          <p:cNvPr id="33" name="TextBox 32"/>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Required: report ≤15 pages · slides · 3–5-minute video. Running examples: Inception and Nolan.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Architecture and data flow</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Asserted data, schema and inferred types are stored separately</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08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03 / 24</a:t>
            </a:r>
          </a:p>
        </p:txBody>
      </p:sp>
      <p:sp>
        <p:nvSpPr>
          <p:cNvPr id="9" name="Rounded Rectangle 8"/>
          <p:cNvSpPr/>
          <p:nvPr/>
        </p:nvSpPr>
        <p:spPr>
          <a:xfrm>
            <a:off x="731520" y="2697480"/>
            <a:ext cx="3136392" cy="2788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697480"/>
            <a:ext cx="45720" cy="27889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880360"/>
            <a:ext cx="2679192" cy="640080"/>
          </a:xfrm>
          <a:prstGeom prst="rect">
            <a:avLst/>
          </a:prstGeom>
          <a:noFill/>
        </p:spPr>
        <p:txBody>
          <a:bodyPr wrap="none" lIns="0" rIns="0" tIns="0" bIns="0">
            <a:spAutoFit/>
          </a:bodyPr>
          <a:lstStyle/>
          <a:p>
            <a:pPr>
              <a:lnSpc>
                <a:spcPts val="3840"/>
              </a:lnSpc>
              <a:spcBef>
                <a:spcPts val="0"/>
              </a:spcBef>
              <a:spcAft>
                <a:spcPts val="0"/>
              </a:spcAft>
              <a:defRPr sz="3000" b="1">
                <a:solidFill>
                  <a:srgbClr val="007F82"/>
                </a:solidFill>
                <a:latin typeface="Be Vietnam Pro"/>
              </a:defRPr>
            </a:pPr>
            <a:r>
              <a:t>01</a:t>
            </a:r>
          </a:p>
        </p:txBody>
      </p:sp>
      <p:sp>
        <p:nvSpPr>
          <p:cNvPr id="12" name="TextBox 11"/>
          <p:cNvSpPr txBox="1"/>
          <p:nvPr/>
        </p:nvSpPr>
        <p:spPr>
          <a:xfrm>
            <a:off x="960120" y="3611880"/>
            <a:ext cx="2679192" cy="640080"/>
          </a:xfrm>
          <a:prstGeom prst="rect">
            <a:avLst/>
          </a:prstGeom>
          <a:noFill/>
        </p:spPr>
        <p:txBody>
          <a:bodyPr wrap="none" lIns="0" rIns="0" tIns="0" bIns="0">
            <a:spAutoFit/>
          </a:bodyPr>
          <a:lstStyle/>
          <a:p>
            <a:pPr>
              <a:lnSpc>
                <a:spcPts val="2688"/>
              </a:lnSpc>
              <a:spcBef>
                <a:spcPts val="0"/>
              </a:spcBef>
              <a:spcAft>
                <a:spcPts val="0"/>
              </a:spcAft>
              <a:defRPr sz="2100" b="1">
                <a:solidFill>
                  <a:srgbClr val="152B3A"/>
                </a:solidFill>
                <a:latin typeface="Be Vietnam Pro"/>
              </a:defRPr>
            </a:pPr>
            <a:r>
              <a:t>COLLECT</a:t>
            </a:r>
          </a:p>
        </p:txBody>
      </p:sp>
      <p:sp>
        <p:nvSpPr>
          <p:cNvPr id="13" name="TextBox 12"/>
          <p:cNvSpPr txBox="1"/>
          <p:nvPr/>
        </p:nvSpPr>
        <p:spPr>
          <a:xfrm>
            <a:off x="960120" y="4325112"/>
            <a:ext cx="2679192" cy="10515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Wikidata / DBpedia</a:t>
            </a:r>
          </a:p>
          <a:p>
            <a:pPr>
              <a:lnSpc>
                <a:spcPts val="2176"/>
              </a:lnSpc>
              <a:spcBef>
                <a:spcPts val="0"/>
              </a:spcBef>
              <a:spcAft>
                <a:spcPts val="0"/>
              </a:spcAft>
              <a:defRPr sz="1700" b="0">
                <a:solidFill>
                  <a:srgbClr val="506776"/>
                </a:solidFill>
                <a:latin typeface="Be Vietnam Pro"/>
              </a:defRPr>
            </a:pPr>
            <a:r>
              <a:t>collect.py </a:t>
            </a:r>
            <a:r>
              <a:rPr>
                <a:latin typeface="Arial Unicode MS"/>
              </a:rPr>
              <a:t>→</a:t>
            </a:r>
            <a:r>
              <a:t> data/raw/</a:t>
            </a:r>
          </a:p>
        </p:txBody>
      </p:sp>
      <p:sp>
        <p:nvSpPr>
          <p:cNvPr id="14" name="Rounded Rectangle 13"/>
          <p:cNvSpPr/>
          <p:nvPr/>
        </p:nvSpPr>
        <p:spPr>
          <a:xfrm>
            <a:off x="4133088" y="2697480"/>
            <a:ext cx="3136392" cy="2788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33088" y="2697480"/>
            <a:ext cx="45720" cy="27889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61688" y="2880360"/>
            <a:ext cx="2679192" cy="640080"/>
          </a:xfrm>
          <a:prstGeom prst="rect">
            <a:avLst/>
          </a:prstGeom>
          <a:noFill/>
        </p:spPr>
        <p:txBody>
          <a:bodyPr wrap="none" lIns="0" rIns="0" tIns="0" bIns="0">
            <a:spAutoFit/>
          </a:bodyPr>
          <a:lstStyle/>
          <a:p>
            <a:pPr>
              <a:lnSpc>
                <a:spcPts val="3840"/>
              </a:lnSpc>
              <a:spcBef>
                <a:spcPts val="0"/>
              </a:spcBef>
              <a:spcAft>
                <a:spcPts val="0"/>
              </a:spcAft>
              <a:defRPr sz="3000" b="1">
                <a:solidFill>
                  <a:srgbClr val="007F82"/>
                </a:solidFill>
                <a:latin typeface="Be Vietnam Pro"/>
              </a:defRPr>
            </a:pPr>
            <a:r>
              <a:t>02</a:t>
            </a:r>
          </a:p>
        </p:txBody>
      </p:sp>
      <p:sp>
        <p:nvSpPr>
          <p:cNvPr id="17" name="TextBox 16"/>
          <p:cNvSpPr txBox="1"/>
          <p:nvPr/>
        </p:nvSpPr>
        <p:spPr>
          <a:xfrm>
            <a:off x="4361688" y="3611880"/>
            <a:ext cx="2679192" cy="640080"/>
          </a:xfrm>
          <a:prstGeom prst="rect">
            <a:avLst/>
          </a:prstGeom>
          <a:noFill/>
        </p:spPr>
        <p:txBody>
          <a:bodyPr wrap="none" lIns="0" rIns="0" tIns="0" bIns="0">
            <a:spAutoFit/>
          </a:bodyPr>
          <a:lstStyle/>
          <a:p>
            <a:pPr>
              <a:lnSpc>
                <a:spcPts val="2688"/>
              </a:lnSpc>
              <a:spcBef>
                <a:spcPts val="0"/>
              </a:spcBef>
              <a:spcAft>
                <a:spcPts val="0"/>
              </a:spcAft>
              <a:defRPr sz="2100" b="1">
                <a:solidFill>
                  <a:srgbClr val="152B3A"/>
                </a:solidFill>
                <a:latin typeface="Be Vietnam Pro"/>
              </a:defRPr>
            </a:pPr>
            <a:r>
              <a:t>BUILD RDF</a:t>
            </a:r>
          </a:p>
        </p:txBody>
      </p:sp>
      <p:sp>
        <p:nvSpPr>
          <p:cNvPr id="18" name="TextBox 17"/>
          <p:cNvSpPr txBox="1"/>
          <p:nvPr/>
        </p:nvSpPr>
        <p:spPr>
          <a:xfrm>
            <a:off x="4361688" y="4325112"/>
            <a:ext cx="2679192" cy="10515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build.py </a:t>
            </a:r>
            <a:r>
              <a:rPr>
                <a:latin typeface="Arial Unicode MS"/>
              </a:rPr>
              <a:t>→</a:t>
            </a:r>
            <a:r>
              <a:t> movies.ttl</a:t>
            </a:r>
          </a:p>
          <a:p>
            <a:pPr>
              <a:lnSpc>
                <a:spcPts val="2176"/>
              </a:lnSpc>
              <a:spcBef>
                <a:spcPts val="0"/>
              </a:spcBef>
              <a:spcAft>
                <a:spcPts val="0"/>
              </a:spcAft>
              <a:defRPr sz="1700" b="0">
                <a:solidFill>
                  <a:srgbClr val="506776"/>
                </a:solidFill>
                <a:latin typeface="Be Vietnam Pro"/>
              </a:defRPr>
            </a:pPr>
            <a:r>
              <a:t>+ ontology/movie.ttl</a:t>
            </a:r>
          </a:p>
        </p:txBody>
      </p:sp>
      <p:sp>
        <p:nvSpPr>
          <p:cNvPr id="19" name="Rounded Rectangle 18"/>
          <p:cNvSpPr/>
          <p:nvPr/>
        </p:nvSpPr>
        <p:spPr>
          <a:xfrm>
            <a:off x="7534656" y="2697480"/>
            <a:ext cx="3136392" cy="2788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534656" y="2697480"/>
            <a:ext cx="45720" cy="27889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63256" y="2880360"/>
            <a:ext cx="2679192" cy="640080"/>
          </a:xfrm>
          <a:prstGeom prst="rect">
            <a:avLst/>
          </a:prstGeom>
          <a:noFill/>
        </p:spPr>
        <p:txBody>
          <a:bodyPr wrap="none" lIns="0" rIns="0" tIns="0" bIns="0">
            <a:spAutoFit/>
          </a:bodyPr>
          <a:lstStyle/>
          <a:p>
            <a:pPr>
              <a:lnSpc>
                <a:spcPts val="3840"/>
              </a:lnSpc>
              <a:spcBef>
                <a:spcPts val="0"/>
              </a:spcBef>
              <a:spcAft>
                <a:spcPts val="0"/>
              </a:spcAft>
              <a:defRPr sz="3000" b="1">
                <a:solidFill>
                  <a:srgbClr val="007F82"/>
                </a:solidFill>
                <a:latin typeface="Be Vietnam Pro"/>
              </a:defRPr>
            </a:pPr>
            <a:r>
              <a:t>03</a:t>
            </a:r>
          </a:p>
        </p:txBody>
      </p:sp>
      <p:sp>
        <p:nvSpPr>
          <p:cNvPr id="22" name="TextBox 21"/>
          <p:cNvSpPr txBox="1"/>
          <p:nvPr/>
        </p:nvSpPr>
        <p:spPr>
          <a:xfrm>
            <a:off x="7763256" y="3611880"/>
            <a:ext cx="2679192" cy="640080"/>
          </a:xfrm>
          <a:prstGeom prst="rect">
            <a:avLst/>
          </a:prstGeom>
          <a:noFill/>
        </p:spPr>
        <p:txBody>
          <a:bodyPr wrap="none" lIns="0" rIns="0" tIns="0" bIns="0">
            <a:spAutoFit/>
          </a:bodyPr>
          <a:lstStyle/>
          <a:p>
            <a:pPr>
              <a:lnSpc>
                <a:spcPts val="2688"/>
              </a:lnSpc>
              <a:spcBef>
                <a:spcPts val="0"/>
              </a:spcBef>
              <a:spcAft>
                <a:spcPts val="0"/>
              </a:spcAft>
              <a:defRPr sz="2100" b="1">
                <a:solidFill>
                  <a:srgbClr val="152B3A"/>
                </a:solidFill>
                <a:latin typeface="Be Vietnam Pro"/>
              </a:defRPr>
            </a:pPr>
            <a:r>
              <a:t>VALIDATE</a:t>
            </a:r>
          </a:p>
        </p:txBody>
      </p:sp>
      <p:sp>
        <p:nvSpPr>
          <p:cNvPr id="23" name="TextBox 22"/>
          <p:cNvSpPr txBox="1"/>
          <p:nvPr/>
        </p:nvSpPr>
        <p:spPr>
          <a:xfrm>
            <a:off x="7763256" y="4325112"/>
            <a:ext cx="2679192" cy="10515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validate.py / pytest</a:t>
            </a:r>
          </a:p>
          <a:p>
            <a:pPr>
              <a:lnSpc>
                <a:spcPts val="2176"/>
              </a:lnSpc>
              <a:spcBef>
                <a:spcPts val="0"/>
              </a:spcBef>
              <a:spcAft>
                <a:spcPts val="0"/>
              </a:spcAft>
              <a:defRPr sz="1700" b="0">
                <a:solidFill>
                  <a:srgbClr val="506776"/>
                </a:solidFill>
                <a:latin typeface="Be Vietnam Pro"/>
              </a:defRPr>
            </a:pPr>
            <a:r>
              <a:t>sources, fields and</a:t>
            </a:r>
          </a:p>
          <a:p>
            <a:pPr>
              <a:lnSpc>
                <a:spcPts val="2176"/>
              </a:lnSpc>
              <a:spcBef>
                <a:spcPts val="0"/>
              </a:spcBef>
              <a:spcAft>
                <a:spcPts val="0"/>
              </a:spcAft>
              <a:defRPr sz="1700" b="0">
                <a:solidFill>
                  <a:srgbClr val="506776"/>
                </a:solidFill>
                <a:latin typeface="Be Vietnam Pro"/>
              </a:defRPr>
            </a:pPr>
            <a:r>
              <a:t>queries</a:t>
            </a:r>
          </a:p>
        </p:txBody>
      </p:sp>
      <p:sp>
        <p:nvSpPr>
          <p:cNvPr id="24" name="Rounded Rectangle 23"/>
          <p:cNvSpPr/>
          <p:nvPr/>
        </p:nvSpPr>
        <p:spPr>
          <a:xfrm>
            <a:off x="10936224" y="2697480"/>
            <a:ext cx="3136392" cy="2788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936224" y="2697480"/>
            <a:ext cx="45720" cy="27889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164824" y="2880360"/>
            <a:ext cx="2679192" cy="640080"/>
          </a:xfrm>
          <a:prstGeom prst="rect">
            <a:avLst/>
          </a:prstGeom>
          <a:noFill/>
        </p:spPr>
        <p:txBody>
          <a:bodyPr wrap="none" lIns="0" rIns="0" tIns="0" bIns="0">
            <a:spAutoFit/>
          </a:bodyPr>
          <a:lstStyle/>
          <a:p>
            <a:pPr>
              <a:lnSpc>
                <a:spcPts val="3840"/>
              </a:lnSpc>
              <a:spcBef>
                <a:spcPts val="0"/>
              </a:spcBef>
              <a:spcAft>
                <a:spcPts val="0"/>
              </a:spcAft>
              <a:defRPr sz="3000" b="1">
                <a:solidFill>
                  <a:srgbClr val="007F82"/>
                </a:solidFill>
                <a:latin typeface="Be Vietnam Pro"/>
              </a:defRPr>
            </a:pPr>
            <a:r>
              <a:t>04</a:t>
            </a:r>
          </a:p>
        </p:txBody>
      </p:sp>
      <p:sp>
        <p:nvSpPr>
          <p:cNvPr id="27" name="TextBox 26"/>
          <p:cNvSpPr txBox="1"/>
          <p:nvPr/>
        </p:nvSpPr>
        <p:spPr>
          <a:xfrm>
            <a:off x="11164824" y="3611880"/>
            <a:ext cx="2679192" cy="640080"/>
          </a:xfrm>
          <a:prstGeom prst="rect">
            <a:avLst/>
          </a:prstGeom>
          <a:noFill/>
        </p:spPr>
        <p:txBody>
          <a:bodyPr wrap="none" lIns="0" rIns="0" tIns="0" bIns="0">
            <a:spAutoFit/>
          </a:bodyPr>
          <a:lstStyle/>
          <a:p>
            <a:pPr>
              <a:lnSpc>
                <a:spcPts val="2688"/>
              </a:lnSpc>
              <a:spcBef>
                <a:spcPts val="0"/>
              </a:spcBef>
              <a:spcAft>
                <a:spcPts val="0"/>
              </a:spcAft>
              <a:defRPr sz="2100" b="1">
                <a:solidFill>
                  <a:srgbClr val="152B3A"/>
                </a:solidFill>
                <a:latin typeface="Be Vietnam Pro"/>
              </a:defRPr>
            </a:pPr>
            <a:r>
              <a:t>CLASSIFY</a:t>
            </a:r>
          </a:p>
        </p:txBody>
      </p:sp>
      <p:sp>
        <p:nvSpPr>
          <p:cNvPr id="28" name="TextBox 27"/>
          <p:cNvSpPr txBox="1"/>
          <p:nvPr/>
        </p:nvSpPr>
        <p:spPr>
          <a:xfrm>
            <a:off x="11164824" y="4325112"/>
            <a:ext cx="2679192" cy="10515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reason.py </a:t>
            </a:r>
            <a:r>
              <a:rPr>
                <a:latin typeface="Arial Unicode MS"/>
              </a:rPr>
              <a:t>→</a:t>
            </a:r>
          </a:p>
          <a:p>
            <a:pPr>
              <a:lnSpc>
                <a:spcPts val="2176"/>
              </a:lnSpc>
              <a:spcBef>
                <a:spcPts val="0"/>
              </a:spcBef>
              <a:spcAft>
                <a:spcPts val="0"/>
              </a:spcAft>
              <a:defRPr sz="1700" b="0">
                <a:solidFill>
                  <a:srgbClr val="506776"/>
                </a:solidFill>
                <a:latin typeface="Be Vietnam Pro"/>
              </a:defRPr>
            </a:pPr>
            <a:r>
              <a:t>inferred_classes.ttl</a:t>
            </a:r>
          </a:p>
        </p:txBody>
      </p:sp>
      <p:sp>
        <p:nvSpPr>
          <p:cNvPr id="29" name="Rounded Rectangle 28"/>
          <p:cNvSpPr/>
          <p:nvPr/>
        </p:nvSpPr>
        <p:spPr>
          <a:xfrm>
            <a:off x="731520" y="5806440"/>
            <a:ext cx="13304520" cy="1115568"/>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971032"/>
            <a:ext cx="12801600" cy="841248"/>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APPLICATION: Web / Flask + RDFLib / Comunica / Terminal</a:t>
            </a:r>
          </a:p>
          <a:p>
            <a:pPr>
              <a:lnSpc>
                <a:spcPts val="2304"/>
              </a:lnSpc>
              <a:spcBef>
                <a:spcPts val="0"/>
              </a:spcBef>
              <a:spcAft>
                <a:spcPts val="0"/>
              </a:spcAft>
              <a:defRPr sz="1800" b="1">
                <a:solidFill>
                  <a:srgbClr val="FFFFFF"/>
                </a:solidFill>
                <a:latin typeface="Be Vietnam Pro"/>
              </a:defRPr>
            </a:pPr>
            <a:r>
              <a:t>Endpoint: movies.ttl. --reasoned: adds schema + inferred_classes.ttl.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Current dataset: interpreting the numbers</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A selected sample of 30 films · evidence/statistics.json</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08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04 / 24</a:t>
            </a:r>
          </a:p>
        </p:txBody>
      </p:sp>
      <p:sp>
        <p:nvSpPr>
          <p:cNvPr id="9" name="Rounded Rectangle 8"/>
          <p:cNvSpPr/>
          <p:nvPr/>
        </p:nvSpPr>
        <p:spPr>
          <a:xfrm>
            <a:off x="731520" y="2706624"/>
            <a:ext cx="4261104" cy="17465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889504"/>
            <a:ext cx="3749039" cy="749808"/>
          </a:xfrm>
          <a:prstGeom prst="rect">
            <a:avLst/>
          </a:prstGeom>
          <a:noFill/>
        </p:spPr>
        <p:txBody>
          <a:bodyPr wrap="none" lIns="0" rIns="0" tIns="0" bIns="0">
            <a:spAutoFit/>
          </a:bodyPr>
          <a:lstStyle/>
          <a:p>
            <a:pPr>
              <a:lnSpc>
                <a:spcPts val="4864"/>
              </a:lnSpc>
              <a:spcBef>
                <a:spcPts val="0"/>
              </a:spcBef>
              <a:spcAft>
                <a:spcPts val="0"/>
              </a:spcAft>
              <a:defRPr sz="3800" b="1">
                <a:solidFill>
                  <a:srgbClr val="007F82"/>
                </a:solidFill>
                <a:latin typeface="Be Vietnam Pro"/>
              </a:defRPr>
            </a:pPr>
            <a:r>
              <a:t>30</a:t>
            </a:r>
          </a:p>
        </p:txBody>
      </p:sp>
      <p:sp>
        <p:nvSpPr>
          <p:cNvPr id="11" name="TextBox 10"/>
          <p:cNvSpPr txBox="1"/>
          <p:nvPr/>
        </p:nvSpPr>
        <p:spPr>
          <a:xfrm>
            <a:off x="1005840" y="3822191"/>
            <a:ext cx="3703320" cy="457200"/>
          </a:xfrm>
          <a:prstGeom prst="rect">
            <a:avLst/>
          </a:prstGeom>
          <a:noFill/>
        </p:spPr>
        <p:txBody>
          <a:bodyPr wrap="none" lIns="0" rIns="0" tIns="0" bIns="0">
            <a:spAutoFit/>
          </a:bodyPr>
          <a:lstStyle/>
          <a:p>
            <a:pPr>
              <a:lnSpc>
                <a:spcPts val="2688"/>
              </a:lnSpc>
              <a:spcBef>
                <a:spcPts val="0"/>
              </a:spcBef>
              <a:spcAft>
                <a:spcPts val="0"/>
              </a:spcAft>
              <a:defRPr sz="2100" b="0">
                <a:solidFill>
                  <a:srgbClr val="506776"/>
                </a:solidFill>
                <a:latin typeface="Be Vietnam Pro"/>
              </a:defRPr>
            </a:pPr>
            <a:r>
              <a:t>films</a:t>
            </a:r>
          </a:p>
        </p:txBody>
      </p:sp>
      <p:sp>
        <p:nvSpPr>
          <p:cNvPr id="12" name="Rounded Rectangle 11"/>
          <p:cNvSpPr/>
          <p:nvPr/>
        </p:nvSpPr>
        <p:spPr>
          <a:xfrm>
            <a:off x="5266944" y="2706624"/>
            <a:ext cx="4261104" cy="17465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22976" y="2889504"/>
            <a:ext cx="3749039" cy="749808"/>
          </a:xfrm>
          <a:prstGeom prst="rect">
            <a:avLst/>
          </a:prstGeom>
          <a:noFill/>
        </p:spPr>
        <p:txBody>
          <a:bodyPr wrap="none" lIns="0" rIns="0" tIns="0" bIns="0">
            <a:spAutoFit/>
          </a:bodyPr>
          <a:lstStyle/>
          <a:p>
            <a:pPr>
              <a:lnSpc>
                <a:spcPts val="4864"/>
              </a:lnSpc>
              <a:spcBef>
                <a:spcPts val="0"/>
              </a:spcBef>
              <a:spcAft>
                <a:spcPts val="0"/>
              </a:spcAft>
              <a:defRPr sz="3800" b="1">
                <a:solidFill>
                  <a:srgbClr val="007F82"/>
                </a:solidFill>
                <a:latin typeface="Be Vietnam Pro"/>
              </a:defRPr>
            </a:pPr>
            <a:r>
              <a:t>851</a:t>
            </a:r>
          </a:p>
        </p:txBody>
      </p:sp>
      <p:sp>
        <p:nvSpPr>
          <p:cNvPr id="14" name="TextBox 13"/>
          <p:cNvSpPr txBox="1"/>
          <p:nvPr/>
        </p:nvSpPr>
        <p:spPr>
          <a:xfrm>
            <a:off x="5541264" y="3822191"/>
            <a:ext cx="3703320" cy="457200"/>
          </a:xfrm>
          <a:prstGeom prst="rect">
            <a:avLst/>
          </a:prstGeom>
          <a:noFill/>
        </p:spPr>
        <p:txBody>
          <a:bodyPr wrap="none" lIns="0" rIns="0" tIns="0" bIns="0">
            <a:spAutoFit/>
          </a:bodyPr>
          <a:lstStyle/>
          <a:p>
            <a:pPr>
              <a:lnSpc>
                <a:spcPts val="2688"/>
              </a:lnSpc>
              <a:spcBef>
                <a:spcPts val="0"/>
              </a:spcBef>
              <a:spcAft>
                <a:spcPts val="0"/>
              </a:spcAft>
              <a:defRPr sz="2100" b="0">
                <a:solidFill>
                  <a:srgbClr val="506776"/>
                </a:solidFill>
                <a:latin typeface="Be Vietnam Pro"/>
              </a:defRPr>
            </a:pPr>
            <a:r>
              <a:t>people</a:t>
            </a:r>
          </a:p>
        </p:txBody>
      </p:sp>
      <p:sp>
        <p:nvSpPr>
          <p:cNvPr id="15" name="Rounded Rectangle 14"/>
          <p:cNvSpPr/>
          <p:nvPr/>
        </p:nvSpPr>
        <p:spPr>
          <a:xfrm>
            <a:off x="9802368" y="2706624"/>
            <a:ext cx="4261104" cy="17465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0" y="2889504"/>
            <a:ext cx="3749039" cy="749808"/>
          </a:xfrm>
          <a:prstGeom prst="rect">
            <a:avLst/>
          </a:prstGeom>
          <a:noFill/>
        </p:spPr>
        <p:txBody>
          <a:bodyPr wrap="none" lIns="0" rIns="0" tIns="0" bIns="0">
            <a:spAutoFit/>
          </a:bodyPr>
          <a:lstStyle/>
          <a:p>
            <a:pPr>
              <a:lnSpc>
                <a:spcPts val="4864"/>
              </a:lnSpc>
              <a:spcBef>
                <a:spcPts val="0"/>
              </a:spcBef>
              <a:spcAft>
                <a:spcPts val="0"/>
              </a:spcAft>
              <a:defRPr sz="3800" b="1">
                <a:solidFill>
                  <a:srgbClr val="007F82"/>
                </a:solidFill>
                <a:latin typeface="Be Vietnam Pro"/>
              </a:defRPr>
            </a:pPr>
            <a:r>
              <a:t>1,010</a:t>
            </a:r>
          </a:p>
        </p:txBody>
      </p:sp>
      <p:sp>
        <p:nvSpPr>
          <p:cNvPr id="17" name="TextBox 16"/>
          <p:cNvSpPr txBox="1"/>
          <p:nvPr/>
        </p:nvSpPr>
        <p:spPr>
          <a:xfrm>
            <a:off x="10076688" y="3822191"/>
            <a:ext cx="3703320" cy="457200"/>
          </a:xfrm>
          <a:prstGeom prst="rect">
            <a:avLst/>
          </a:prstGeom>
          <a:noFill/>
        </p:spPr>
        <p:txBody>
          <a:bodyPr wrap="none" lIns="0" rIns="0" tIns="0" bIns="0">
            <a:spAutoFit/>
          </a:bodyPr>
          <a:lstStyle/>
          <a:p>
            <a:pPr>
              <a:lnSpc>
                <a:spcPts val="2688"/>
              </a:lnSpc>
              <a:spcBef>
                <a:spcPts val="0"/>
              </a:spcBef>
              <a:spcAft>
                <a:spcPts val="0"/>
              </a:spcAft>
              <a:defRPr sz="2100" b="0">
                <a:solidFill>
                  <a:srgbClr val="506776"/>
                </a:solidFill>
                <a:latin typeface="Be Vietnam Pro"/>
              </a:defRPr>
            </a:pPr>
            <a:r>
              <a:t>contributions</a:t>
            </a:r>
          </a:p>
        </p:txBody>
      </p:sp>
      <p:sp>
        <p:nvSpPr>
          <p:cNvPr id="18" name="Rounded Rectangle 17"/>
          <p:cNvSpPr/>
          <p:nvPr/>
        </p:nvSpPr>
        <p:spPr>
          <a:xfrm>
            <a:off x="731520" y="4700016"/>
            <a:ext cx="4261104" cy="17465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7552" y="4882896"/>
            <a:ext cx="3749039" cy="749808"/>
          </a:xfrm>
          <a:prstGeom prst="rect">
            <a:avLst/>
          </a:prstGeom>
          <a:noFill/>
        </p:spPr>
        <p:txBody>
          <a:bodyPr wrap="none" lIns="0" rIns="0" tIns="0" bIns="0">
            <a:spAutoFit/>
          </a:bodyPr>
          <a:lstStyle/>
          <a:p>
            <a:pPr>
              <a:lnSpc>
                <a:spcPts val="4864"/>
              </a:lnSpc>
              <a:spcBef>
                <a:spcPts val="0"/>
              </a:spcBef>
              <a:spcAft>
                <a:spcPts val="0"/>
              </a:spcAft>
              <a:defRPr sz="3800" b="1">
                <a:solidFill>
                  <a:srgbClr val="007F82"/>
                </a:solidFill>
                <a:latin typeface="Be Vietnam Pro"/>
              </a:defRPr>
            </a:pPr>
            <a:r>
              <a:t>45</a:t>
            </a:r>
          </a:p>
        </p:txBody>
      </p:sp>
      <p:sp>
        <p:nvSpPr>
          <p:cNvPr id="20" name="TextBox 19"/>
          <p:cNvSpPr txBox="1"/>
          <p:nvPr/>
        </p:nvSpPr>
        <p:spPr>
          <a:xfrm>
            <a:off x="1005840" y="5815584"/>
            <a:ext cx="3703320" cy="457200"/>
          </a:xfrm>
          <a:prstGeom prst="rect">
            <a:avLst/>
          </a:prstGeom>
          <a:noFill/>
        </p:spPr>
        <p:txBody>
          <a:bodyPr wrap="none" lIns="0" rIns="0" tIns="0" bIns="0">
            <a:spAutoFit/>
          </a:bodyPr>
          <a:lstStyle/>
          <a:p>
            <a:pPr>
              <a:lnSpc>
                <a:spcPts val="2688"/>
              </a:lnSpc>
              <a:spcBef>
                <a:spcPts val="0"/>
              </a:spcBef>
              <a:spcAft>
                <a:spcPts val="0"/>
              </a:spcAft>
              <a:defRPr sz="2100" b="0">
                <a:solidFill>
                  <a:srgbClr val="506776"/>
                </a:solidFill>
                <a:latin typeface="Be Vietnam Pro"/>
              </a:defRPr>
            </a:pPr>
            <a:r>
              <a:t>companies</a:t>
            </a:r>
          </a:p>
        </p:txBody>
      </p:sp>
      <p:sp>
        <p:nvSpPr>
          <p:cNvPr id="21" name="Rounded Rectangle 20"/>
          <p:cNvSpPr/>
          <p:nvPr/>
        </p:nvSpPr>
        <p:spPr>
          <a:xfrm>
            <a:off x="5266944" y="4700016"/>
            <a:ext cx="4261104" cy="17465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22976" y="4882896"/>
            <a:ext cx="3749039" cy="749808"/>
          </a:xfrm>
          <a:prstGeom prst="rect">
            <a:avLst/>
          </a:prstGeom>
          <a:noFill/>
        </p:spPr>
        <p:txBody>
          <a:bodyPr wrap="none" lIns="0" rIns="0" tIns="0" bIns="0">
            <a:spAutoFit/>
          </a:bodyPr>
          <a:lstStyle/>
          <a:p>
            <a:pPr>
              <a:lnSpc>
                <a:spcPts val="4864"/>
              </a:lnSpc>
              <a:spcBef>
                <a:spcPts val="0"/>
              </a:spcBef>
              <a:spcAft>
                <a:spcPts val="0"/>
              </a:spcAft>
              <a:defRPr sz="3800" b="1">
                <a:solidFill>
                  <a:srgbClr val="007F82"/>
                </a:solidFill>
                <a:latin typeface="Be Vietnam Pro"/>
              </a:defRPr>
            </a:pPr>
            <a:r>
              <a:t>672</a:t>
            </a:r>
          </a:p>
        </p:txBody>
      </p:sp>
      <p:sp>
        <p:nvSpPr>
          <p:cNvPr id="23" name="TextBox 22"/>
          <p:cNvSpPr txBox="1"/>
          <p:nvPr/>
        </p:nvSpPr>
        <p:spPr>
          <a:xfrm>
            <a:off x="5541264" y="5815584"/>
            <a:ext cx="3703320" cy="457200"/>
          </a:xfrm>
          <a:prstGeom prst="rect">
            <a:avLst/>
          </a:prstGeom>
          <a:noFill/>
        </p:spPr>
        <p:txBody>
          <a:bodyPr wrap="none" lIns="0" rIns="0" tIns="0" bIns="0">
            <a:spAutoFit/>
          </a:bodyPr>
          <a:lstStyle/>
          <a:p>
            <a:pPr>
              <a:lnSpc>
                <a:spcPts val="2688"/>
              </a:lnSpc>
              <a:spcBef>
                <a:spcPts val="0"/>
              </a:spcBef>
              <a:spcAft>
                <a:spcPts val="0"/>
              </a:spcAft>
              <a:defRPr sz="2100" b="0">
                <a:solidFill>
                  <a:srgbClr val="506776"/>
                </a:solidFill>
                <a:latin typeface="Be Vietnam Pro"/>
              </a:defRPr>
            </a:pPr>
            <a:r>
              <a:t>award entities</a:t>
            </a:r>
          </a:p>
        </p:txBody>
      </p:sp>
      <p:sp>
        <p:nvSpPr>
          <p:cNvPr id="24" name="Rounded Rectangle 23"/>
          <p:cNvSpPr/>
          <p:nvPr/>
        </p:nvSpPr>
        <p:spPr>
          <a:xfrm>
            <a:off x="9802368" y="4700016"/>
            <a:ext cx="4261104" cy="17465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0" y="4882896"/>
            <a:ext cx="3749039" cy="749808"/>
          </a:xfrm>
          <a:prstGeom prst="rect">
            <a:avLst/>
          </a:prstGeom>
          <a:noFill/>
        </p:spPr>
        <p:txBody>
          <a:bodyPr wrap="none" lIns="0" rIns="0" tIns="0" bIns="0">
            <a:spAutoFit/>
          </a:bodyPr>
          <a:lstStyle/>
          <a:p>
            <a:pPr>
              <a:lnSpc>
                <a:spcPts val="4864"/>
              </a:lnSpc>
              <a:spcBef>
                <a:spcPts val="0"/>
              </a:spcBef>
              <a:spcAft>
                <a:spcPts val="0"/>
              </a:spcAft>
              <a:defRPr sz="3800" b="1">
                <a:solidFill>
                  <a:srgbClr val="007F82"/>
                </a:solidFill>
                <a:latin typeface="Be Vietnam Pro"/>
              </a:defRPr>
            </a:pPr>
            <a:r>
              <a:t>76/76</a:t>
            </a:r>
          </a:p>
        </p:txBody>
      </p:sp>
      <p:sp>
        <p:nvSpPr>
          <p:cNvPr id="26" name="TextBox 25"/>
          <p:cNvSpPr txBox="1"/>
          <p:nvPr/>
        </p:nvSpPr>
        <p:spPr>
          <a:xfrm>
            <a:off x="10076688" y="5815584"/>
            <a:ext cx="3703320" cy="457200"/>
          </a:xfrm>
          <a:prstGeom prst="rect">
            <a:avLst/>
          </a:prstGeom>
          <a:noFill/>
        </p:spPr>
        <p:txBody>
          <a:bodyPr wrap="none" lIns="0" rIns="0" tIns="0" bIns="0">
            <a:spAutoFit/>
          </a:bodyPr>
          <a:lstStyle/>
          <a:p>
            <a:pPr>
              <a:lnSpc>
                <a:spcPts val="2688"/>
              </a:lnSpc>
              <a:spcBef>
                <a:spcPts val="0"/>
              </a:spcBef>
              <a:spcAft>
                <a:spcPts val="0"/>
              </a:spcAft>
              <a:defRPr sz="2100" b="0">
                <a:solidFill>
                  <a:srgbClr val="506776"/>
                </a:solidFill>
                <a:latin typeface="Be Vietnam Pro"/>
              </a:defRPr>
            </a:pPr>
            <a:r>
              <a:t>verified source hashes</a:t>
            </a:r>
          </a:p>
        </p:txBody>
      </p:sp>
      <p:sp>
        <p:nvSpPr>
          <p:cNvPr id="27" name="TextBox 26"/>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19,339 data triples · 518 schema triples · 75 genres · 11 countries · 15 languages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R1 · Ontology: 42 classes in six groups</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Direct reuse of dbo:Film, dbo:Person and dbo:Country</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08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05 / 24</a:t>
            </a:r>
          </a:p>
        </p:txBody>
      </p:sp>
      <p:sp>
        <p:nvSpPr>
          <p:cNvPr id="9" name="Rounded Rectangle 8"/>
          <p:cNvSpPr/>
          <p:nvPr/>
        </p:nvSpPr>
        <p:spPr>
          <a:xfrm>
            <a:off x="731520" y="2633472"/>
            <a:ext cx="6748272" cy="4846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724912"/>
            <a:ext cx="1508760" cy="329184"/>
          </a:xfrm>
          <a:prstGeom prst="rect">
            <a:avLst/>
          </a:prstGeom>
          <a:noFill/>
        </p:spPr>
        <p:txBody>
          <a:bodyPr wrap="none" lIns="0" rIns="0" tIns="0" bIns="0">
            <a:spAutoFit/>
          </a:bodyPr>
          <a:lstStyle/>
          <a:p>
            <a:pPr>
              <a:lnSpc>
                <a:spcPts val="2176"/>
              </a:lnSpc>
              <a:spcBef>
                <a:spcPts val="0"/>
              </a:spcBef>
              <a:spcAft>
                <a:spcPts val="0"/>
              </a:spcAft>
              <a:defRPr sz="1700" b="1">
                <a:solidFill>
                  <a:srgbClr val="007F82"/>
                </a:solidFill>
                <a:latin typeface="Be Vietnam Pro"/>
              </a:defRPr>
            </a:pPr>
            <a:r>
              <a:t>11 classes</a:t>
            </a:r>
          </a:p>
        </p:txBody>
      </p:sp>
      <p:sp>
        <p:nvSpPr>
          <p:cNvPr id="11" name="TextBox 10"/>
          <p:cNvSpPr txBox="1"/>
          <p:nvPr/>
        </p:nvSpPr>
        <p:spPr>
          <a:xfrm>
            <a:off x="2377440" y="2724912"/>
            <a:ext cx="4846320" cy="36576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CreativeWork / Film</a:t>
            </a:r>
          </a:p>
        </p:txBody>
      </p:sp>
      <p:sp>
        <p:nvSpPr>
          <p:cNvPr id="12" name="Rounded Rectangle 11"/>
          <p:cNvSpPr/>
          <p:nvPr/>
        </p:nvSpPr>
        <p:spPr>
          <a:xfrm>
            <a:off x="731520" y="3227832"/>
            <a:ext cx="6748272" cy="4846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19272"/>
            <a:ext cx="1508760" cy="329184"/>
          </a:xfrm>
          <a:prstGeom prst="rect">
            <a:avLst/>
          </a:prstGeom>
          <a:noFill/>
        </p:spPr>
        <p:txBody>
          <a:bodyPr wrap="none" lIns="0" rIns="0" tIns="0" bIns="0">
            <a:spAutoFit/>
          </a:bodyPr>
          <a:lstStyle/>
          <a:p>
            <a:pPr>
              <a:lnSpc>
                <a:spcPts val="2176"/>
              </a:lnSpc>
              <a:spcBef>
                <a:spcPts val="0"/>
              </a:spcBef>
              <a:spcAft>
                <a:spcPts val="0"/>
              </a:spcAft>
              <a:defRPr sz="1700" b="1">
                <a:solidFill>
                  <a:srgbClr val="007F82"/>
                </a:solidFill>
                <a:latin typeface="Be Vietnam Pro"/>
              </a:defRPr>
            </a:pPr>
            <a:r>
              <a:t>8 classes</a:t>
            </a:r>
          </a:p>
        </p:txBody>
      </p:sp>
      <p:sp>
        <p:nvSpPr>
          <p:cNvPr id="14" name="TextBox 13"/>
          <p:cNvSpPr txBox="1"/>
          <p:nvPr/>
        </p:nvSpPr>
        <p:spPr>
          <a:xfrm>
            <a:off x="2377440" y="3319272"/>
            <a:ext cx="4846320" cy="36576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Agent / Person / Organization</a:t>
            </a:r>
          </a:p>
        </p:txBody>
      </p:sp>
      <p:sp>
        <p:nvSpPr>
          <p:cNvPr id="15" name="Rounded Rectangle 14"/>
          <p:cNvSpPr/>
          <p:nvPr/>
        </p:nvSpPr>
        <p:spPr>
          <a:xfrm>
            <a:off x="731520" y="3822191"/>
            <a:ext cx="6748272" cy="4846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913631"/>
            <a:ext cx="1508760" cy="329184"/>
          </a:xfrm>
          <a:prstGeom prst="rect">
            <a:avLst/>
          </a:prstGeom>
          <a:noFill/>
        </p:spPr>
        <p:txBody>
          <a:bodyPr wrap="none" lIns="0" rIns="0" tIns="0" bIns="0">
            <a:spAutoFit/>
          </a:bodyPr>
          <a:lstStyle/>
          <a:p>
            <a:pPr>
              <a:lnSpc>
                <a:spcPts val="2176"/>
              </a:lnSpc>
              <a:spcBef>
                <a:spcPts val="0"/>
              </a:spcBef>
              <a:spcAft>
                <a:spcPts val="0"/>
              </a:spcAft>
              <a:defRPr sz="1700" b="1">
                <a:solidFill>
                  <a:srgbClr val="007F82"/>
                </a:solidFill>
                <a:latin typeface="Be Vietnam Pro"/>
              </a:defRPr>
            </a:pPr>
            <a:r>
              <a:t>6 classes</a:t>
            </a:r>
          </a:p>
        </p:txBody>
      </p:sp>
      <p:sp>
        <p:nvSpPr>
          <p:cNvPr id="17" name="TextBox 16"/>
          <p:cNvSpPr txBox="1"/>
          <p:nvPr/>
        </p:nvSpPr>
        <p:spPr>
          <a:xfrm>
            <a:off x="2377440" y="3913631"/>
            <a:ext cx="4846320" cy="36576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Contribution / ContributionRole</a:t>
            </a:r>
          </a:p>
        </p:txBody>
      </p:sp>
      <p:sp>
        <p:nvSpPr>
          <p:cNvPr id="18" name="Rounded Rectangle 17"/>
          <p:cNvSpPr/>
          <p:nvPr/>
        </p:nvSpPr>
        <p:spPr>
          <a:xfrm>
            <a:off x="731520" y="4416552"/>
            <a:ext cx="6748272" cy="4846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507992"/>
            <a:ext cx="1508760" cy="329184"/>
          </a:xfrm>
          <a:prstGeom prst="rect">
            <a:avLst/>
          </a:prstGeom>
          <a:noFill/>
        </p:spPr>
        <p:txBody>
          <a:bodyPr wrap="none" lIns="0" rIns="0" tIns="0" bIns="0">
            <a:spAutoFit/>
          </a:bodyPr>
          <a:lstStyle/>
          <a:p>
            <a:pPr>
              <a:lnSpc>
                <a:spcPts val="2176"/>
              </a:lnSpc>
              <a:spcBef>
                <a:spcPts val="0"/>
              </a:spcBef>
              <a:spcAft>
                <a:spcPts val="0"/>
              </a:spcAft>
              <a:defRPr sz="1700" b="1">
                <a:solidFill>
                  <a:srgbClr val="007F82"/>
                </a:solidFill>
                <a:latin typeface="Be Vietnam Pro"/>
              </a:defRPr>
            </a:pPr>
            <a:r>
              <a:t>8 classes</a:t>
            </a:r>
          </a:p>
        </p:txBody>
      </p:sp>
      <p:sp>
        <p:nvSpPr>
          <p:cNvPr id="20" name="TextBox 19"/>
          <p:cNvSpPr txBox="1"/>
          <p:nvPr/>
        </p:nvSpPr>
        <p:spPr>
          <a:xfrm>
            <a:off x="2377440" y="4507992"/>
            <a:ext cx="4846320" cy="36576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Genre</a:t>
            </a:r>
          </a:p>
        </p:txBody>
      </p:sp>
      <p:sp>
        <p:nvSpPr>
          <p:cNvPr id="21" name="Rounded Rectangle 20"/>
          <p:cNvSpPr/>
          <p:nvPr/>
        </p:nvSpPr>
        <p:spPr>
          <a:xfrm>
            <a:off x="731520" y="5010912"/>
            <a:ext cx="6748272" cy="4846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102352"/>
            <a:ext cx="1508760" cy="329184"/>
          </a:xfrm>
          <a:prstGeom prst="rect">
            <a:avLst/>
          </a:prstGeom>
          <a:noFill/>
        </p:spPr>
        <p:txBody>
          <a:bodyPr wrap="none" lIns="0" rIns="0" tIns="0" bIns="0">
            <a:spAutoFit/>
          </a:bodyPr>
          <a:lstStyle/>
          <a:p>
            <a:pPr>
              <a:lnSpc>
                <a:spcPts val="2176"/>
              </a:lnSpc>
              <a:spcBef>
                <a:spcPts val="0"/>
              </a:spcBef>
              <a:spcAft>
                <a:spcPts val="0"/>
              </a:spcAft>
              <a:defRPr sz="1700" b="1">
                <a:solidFill>
                  <a:srgbClr val="007F82"/>
                </a:solidFill>
                <a:latin typeface="Be Vietnam Pro"/>
              </a:defRPr>
            </a:pPr>
            <a:r>
              <a:t>5 classes</a:t>
            </a:r>
          </a:p>
        </p:txBody>
      </p:sp>
      <p:sp>
        <p:nvSpPr>
          <p:cNvPr id="23" name="TextBox 22"/>
          <p:cNvSpPr txBox="1"/>
          <p:nvPr/>
        </p:nvSpPr>
        <p:spPr>
          <a:xfrm>
            <a:off x="2377440" y="5102352"/>
            <a:ext cx="4846320" cy="36576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Award</a:t>
            </a:r>
          </a:p>
        </p:txBody>
      </p:sp>
      <p:sp>
        <p:nvSpPr>
          <p:cNvPr id="24" name="Rounded Rectangle 23"/>
          <p:cNvSpPr/>
          <p:nvPr/>
        </p:nvSpPr>
        <p:spPr>
          <a:xfrm>
            <a:off x="731520" y="5605272"/>
            <a:ext cx="6748272" cy="4846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696712"/>
            <a:ext cx="1508760" cy="329184"/>
          </a:xfrm>
          <a:prstGeom prst="rect">
            <a:avLst/>
          </a:prstGeom>
          <a:noFill/>
        </p:spPr>
        <p:txBody>
          <a:bodyPr wrap="none" lIns="0" rIns="0" tIns="0" bIns="0">
            <a:spAutoFit/>
          </a:bodyPr>
          <a:lstStyle/>
          <a:p>
            <a:pPr>
              <a:lnSpc>
                <a:spcPts val="2176"/>
              </a:lnSpc>
              <a:spcBef>
                <a:spcPts val="0"/>
              </a:spcBef>
              <a:spcAft>
                <a:spcPts val="0"/>
              </a:spcAft>
              <a:defRPr sz="1700" b="1">
                <a:solidFill>
                  <a:srgbClr val="007F82"/>
                </a:solidFill>
                <a:latin typeface="Be Vietnam Pro"/>
              </a:defRPr>
            </a:pPr>
            <a:r>
              <a:t>4 classes</a:t>
            </a:r>
          </a:p>
        </p:txBody>
      </p:sp>
      <p:sp>
        <p:nvSpPr>
          <p:cNvPr id="26" name="TextBox 25"/>
          <p:cNvSpPr txBox="1"/>
          <p:nvPr/>
        </p:nvSpPr>
        <p:spPr>
          <a:xfrm>
            <a:off x="2377440" y="5696712"/>
            <a:ext cx="4846320" cy="36576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Country / Language / SourceSnapshot / Dataset</a:t>
            </a:r>
          </a:p>
        </p:txBody>
      </p:sp>
      <p:sp>
        <p:nvSpPr>
          <p:cNvPr id="27" name="TextBox 26"/>
          <p:cNvSpPr txBox="1"/>
          <p:nvPr/>
        </p:nvSpPr>
        <p:spPr>
          <a:xfrm>
            <a:off x="914400" y="6437376"/>
            <a:ext cx="6355080" cy="667512"/>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3 DBpedia classes + 39 ex: classes</a:t>
            </a:r>
          </a:p>
          <a:p>
            <a:pPr>
              <a:lnSpc>
                <a:spcPts val="2048"/>
              </a:lnSpc>
              <a:spcBef>
                <a:spcPts val="0"/>
              </a:spcBef>
              <a:spcAft>
                <a:spcPts val="0"/>
              </a:spcAft>
              <a:defRPr sz="1600" b="0">
                <a:solidFill>
                  <a:srgbClr val="506776"/>
                </a:solidFill>
                <a:latin typeface="Be Vietnam Pro"/>
              </a:defRPr>
            </a:pPr>
            <a:r>
              <a:t>14 classes receive types; 42 classes explicitly declared.</a:t>
            </a:r>
          </a:p>
        </p:txBody>
      </p:sp>
      <p:sp>
        <p:nvSpPr>
          <p:cNvPr id="28" name="PHOTO_P00_0"/>
          <p:cNvSpPr/>
          <p:nvPr/>
        </p:nvSpPr>
        <p:spPr>
          <a:xfrm>
            <a:off x="7818120" y="2578608"/>
            <a:ext cx="6080760" cy="4590288"/>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HOTO_P00_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P00</a:t>
            </a:r>
          </a:p>
        </p:txBody>
      </p:sp>
      <p:sp>
        <p:nvSpPr>
          <p:cNvPr id="30" name="PHOTO_P00_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HOTO_P00_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Ontology IRI và phiên bản</a:t>
            </a:r>
          </a:p>
        </p:txBody>
      </p:sp>
      <p:sp>
        <p:nvSpPr>
          <p:cNvPr id="32" name="PHOTO_P00_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P00_ontology_header.png</a:t>
            </a:r>
          </a:p>
        </p:txBody>
      </p:sp>
      <p:sp>
        <p:nvSpPr>
          <p:cNvPr id="33" name="PHOTO_P00_5"/>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Mở ontology/Movie_Ontology.owl.</a:t>
            </a:r>
          </a:p>
        </p:txBody>
      </p:sp>
      <p:sp>
        <p:nvSpPr>
          <p:cNvPr id="34" name="PHOTO_P00_6"/>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Chọn Active Ontology / Ontology Header.</a:t>
            </a:r>
          </a:p>
        </p:txBody>
      </p:sp>
      <p:sp>
        <p:nvSpPr>
          <p:cNvPr id="35" name="PHOTO_P00_7"/>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Giữ IRI ontology và versionInfo 2.0.0 trong khung hình.</a:t>
            </a:r>
          </a:p>
        </p:txBody>
      </p:sp>
      <p:sp>
        <p:nvSpPr>
          <p:cNvPr id="36" name="PHOTO_P00_8"/>
          <p:cNvSpPr txBox="1"/>
          <p:nvPr/>
        </p:nvSpPr>
        <p:spPr>
          <a:xfrm>
            <a:off x="8046720" y="6830568"/>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R1 · Creative works and film classes</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Class definitions and additional instance types · (I) marks additional classification</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08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06 / 24</a:t>
            </a:r>
          </a:p>
        </p:txBody>
      </p:sp>
      <p:sp>
        <p:nvSpPr>
          <p:cNvPr id="9" name="Rounded Rectangle 8"/>
          <p:cNvSpPr/>
          <p:nvPr/>
        </p:nvSpPr>
        <p:spPr>
          <a:xfrm>
            <a:off x="731520" y="2615184"/>
            <a:ext cx="6720840" cy="4389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770632"/>
            <a:ext cx="6208775" cy="393192"/>
          </a:xfrm>
          <a:prstGeom prst="rect">
            <a:avLst/>
          </a:prstGeom>
          <a:noFill/>
        </p:spPr>
        <p:txBody>
          <a:bodyPr wrap="none" lIns="0" rIns="0" tIns="0" bIns="0">
            <a:spAutoFit/>
          </a:bodyPr>
          <a:lstStyle/>
          <a:p>
            <a:pPr>
              <a:lnSpc>
                <a:spcPts val="2304"/>
              </a:lnSpc>
              <a:spcBef>
                <a:spcPts val="0"/>
              </a:spcBef>
              <a:spcAft>
                <a:spcPts val="0"/>
              </a:spcAft>
              <a:defRPr sz="1800" b="1">
                <a:solidFill>
                  <a:srgbClr val="007F82"/>
                </a:solidFill>
                <a:latin typeface="Be Vietnam Pro"/>
              </a:defRPr>
            </a:pPr>
            <a:r>
              <a:t>CreativeWork</a:t>
            </a:r>
          </a:p>
        </p:txBody>
      </p:sp>
      <p:sp>
        <p:nvSpPr>
          <p:cNvPr id="11" name="Rectangle 10"/>
          <p:cNvSpPr/>
          <p:nvPr/>
        </p:nvSpPr>
        <p:spPr>
          <a:xfrm>
            <a:off x="905256" y="3154679"/>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07008" y="3136391"/>
            <a:ext cx="5989319" cy="393192"/>
          </a:xfrm>
          <a:prstGeom prst="rect">
            <a:avLst/>
          </a:prstGeom>
          <a:noFill/>
        </p:spPr>
        <p:txBody>
          <a:bodyPr wrap="none" lIns="0" rIns="0" tIns="0" bIns="0">
            <a:spAutoFit/>
          </a:bodyPr>
          <a:lstStyle/>
          <a:p>
            <a:pPr>
              <a:lnSpc>
                <a:spcPts val="2304"/>
              </a:lnSpc>
              <a:spcBef>
                <a:spcPts val="0"/>
              </a:spcBef>
              <a:spcAft>
                <a:spcPts val="0"/>
              </a:spcAft>
              <a:defRPr sz="1800" b="1">
                <a:solidFill>
                  <a:srgbClr val="152B3A"/>
                </a:solidFill>
                <a:latin typeface="Be Vietnam Pro"/>
              </a:defRPr>
            </a:pPr>
            <a:r>
              <a:t>dbo:Film</a:t>
            </a:r>
          </a:p>
        </p:txBody>
      </p:sp>
      <p:sp>
        <p:nvSpPr>
          <p:cNvPr id="13" name="Rectangle 12"/>
          <p:cNvSpPr/>
          <p:nvPr/>
        </p:nvSpPr>
        <p:spPr>
          <a:xfrm>
            <a:off x="1124712" y="3520440"/>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26464" y="350215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FeatureFilm · 29 films</a:t>
            </a:r>
          </a:p>
        </p:txBody>
      </p:sp>
      <p:sp>
        <p:nvSpPr>
          <p:cNvPr id="15" name="Rectangle 14"/>
          <p:cNvSpPr/>
          <p:nvPr/>
        </p:nvSpPr>
        <p:spPr>
          <a:xfrm>
            <a:off x="1124712" y="3886200"/>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26464" y="386791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AnimatedFilm · 1 film</a:t>
            </a:r>
          </a:p>
        </p:txBody>
      </p:sp>
      <p:sp>
        <p:nvSpPr>
          <p:cNvPr id="17" name="Rectangle 16"/>
          <p:cNvSpPr/>
          <p:nvPr/>
        </p:nvSpPr>
        <p:spPr>
          <a:xfrm>
            <a:off x="1124712" y="4251959"/>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26464" y="423367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DocumentaryFilm · 0 films</a:t>
            </a:r>
          </a:p>
        </p:txBody>
      </p:sp>
      <p:sp>
        <p:nvSpPr>
          <p:cNvPr id="19" name="Rectangle 18"/>
          <p:cNvSpPr/>
          <p:nvPr/>
        </p:nvSpPr>
        <p:spPr>
          <a:xfrm>
            <a:off x="1124712" y="4617719"/>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26464" y="4599431"/>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ActionFilm (I)</a:t>
            </a:r>
          </a:p>
        </p:txBody>
      </p:sp>
      <p:sp>
        <p:nvSpPr>
          <p:cNvPr id="21" name="Rectangle 20"/>
          <p:cNvSpPr/>
          <p:nvPr/>
        </p:nvSpPr>
        <p:spPr>
          <a:xfrm>
            <a:off x="1124712" y="4983479"/>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426464" y="496519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ComedyFilm (I)</a:t>
            </a:r>
          </a:p>
        </p:txBody>
      </p:sp>
      <p:sp>
        <p:nvSpPr>
          <p:cNvPr id="23" name="Rectangle 22"/>
          <p:cNvSpPr/>
          <p:nvPr/>
        </p:nvSpPr>
        <p:spPr>
          <a:xfrm>
            <a:off x="1124712" y="5349240"/>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26464" y="533095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DramaFilm (I)</a:t>
            </a:r>
          </a:p>
        </p:txBody>
      </p:sp>
      <p:sp>
        <p:nvSpPr>
          <p:cNvPr id="25" name="Rectangle 24"/>
          <p:cNvSpPr/>
          <p:nvPr/>
        </p:nvSpPr>
        <p:spPr>
          <a:xfrm>
            <a:off x="1124712" y="5715000"/>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426464" y="569671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ScienceFictionFilm (I)</a:t>
            </a:r>
          </a:p>
        </p:txBody>
      </p:sp>
      <p:sp>
        <p:nvSpPr>
          <p:cNvPr id="27" name="Rectangle 26"/>
          <p:cNvSpPr/>
          <p:nvPr/>
        </p:nvSpPr>
        <p:spPr>
          <a:xfrm>
            <a:off x="1124712" y="6080759"/>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426464" y="606247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MultiGenreFilm (I)</a:t>
            </a:r>
          </a:p>
        </p:txBody>
      </p:sp>
      <p:sp>
        <p:nvSpPr>
          <p:cNvPr id="29" name="Rectangle 28"/>
          <p:cNvSpPr/>
          <p:nvPr/>
        </p:nvSpPr>
        <p:spPr>
          <a:xfrm>
            <a:off x="1124712" y="6446519"/>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26464" y="6428231"/>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AwardWinningFilm (I)</a:t>
            </a:r>
          </a:p>
        </p:txBody>
      </p:sp>
      <p:sp>
        <p:nvSpPr>
          <p:cNvPr id="31" name="PHOTO_P01_0"/>
          <p:cNvSpPr/>
          <p:nvPr/>
        </p:nvSpPr>
        <p:spPr>
          <a:xfrm>
            <a:off x="7818120" y="2578608"/>
            <a:ext cx="6080760" cy="4590288"/>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HOTO_P01_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P01</a:t>
            </a:r>
          </a:p>
        </p:txBody>
      </p:sp>
      <p:sp>
        <p:nvSpPr>
          <p:cNvPr id="33" name="PHOTO_P01_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HOTO_P01_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Cây lớp phim</a:t>
            </a:r>
          </a:p>
        </p:txBody>
      </p:sp>
      <p:sp>
        <p:nvSpPr>
          <p:cNvPr id="35" name="PHOTO_P01_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P01_film_hierarchy.png</a:t>
            </a:r>
          </a:p>
        </p:txBody>
      </p:sp>
      <p:sp>
        <p:nvSpPr>
          <p:cNvPr id="36" name="PHOTO_P01_5"/>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Entities </a:t>
            </a:r>
            <a:r>
              <a:rPr>
                <a:latin typeface="Arial Unicode MS"/>
              </a:rPr>
              <a:t>→</a:t>
            </a:r>
            <a:r>
              <a:t> Classes </a:t>
            </a:r>
            <a:r>
              <a:rPr>
                <a:latin typeface="Arial Unicode MS"/>
              </a:rPr>
              <a:t>→</a:t>
            </a:r>
            <a:r>
              <a:t> mở CreativeWork và Film.</a:t>
            </a:r>
          </a:p>
        </p:txBody>
      </p:sp>
      <p:sp>
        <p:nvSpPr>
          <p:cNvPr id="37" name="PHOTO_P01_6"/>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Hiện các lớp con FeatureFilm, AnimatedFilm và nhóm phim.</a:t>
            </a:r>
          </a:p>
        </p:txBody>
      </p:sp>
      <p:sp>
        <p:nvSpPr>
          <p:cNvPr id="38" name="PHOTO_P01_7"/>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Chọn Film; giữ IRI DBpedia và Class Description.</a:t>
            </a:r>
          </a:p>
        </p:txBody>
      </p:sp>
      <p:sp>
        <p:nvSpPr>
          <p:cNvPr id="39" name="PHOTO_P01_8"/>
          <p:cNvSpPr txBox="1"/>
          <p:nvPr/>
        </p:nvSpPr>
        <p:spPr>
          <a:xfrm>
            <a:off x="8046720" y="6830568"/>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
        <p:nvSpPr>
          <p:cNvPr id="40" name="TextBox 39"/>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(I): additional types. FeatureFilm/AnimatedFilm follow P31 mapping; DocumentaryFilm has no sample instances.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R1 · People, organizations and roles</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A person may be both an Actor and a Filmmaker</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08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07 / 24</a:t>
            </a:r>
          </a:p>
        </p:txBody>
      </p:sp>
      <p:sp>
        <p:nvSpPr>
          <p:cNvPr id="9" name="Rounded Rectangle 8"/>
          <p:cNvSpPr/>
          <p:nvPr/>
        </p:nvSpPr>
        <p:spPr>
          <a:xfrm>
            <a:off x="731520" y="2615184"/>
            <a:ext cx="6720840" cy="3291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770632"/>
            <a:ext cx="6208775" cy="393192"/>
          </a:xfrm>
          <a:prstGeom prst="rect">
            <a:avLst/>
          </a:prstGeom>
          <a:noFill/>
        </p:spPr>
        <p:txBody>
          <a:bodyPr wrap="none" lIns="0" rIns="0" tIns="0" bIns="0">
            <a:spAutoFit/>
          </a:bodyPr>
          <a:lstStyle/>
          <a:p>
            <a:pPr>
              <a:lnSpc>
                <a:spcPts val="2304"/>
              </a:lnSpc>
              <a:spcBef>
                <a:spcPts val="0"/>
              </a:spcBef>
              <a:spcAft>
                <a:spcPts val="0"/>
              </a:spcAft>
              <a:defRPr sz="1800" b="1">
                <a:solidFill>
                  <a:srgbClr val="007F82"/>
                </a:solidFill>
                <a:latin typeface="Be Vietnam Pro"/>
              </a:defRPr>
            </a:pPr>
            <a:r>
              <a:t>Agent</a:t>
            </a:r>
          </a:p>
        </p:txBody>
      </p:sp>
      <p:sp>
        <p:nvSpPr>
          <p:cNvPr id="11" name="Rectangle 10"/>
          <p:cNvSpPr/>
          <p:nvPr/>
        </p:nvSpPr>
        <p:spPr>
          <a:xfrm>
            <a:off x="905256" y="3154679"/>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07008" y="3136391"/>
            <a:ext cx="5989319" cy="393192"/>
          </a:xfrm>
          <a:prstGeom prst="rect">
            <a:avLst/>
          </a:prstGeom>
          <a:noFill/>
        </p:spPr>
        <p:txBody>
          <a:bodyPr wrap="none" lIns="0" rIns="0" tIns="0" bIns="0">
            <a:spAutoFit/>
          </a:bodyPr>
          <a:lstStyle/>
          <a:p>
            <a:pPr>
              <a:lnSpc>
                <a:spcPts val="2304"/>
              </a:lnSpc>
              <a:spcBef>
                <a:spcPts val="0"/>
              </a:spcBef>
              <a:spcAft>
                <a:spcPts val="0"/>
              </a:spcAft>
              <a:defRPr sz="1800" b="1">
                <a:solidFill>
                  <a:srgbClr val="152B3A"/>
                </a:solidFill>
                <a:latin typeface="Be Vietnam Pro"/>
              </a:defRPr>
            </a:pPr>
            <a:r>
              <a:t>dbo:Person · 851 people</a:t>
            </a:r>
          </a:p>
        </p:txBody>
      </p:sp>
      <p:sp>
        <p:nvSpPr>
          <p:cNvPr id="13" name="Rectangle 12"/>
          <p:cNvSpPr/>
          <p:nvPr/>
        </p:nvSpPr>
        <p:spPr>
          <a:xfrm>
            <a:off x="1124712" y="3520440"/>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26464" y="350215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Actor (I) · 769</a:t>
            </a:r>
          </a:p>
        </p:txBody>
      </p:sp>
      <p:sp>
        <p:nvSpPr>
          <p:cNvPr id="15" name="Rectangle 14"/>
          <p:cNvSpPr/>
          <p:nvPr/>
        </p:nvSpPr>
        <p:spPr>
          <a:xfrm>
            <a:off x="1124712" y="3886200"/>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26464" y="386791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Filmmaker (I) · 89</a:t>
            </a:r>
          </a:p>
        </p:txBody>
      </p:sp>
      <p:sp>
        <p:nvSpPr>
          <p:cNvPr id="17" name="Rectangle 16"/>
          <p:cNvSpPr/>
          <p:nvPr/>
        </p:nvSpPr>
        <p:spPr>
          <a:xfrm>
            <a:off x="1124712" y="4251959"/>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26464" y="423367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AwardWinner (I) · 290</a:t>
            </a:r>
          </a:p>
        </p:txBody>
      </p:sp>
      <p:sp>
        <p:nvSpPr>
          <p:cNvPr id="19" name="Rectangle 18"/>
          <p:cNvSpPr/>
          <p:nvPr/>
        </p:nvSpPr>
        <p:spPr>
          <a:xfrm>
            <a:off x="905256" y="4617719"/>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07008" y="4599431"/>
            <a:ext cx="5989319" cy="393192"/>
          </a:xfrm>
          <a:prstGeom prst="rect">
            <a:avLst/>
          </a:prstGeom>
          <a:noFill/>
        </p:spPr>
        <p:txBody>
          <a:bodyPr wrap="none" lIns="0" rIns="0" tIns="0" bIns="0">
            <a:spAutoFit/>
          </a:bodyPr>
          <a:lstStyle/>
          <a:p>
            <a:pPr>
              <a:lnSpc>
                <a:spcPts val="2304"/>
              </a:lnSpc>
              <a:spcBef>
                <a:spcPts val="0"/>
              </a:spcBef>
              <a:spcAft>
                <a:spcPts val="0"/>
              </a:spcAft>
              <a:defRPr sz="1800" b="1">
                <a:solidFill>
                  <a:srgbClr val="152B3A"/>
                </a:solidFill>
                <a:latin typeface="Be Vietnam Pro"/>
              </a:defRPr>
            </a:pPr>
            <a:r>
              <a:t>Organization</a:t>
            </a:r>
          </a:p>
        </p:txBody>
      </p:sp>
      <p:sp>
        <p:nvSpPr>
          <p:cNvPr id="21" name="Rectangle 20"/>
          <p:cNvSpPr/>
          <p:nvPr/>
        </p:nvSpPr>
        <p:spPr>
          <a:xfrm>
            <a:off x="1124712" y="4983479"/>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426464" y="4965192"/>
            <a:ext cx="5769863"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ProductionCompany · 45</a:t>
            </a:r>
          </a:p>
        </p:txBody>
      </p:sp>
      <p:sp>
        <p:nvSpPr>
          <p:cNvPr id="23" name="Rectangle 22"/>
          <p:cNvSpPr/>
          <p:nvPr/>
        </p:nvSpPr>
        <p:spPr>
          <a:xfrm>
            <a:off x="1344168" y="5349240"/>
            <a:ext cx="20116" cy="329184"/>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645920" y="5330952"/>
            <a:ext cx="5550407" cy="393192"/>
          </a:xfrm>
          <a:prstGeom prst="rect">
            <a:avLst/>
          </a:prstGeom>
          <a:noFill/>
        </p:spPr>
        <p:txBody>
          <a:bodyPr wrap="none" lIns="0" rIns="0" tIns="0" bIns="0">
            <a:spAutoFit/>
          </a:bodyPr>
          <a:lstStyle/>
          <a:p>
            <a:pPr>
              <a:lnSpc>
                <a:spcPts val="2304"/>
              </a:lnSpc>
              <a:spcBef>
                <a:spcPts val="0"/>
              </a:spcBef>
              <a:spcAft>
                <a:spcPts val="0"/>
              </a:spcAft>
              <a:defRPr sz="1800" b="0">
                <a:solidFill>
                  <a:srgbClr val="152B3A"/>
                </a:solidFill>
                <a:latin typeface="Be Vietnam Pro"/>
              </a:defRPr>
            </a:pPr>
            <a:r>
              <a:t>FilmStudio · 6 by counting; DL: 0</a:t>
            </a:r>
          </a:p>
        </p:txBody>
      </p:sp>
      <p:sp>
        <p:nvSpPr>
          <p:cNvPr id="25" name="PHOTO_P02_0"/>
          <p:cNvSpPr/>
          <p:nvPr/>
        </p:nvSpPr>
        <p:spPr>
          <a:xfrm>
            <a:off x="7818120" y="2578608"/>
            <a:ext cx="6080760" cy="4590288"/>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HOTO_P02_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P02</a:t>
            </a:r>
          </a:p>
        </p:txBody>
      </p:sp>
      <p:sp>
        <p:nvSpPr>
          <p:cNvPr id="27" name="PHOTO_P02_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HOTO_P02_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Cây người và tổ chức</a:t>
            </a:r>
          </a:p>
        </p:txBody>
      </p:sp>
      <p:sp>
        <p:nvSpPr>
          <p:cNvPr id="29" name="PHOTO_P02_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P02_agent_hierarchy.png</a:t>
            </a:r>
          </a:p>
        </p:txBody>
      </p:sp>
      <p:sp>
        <p:nvSpPr>
          <p:cNvPr id="30" name="PHOTO_P02_5"/>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Entities </a:t>
            </a:r>
            <a:r>
              <a:rPr>
                <a:latin typeface="Arial Unicode MS"/>
              </a:rPr>
              <a:t>→</a:t>
            </a:r>
            <a:r>
              <a:t> Classes </a:t>
            </a:r>
            <a:r>
              <a:rPr>
                <a:latin typeface="Arial Unicode MS"/>
              </a:rPr>
              <a:t>→</a:t>
            </a:r>
            <a:r>
              <a:t> mở Agent.</a:t>
            </a:r>
          </a:p>
        </p:txBody>
      </p:sp>
      <p:sp>
        <p:nvSpPr>
          <p:cNvPr id="31" name="PHOTO_P02_6"/>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Mở Person và Organization </a:t>
            </a:r>
            <a:r>
              <a:rPr>
                <a:latin typeface="Arial Unicode MS"/>
              </a:rPr>
              <a:t>→</a:t>
            </a:r>
            <a:r>
              <a:t> ProductionCompany.</a:t>
            </a:r>
          </a:p>
        </p:txBody>
      </p:sp>
      <p:sp>
        <p:nvSpPr>
          <p:cNvPr id="32" name="PHOTO_P02_7"/>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Chọn Person hoặc Filmmaker; giữ cây lớp và Description.</a:t>
            </a:r>
          </a:p>
        </p:txBody>
      </p:sp>
      <p:sp>
        <p:nvSpPr>
          <p:cNvPr id="33" name="PHOTO_P02_8"/>
          <p:cNvSpPr txBox="1"/>
          <p:nvPr/>
        </p:nvSpPr>
        <p:spPr>
          <a:xfrm>
            <a:off x="8046720" y="6830568"/>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
        <p:nvSpPr>
          <p:cNvPr id="34" name="TextBox 33"/>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Person and Organization are different kinds of agent. Actor and Filmmaker may overlap.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R1 · Genres, awards and provenance</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Each branch supports a specific group of questions</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08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08 / 24</a:t>
            </a:r>
          </a:p>
        </p:txBody>
      </p:sp>
      <p:sp>
        <p:nvSpPr>
          <p:cNvPr id="9" name="Rounded Rectangle 8"/>
          <p:cNvSpPr/>
          <p:nvPr/>
        </p:nvSpPr>
        <p:spPr>
          <a:xfrm>
            <a:off x="731520" y="2670048"/>
            <a:ext cx="6720840" cy="2596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825496"/>
            <a:ext cx="6208775" cy="306323"/>
          </a:xfrm>
          <a:prstGeom prst="rect">
            <a:avLst/>
          </a:prstGeom>
          <a:noFill/>
        </p:spPr>
        <p:txBody>
          <a:bodyPr wrap="none" lIns="0" rIns="0" tIns="0" bIns="0">
            <a:spAutoFit/>
          </a:bodyPr>
          <a:lstStyle/>
          <a:p>
            <a:pPr>
              <a:lnSpc>
                <a:spcPts val="2048"/>
              </a:lnSpc>
              <a:spcBef>
                <a:spcPts val="0"/>
              </a:spcBef>
              <a:spcAft>
                <a:spcPts val="0"/>
              </a:spcAft>
              <a:defRPr sz="1600" b="1">
                <a:solidFill>
                  <a:srgbClr val="007F82"/>
                </a:solidFill>
                <a:latin typeface="Be Vietnam Pro"/>
              </a:defRPr>
            </a:pPr>
            <a:r>
              <a:t>Genre</a:t>
            </a:r>
          </a:p>
        </p:txBody>
      </p:sp>
      <p:sp>
        <p:nvSpPr>
          <p:cNvPr id="11" name="Rectangle 10"/>
          <p:cNvSpPr/>
          <p:nvPr/>
        </p:nvSpPr>
        <p:spPr>
          <a:xfrm>
            <a:off x="905256" y="3122676"/>
            <a:ext cx="20116" cy="242316"/>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07008" y="3104388"/>
            <a:ext cx="5989319" cy="306323"/>
          </a:xfrm>
          <a:prstGeom prst="rect">
            <a:avLst/>
          </a:prstGeom>
          <a:noFill/>
        </p:spPr>
        <p:txBody>
          <a:bodyPr wrap="none" lIns="0" rIns="0" tIns="0" bIns="0">
            <a:spAutoFit/>
          </a:bodyPr>
          <a:lstStyle/>
          <a:p>
            <a:pPr>
              <a:lnSpc>
                <a:spcPts val="2048"/>
              </a:lnSpc>
              <a:spcBef>
                <a:spcPts val="0"/>
              </a:spcBef>
              <a:spcAft>
                <a:spcPts val="0"/>
              </a:spcAft>
              <a:defRPr sz="1600" b="1">
                <a:solidFill>
                  <a:srgbClr val="152B3A"/>
                </a:solidFill>
                <a:latin typeface="Be Vietnam Pro"/>
              </a:defRPr>
            </a:pPr>
            <a:r>
              <a:t>FictionGenre</a:t>
            </a:r>
          </a:p>
        </p:txBody>
      </p:sp>
      <p:sp>
        <p:nvSpPr>
          <p:cNvPr id="13" name="Rectangle 12"/>
          <p:cNvSpPr/>
          <p:nvPr/>
        </p:nvSpPr>
        <p:spPr>
          <a:xfrm>
            <a:off x="1124712" y="3401568"/>
            <a:ext cx="20116" cy="242316"/>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26464" y="3383279"/>
            <a:ext cx="5769863" cy="306323"/>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ActionGenre</a:t>
            </a:r>
          </a:p>
        </p:txBody>
      </p:sp>
      <p:sp>
        <p:nvSpPr>
          <p:cNvPr id="15" name="Rectangle 14"/>
          <p:cNvSpPr/>
          <p:nvPr/>
        </p:nvSpPr>
        <p:spPr>
          <a:xfrm>
            <a:off x="1124712" y="3680459"/>
            <a:ext cx="20116" cy="242316"/>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26464" y="3662172"/>
            <a:ext cx="5769863" cy="306323"/>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ComedyGenre</a:t>
            </a:r>
          </a:p>
        </p:txBody>
      </p:sp>
      <p:sp>
        <p:nvSpPr>
          <p:cNvPr id="17" name="Rectangle 16"/>
          <p:cNvSpPr/>
          <p:nvPr/>
        </p:nvSpPr>
        <p:spPr>
          <a:xfrm>
            <a:off x="1124712" y="3959351"/>
            <a:ext cx="20116" cy="242316"/>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26464" y="3941063"/>
            <a:ext cx="5769863" cy="306323"/>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DramaGenre</a:t>
            </a:r>
          </a:p>
        </p:txBody>
      </p:sp>
      <p:sp>
        <p:nvSpPr>
          <p:cNvPr id="19" name="Rectangle 18"/>
          <p:cNvSpPr/>
          <p:nvPr/>
        </p:nvSpPr>
        <p:spPr>
          <a:xfrm>
            <a:off x="1124712" y="4238244"/>
            <a:ext cx="20116" cy="242316"/>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26464" y="4219956"/>
            <a:ext cx="5769863" cy="306323"/>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ScienceFictionGenre</a:t>
            </a:r>
          </a:p>
        </p:txBody>
      </p:sp>
      <p:sp>
        <p:nvSpPr>
          <p:cNvPr id="21" name="Rectangle 20"/>
          <p:cNvSpPr/>
          <p:nvPr/>
        </p:nvSpPr>
        <p:spPr>
          <a:xfrm>
            <a:off x="905256" y="4517136"/>
            <a:ext cx="20116" cy="242316"/>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07008" y="4498848"/>
            <a:ext cx="5989319" cy="306323"/>
          </a:xfrm>
          <a:prstGeom prst="rect">
            <a:avLst/>
          </a:prstGeom>
          <a:noFill/>
        </p:spPr>
        <p:txBody>
          <a:bodyPr wrap="none" lIns="0" rIns="0" tIns="0" bIns="0">
            <a:spAutoFit/>
          </a:bodyPr>
          <a:lstStyle/>
          <a:p>
            <a:pPr>
              <a:lnSpc>
                <a:spcPts val="2048"/>
              </a:lnSpc>
              <a:spcBef>
                <a:spcPts val="0"/>
              </a:spcBef>
              <a:spcAft>
                <a:spcPts val="0"/>
              </a:spcAft>
              <a:defRPr sz="1600" b="1">
                <a:solidFill>
                  <a:srgbClr val="152B3A"/>
                </a:solidFill>
                <a:latin typeface="Be Vietnam Pro"/>
              </a:defRPr>
            </a:pPr>
            <a:r>
              <a:t>NonFictionGenre</a:t>
            </a:r>
          </a:p>
        </p:txBody>
      </p:sp>
      <p:sp>
        <p:nvSpPr>
          <p:cNvPr id="23" name="Rectangle 22"/>
          <p:cNvSpPr/>
          <p:nvPr/>
        </p:nvSpPr>
        <p:spPr>
          <a:xfrm>
            <a:off x="1124712" y="4796027"/>
            <a:ext cx="20116" cy="242316"/>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26464" y="4777740"/>
            <a:ext cx="5769863" cy="306323"/>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DocumentaryGenre</a:t>
            </a:r>
          </a:p>
        </p:txBody>
      </p:sp>
      <p:sp>
        <p:nvSpPr>
          <p:cNvPr id="25" name="Rounded Rectangle 24"/>
          <p:cNvSpPr/>
          <p:nvPr/>
        </p:nvSpPr>
        <p:spPr>
          <a:xfrm>
            <a:off x="731520" y="5367528"/>
            <a:ext cx="6720840" cy="1760219"/>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5522976"/>
            <a:ext cx="6208775" cy="306323"/>
          </a:xfrm>
          <a:prstGeom prst="rect">
            <a:avLst/>
          </a:prstGeom>
          <a:noFill/>
        </p:spPr>
        <p:txBody>
          <a:bodyPr wrap="none" lIns="0" rIns="0" tIns="0" bIns="0">
            <a:spAutoFit/>
          </a:bodyPr>
          <a:lstStyle/>
          <a:p>
            <a:pPr>
              <a:lnSpc>
                <a:spcPts val="2048"/>
              </a:lnSpc>
              <a:spcBef>
                <a:spcPts val="0"/>
              </a:spcBef>
              <a:spcAft>
                <a:spcPts val="0"/>
              </a:spcAft>
              <a:defRPr sz="1600" b="1">
                <a:solidFill>
                  <a:srgbClr val="007F82"/>
                </a:solidFill>
                <a:latin typeface="Be Vietnam Pro"/>
              </a:defRPr>
            </a:pPr>
            <a:r>
              <a:t>Award</a:t>
            </a:r>
          </a:p>
        </p:txBody>
      </p:sp>
      <p:sp>
        <p:nvSpPr>
          <p:cNvPr id="27" name="Rectangle 26"/>
          <p:cNvSpPr/>
          <p:nvPr/>
        </p:nvSpPr>
        <p:spPr>
          <a:xfrm>
            <a:off x="905256" y="5820155"/>
            <a:ext cx="20116" cy="242316"/>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07008" y="5801868"/>
            <a:ext cx="5989319" cy="306323"/>
          </a:xfrm>
          <a:prstGeom prst="rect">
            <a:avLst/>
          </a:prstGeom>
          <a:noFill/>
        </p:spPr>
        <p:txBody>
          <a:bodyPr wrap="none" lIns="0" rIns="0" tIns="0" bIns="0">
            <a:spAutoFit/>
          </a:bodyPr>
          <a:lstStyle/>
          <a:p>
            <a:pPr>
              <a:lnSpc>
                <a:spcPts val="2048"/>
              </a:lnSpc>
              <a:spcBef>
                <a:spcPts val="0"/>
              </a:spcBef>
              <a:spcAft>
                <a:spcPts val="0"/>
              </a:spcAft>
              <a:defRPr sz="1600" b="1">
                <a:solidFill>
                  <a:srgbClr val="152B3A"/>
                </a:solidFill>
                <a:latin typeface="Be Vietnam Pro"/>
              </a:defRPr>
            </a:pPr>
            <a:r>
              <a:t>FilmAward</a:t>
            </a:r>
          </a:p>
        </p:txBody>
      </p:sp>
      <p:sp>
        <p:nvSpPr>
          <p:cNvPr id="29" name="Rectangle 28"/>
          <p:cNvSpPr/>
          <p:nvPr/>
        </p:nvSpPr>
        <p:spPr>
          <a:xfrm>
            <a:off x="905256" y="6099048"/>
            <a:ext cx="20116" cy="242316"/>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07008" y="6080760"/>
            <a:ext cx="5989319" cy="306323"/>
          </a:xfrm>
          <a:prstGeom prst="rect">
            <a:avLst/>
          </a:prstGeom>
          <a:noFill/>
        </p:spPr>
        <p:txBody>
          <a:bodyPr wrap="none" lIns="0" rIns="0" tIns="0" bIns="0">
            <a:spAutoFit/>
          </a:bodyPr>
          <a:lstStyle/>
          <a:p>
            <a:pPr>
              <a:lnSpc>
                <a:spcPts val="2048"/>
              </a:lnSpc>
              <a:spcBef>
                <a:spcPts val="0"/>
              </a:spcBef>
              <a:spcAft>
                <a:spcPts val="0"/>
              </a:spcAft>
              <a:defRPr sz="1600" b="1">
                <a:solidFill>
                  <a:srgbClr val="152B3A"/>
                </a:solidFill>
                <a:latin typeface="Be Vietnam Pro"/>
              </a:defRPr>
            </a:pPr>
            <a:r>
              <a:t>ActingAward</a:t>
            </a:r>
          </a:p>
        </p:txBody>
      </p:sp>
      <p:sp>
        <p:nvSpPr>
          <p:cNvPr id="31" name="Rectangle 30"/>
          <p:cNvSpPr/>
          <p:nvPr/>
        </p:nvSpPr>
        <p:spPr>
          <a:xfrm>
            <a:off x="905256" y="6377940"/>
            <a:ext cx="20116" cy="242316"/>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07008" y="6359652"/>
            <a:ext cx="5989319" cy="306323"/>
          </a:xfrm>
          <a:prstGeom prst="rect">
            <a:avLst/>
          </a:prstGeom>
          <a:noFill/>
        </p:spPr>
        <p:txBody>
          <a:bodyPr wrap="none" lIns="0" rIns="0" tIns="0" bIns="0">
            <a:spAutoFit/>
          </a:bodyPr>
          <a:lstStyle/>
          <a:p>
            <a:pPr>
              <a:lnSpc>
                <a:spcPts val="2048"/>
              </a:lnSpc>
              <a:spcBef>
                <a:spcPts val="0"/>
              </a:spcBef>
              <a:spcAft>
                <a:spcPts val="0"/>
              </a:spcAft>
              <a:defRPr sz="1600" b="1">
                <a:solidFill>
                  <a:srgbClr val="152B3A"/>
                </a:solidFill>
                <a:latin typeface="Be Vietnam Pro"/>
              </a:defRPr>
            </a:pPr>
            <a:r>
              <a:t>DirectingAward</a:t>
            </a:r>
          </a:p>
        </p:txBody>
      </p:sp>
      <p:sp>
        <p:nvSpPr>
          <p:cNvPr id="33" name="Rectangle 32"/>
          <p:cNvSpPr/>
          <p:nvPr/>
        </p:nvSpPr>
        <p:spPr>
          <a:xfrm>
            <a:off x="905256" y="6656831"/>
            <a:ext cx="20116" cy="242316"/>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07008" y="6638544"/>
            <a:ext cx="5989319" cy="306323"/>
          </a:xfrm>
          <a:prstGeom prst="rect">
            <a:avLst/>
          </a:prstGeom>
          <a:noFill/>
        </p:spPr>
        <p:txBody>
          <a:bodyPr wrap="none" lIns="0" rIns="0" tIns="0" bIns="0">
            <a:spAutoFit/>
          </a:bodyPr>
          <a:lstStyle/>
          <a:p>
            <a:pPr>
              <a:lnSpc>
                <a:spcPts val="2048"/>
              </a:lnSpc>
              <a:spcBef>
                <a:spcPts val="0"/>
              </a:spcBef>
              <a:spcAft>
                <a:spcPts val="0"/>
              </a:spcAft>
              <a:defRPr sz="1600" b="1">
                <a:solidFill>
                  <a:srgbClr val="152B3A"/>
                </a:solidFill>
                <a:latin typeface="Be Vietnam Pro"/>
              </a:defRPr>
            </a:pPr>
            <a:r>
              <a:t>WritingAward</a:t>
            </a:r>
          </a:p>
        </p:txBody>
      </p:sp>
      <p:sp>
        <p:nvSpPr>
          <p:cNvPr id="35" name="PHOTO_P03_0"/>
          <p:cNvSpPr/>
          <p:nvPr/>
        </p:nvSpPr>
        <p:spPr>
          <a:xfrm>
            <a:off x="7818120" y="2578608"/>
            <a:ext cx="6080760" cy="4590288"/>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HOTO_P03_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P03</a:t>
            </a:r>
          </a:p>
        </p:txBody>
      </p:sp>
      <p:sp>
        <p:nvSpPr>
          <p:cNvPr id="37" name="PHOTO_P03_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HOTO_P03_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Cây Genre và Award</a:t>
            </a:r>
          </a:p>
        </p:txBody>
      </p:sp>
      <p:sp>
        <p:nvSpPr>
          <p:cNvPr id="39" name="PHOTO_P03_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P03_genre_award_hierarchy.png</a:t>
            </a:r>
          </a:p>
        </p:txBody>
      </p:sp>
      <p:sp>
        <p:nvSpPr>
          <p:cNvPr id="40" name="PHOTO_P03_5"/>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Thu gọn Film/Agent để ảnh dễ đọc.</a:t>
            </a:r>
          </a:p>
        </p:txBody>
      </p:sp>
      <p:sp>
        <p:nvSpPr>
          <p:cNvPr id="41" name="PHOTO_P03_6"/>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Mở Genre </a:t>
            </a:r>
            <a:r>
              <a:rPr>
                <a:latin typeface="Arial Unicode MS"/>
              </a:rPr>
              <a:t>→</a:t>
            </a:r>
            <a:r>
              <a:t> FictionGenre / NonFictionGenre và Award.</a:t>
            </a:r>
          </a:p>
        </p:txBody>
      </p:sp>
      <p:sp>
        <p:nvSpPr>
          <p:cNvPr id="42" name="PHOTO_P03_7"/>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Hiện các lớp thể loại và nhóm giải; giữ Class Description.</a:t>
            </a:r>
          </a:p>
        </p:txBody>
      </p:sp>
      <p:sp>
        <p:nvSpPr>
          <p:cNvPr id="43" name="PHOTO_P03_8"/>
          <p:cNvSpPr txBox="1"/>
          <p:nvPr/>
        </p:nvSpPr>
        <p:spPr>
          <a:xfrm>
            <a:off x="8046720" y="6830568"/>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
        <p:nvSpPr>
          <p:cNvPr id="44" name="TextBox 43"/>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Supporting classes: dbo:Country · Language · SourceSnapshot · Dataset. Group mapping uses label keywords.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R1 · Contribution: who did what in a film?</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One record connects exactly one person, one film and one role</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08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09 / 24</a:t>
            </a:r>
          </a:p>
        </p:txBody>
      </p:sp>
      <p:sp>
        <p:nvSpPr>
          <p:cNvPr id="9" name="Rounded Rectangle 8"/>
          <p:cNvSpPr/>
          <p:nvPr/>
        </p:nvSpPr>
        <p:spPr>
          <a:xfrm>
            <a:off x="777240" y="2706624"/>
            <a:ext cx="2148840" cy="694944"/>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834640"/>
            <a:ext cx="1819656" cy="512064"/>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Nolan</a:t>
            </a:r>
          </a:p>
        </p:txBody>
      </p:sp>
      <p:sp>
        <p:nvSpPr>
          <p:cNvPr id="11" name="TextBox 10"/>
          <p:cNvSpPr txBox="1"/>
          <p:nvPr/>
        </p:nvSpPr>
        <p:spPr>
          <a:xfrm>
            <a:off x="3154680" y="2734056"/>
            <a:ext cx="1005840" cy="457200"/>
          </a:xfrm>
          <a:prstGeom prst="rect">
            <a:avLst/>
          </a:prstGeom>
          <a:noFill/>
        </p:spPr>
        <p:txBody>
          <a:bodyPr wrap="none" lIns="0" rIns="0" tIns="0" bIns="0">
            <a:spAutoFit/>
          </a:bodyPr>
          <a:lstStyle/>
          <a:p>
            <a:pPr>
              <a:lnSpc>
                <a:spcPts val="3328"/>
              </a:lnSpc>
              <a:spcBef>
                <a:spcPts val="0"/>
              </a:spcBef>
              <a:spcAft>
                <a:spcPts val="0"/>
              </a:spcAft>
              <a:defRPr sz="2600" b="1">
                <a:solidFill>
                  <a:srgbClr val="007F82"/>
                </a:solidFill>
                <a:latin typeface="Be Vietnam Pro"/>
              </a:defRPr>
            </a:pPr>
            <a:r>
              <a:rPr>
                <a:latin typeface="Arial Unicode MS"/>
              </a:rPr>
              <a:t>→</a:t>
            </a:r>
          </a:p>
        </p:txBody>
      </p:sp>
      <p:sp>
        <p:nvSpPr>
          <p:cNvPr id="12" name="TextBox 11"/>
          <p:cNvSpPr txBox="1"/>
          <p:nvPr/>
        </p:nvSpPr>
        <p:spPr>
          <a:xfrm>
            <a:off x="3017520" y="3191256"/>
            <a:ext cx="1371600" cy="548640"/>
          </a:xfrm>
          <a:prstGeom prst="rect">
            <a:avLst/>
          </a:prstGeom>
          <a:noFill/>
        </p:spPr>
        <p:txBody>
          <a:bodyPr wrap="none" lIns="0" rIns="0" tIns="0" bIns="0">
            <a:spAutoFit/>
          </a:bodyPr>
          <a:lstStyle/>
          <a:p>
            <a:pPr>
              <a:lnSpc>
                <a:spcPts val="1408"/>
              </a:lnSpc>
              <a:spcBef>
                <a:spcPts val="0"/>
              </a:spcBef>
              <a:spcAft>
                <a:spcPts val="0"/>
              </a:spcAft>
              <a:defRPr sz="1100" b="0">
                <a:solidFill>
                  <a:srgbClr val="506776"/>
                </a:solidFill>
                <a:latin typeface="Be Vietnam Pro"/>
              </a:defRPr>
            </a:pPr>
            <a:r>
              <a:t>hasContribution</a:t>
            </a:r>
          </a:p>
        </p:txBody>
      </p:sp>
      <p:sp>
        <p:nvSpPr>
          <p:cNvPr id="13" name="Rounded Rectangle 12"/>
          <p:cNvSpPr/>
          <p:nvPr/>
        </p:nvSpPr>
        <p:spPr>
          <a:xfrm>
            <a:off x="4315968" y="2706624"/>
            <a:ext cx="3063240" cy="694944"/>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59" y="2834640"/>
            <a:ext cx="2734056" cy="512064"/>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Contribution</a:t>
            </a:r>
          </a:p>
        </p:txBody>
      </p:sp>
      <p:sp>
        <p:nvSpPr>
          <p:cNvPr id="15" name="Rounded Rectangle 14"/>
          <p:cNvSpPr/>
          <p:nvPr/>
        </p:nvSpPr>
        <p:spPr>
          <a:xfrm>
            <a:off x="777240" y="3767328"/>
            <a:ext cx="2148840" cy="694944"/>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1832" y="3895344"/>
            <a:ext cx="1819656" cy="512064"/>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Contribution</a:t>
            </a:r>
          </a:p>
        </p:txBody>
      </p:sp>
      <p:sp>
        <p:nvSpPr>
          <p:cNvPr id="17" name="TextBox 16"/>
          <p:cNvSpPr txBox="1"/>
          <p:nvPr/>
        </p:nvSpPr>
        <p:spPr>
          <a:xfrm>
            <a:off x="3154680" y="3794760"/>
            <a:ext cx="1005840" cy="457200"/>
          </a:xfrm>
          <a:prstGeom prst="rect">
            <a:avLst/>
          </a:prstGeom>
          <a:noFill/>
        </p:spPr>
        <p:txBody>
          <a:bodyPr wrap="none" lIns="0" rIns="0" tIns="0" bIns="0">
            <a:spAutoFit/>
          </a:bodyPr>
          <a:lstStyle/>
          <a:p>
            <a:pPr>
              <a:lnSpc>
                <a:spcPts val="3328"/>
              </a:lnSpc>
              <a:spcBef>
                <a:spcPts val="0"/>
              </a:spcBef>
              <a:spcAft>
                <a:spcPts val="0"/>
              </a:spcAft>
              <a:defRPr sz="2600" b="1">
                <a:solidFill>
                  <a:srgbClr val="007F82"/>
                </a:solidFill>
                <a:latin typeface="Be Vietnam Pro"/>
              </a:defRPr>
            </a:pPr>
            <a:r>
              <a:rPr>
                <a:latin typeface="Arial Unicode MS"/>
              </a:rPr>
              <a:t>→</a:t>
            </a:r>
          </a:p>
        </p:txBody>
      </p:sp>
      <p:sp>
        <p:nvSpPr>
          <p:cNvPr id="18" name="TextBox 17"/>
          <p:cNvSpPr txBox="1"/>
          <p:nvPr/>
        </p:nvSpPr>
        <p:spPr>
          <a:xfrm>
            <a:off x="3017520" y="4251960"/>
            <a:ext cx="1371600" cy="548640"/>
          </a:xfrm>
          <a:prstGeom prst="rect">
            <a:avLst/>
          </a:prstGeom>
          <a:noFill/>
        </p:spPr>
        <p:txBody>
          <a:bodyPr wrap="none" lIns="0" rIns="0" tIns="0" bIns="0">
            <a:spAutoFit/>
          </a:bodyPr>
          <a:lstStyle/>
          <a:p>
            <a:pPr>
              <a:lnSpc>
                <a:spcPts val="1408"/>
              </a:lnSpc>
              <a:spcBef>
                <a:spcPts val="0"/>
              </a:spcBef>
              <a:spcAft>
                <a:spcPts val="0"/>
              </a:spcAft>
              <a:defRPr sz="1100" b="0">
                <a:solidFill>
                  <a:srgbClr val="506776"/>
                </a:solidFill>
                <a:latin typeface="Be Vietnam Pro"/>
              </a:defRPr>
            </a:pPr>
            <a:r>
              <a:t>contributionTo</a:t>
            </a:r>
          </a:p>
        </p:txBody>
      </p:sp>
      <p:sp>
        <p:nvSpPr>
          <p:cNvPr id="19" name="Rounded Rectangle 18"/>
          <p:cNvSpPr/>
          <p:nvPr/>
        </p:nvSpPr>
        <p:spPr>
          <a:xfrm>
            <a:off x="4315968" y="3767328"/>
            <a:ext cx="3063240" cy="694944"/>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59" y="3895344"/>
            <a:ext cx="2734056" cy="512064"/>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Inception · Film</a:t>
            </a:r>
          </a:p>
        </p:txBody>
      </p:sp>
      <p:sp>
        <p:nvSpPr>
          <p:cNvPr id="21" name="Rounded Rectangle 20"/>
          <p:cNvSpPr/>
          <p:nvPr/>
        </p:nvSpPr>
        <p:spPr>
          <a:xfrm>
            <a:off x="777240" y="4828031"/>
            <a:ext cx="2148840" cy="694944"/>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1832" y="4956047"/>
            <a:ext cx="1819656" cy="512064"/>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Contribution</a:t>
            </a:r>
          </a:p>
        </p:txBody>
      </p:sp>
      <p:sp>
        <p:nvSpPr>
          <p:cNvPr id="23" name="TextBox 22"/>
          <p:cNvSpPr txBox="1"/>
          <p:nvPr/>
        </p:nvSpPr>
        <p:spPr>
          <a:xfrm>
            <a:off x="3154680" y="4855464"/>
            <a:ext cx="1005840" cy="457200"/>
          </a:xfrm>
          <a:prstGeom prst="rect">
            <a:avLst/>
          </a:prstGeom>
          <a:noFill/>
        </p:spPr>
        <p:txBody>
          <a:bodyPr wrap="none" lIns="0" rIns="0" tIns="0" bIns="0">
            <a:spAutoFit/>
          </a:bodyPr>
          <a:lstStyle/>
          <a:p>
            <a:pPr>
              <a:lnSpc>
                <a:spcPts val="3328"/>
              </a:lnSpc>
              <a:spcBef>
                <a:spcPts val="0"/>
              </a:spcBef>
              <a:spcAft>
                <a:spcPts val="0"/>
              </a:spcAft>
              <a:defRPr sz="2600" b="1">
                <a:solidFill>
                  <a:srgbClr val="007F82"/>
                </a:solidFill>
                <a:latin typeface="Be Vietnam Pro"/>
              </a:defRPr>
            </a:pPr>
            <a:r>
              <a:rPr>
                <a:latin typeface="Arial Unicode MS"/>
              </a:rPr>
              <a:t>→</a:t>
            </a:r>
          </a:p>
        </p:txBody>
      </p:sp>
      <p:sp>
        <p:nvSpPr>
          <p:cNvPr id="24" name="TextBox 23"/>
          <p:cNvSpPr txBox="1"/>
          <p:nvPr/>
        </p:nvSpPr>
        <p:spPr>
          <a:xfrm>
            <a:off x="3017520" y="5312664"/>
            <a:ext cx="1371600" cy="548640"/>
          </a:xfrm>
          <a:prstGeom prst="rect">
            <a:avLst/>
          </a:prstGeom>
          <a:noFill/>
        </p:spPr>
        <p:txBody>
          <a:bodyPr wrap="none" lIns="0" rIns="0" tIns="0" bIns="0">
            <a:spAutoFit/>
          </a:bodyPr>
          <a:lstStyle/>
          <a:p>
            <a:pPr>
              <a:lnSpc>
                <a:spcPts val="1408"/>
              </a:lnSpc>
              <a:spcBef>
                <a:spcPts val="0"/>
              </a:spcBef>
              <a:spcAft>
                <a:spcPts val="0"/>
              </a:spcAft>
              <a:defRPr sz="1100" b="0">
                <a:solidFill>
                  <a:srgbClr val="506776"/>
                </a:solidFill>
                <a:latin typeface="Be Vietnam Pro"/>
              </a:defRPr>
            </a:pPr>
            <a:r>
              <a:t>hasRole</a:t>
            </a:r>
          </a:p>
        </p:txBody>
      </p:sp>
      <p:sp>
        <p:nvSpPr>
          <p:cNvPr id="25" name="Rounded Rectangle 24"/>
          <p:cNvSpPr/>
          <p:nvPr/>
        </p:nvSpPr>
        <p:spPr>
          <a:xfrm>
            <a:off x="4315968" y="4828031"/>
            <a:ext cx="3063240" cy="694944"/>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80559" y="4956047"/>
            <a:ext cx="2734056" cy="512064"/>
          </a:xfrm>
          <a:prstGeom prst="rect">
            <a:avLst/>
          </a:prstGeom>
          <a:noFill/>
        </p:spPr>
        <p:txBody>
          <a:bodyPr wrap="none" lIns="0" rIns="0" tIns="0" bIns="0">
            <a:spAutoFit/>
          </a:bodyPr>
          <a:lstStyle/>
          <a:p>
            <a:pPr>
              <a:lnSpc>
                <a:spcPts val="2304"/>
              </a:lnSpc>
              <a:spcBef>
                <a:spcPts val="0"/>
              </a:spcBef>
              <a:spcAft>
                <a:spcPts val="0"/>
              </a:spcAft>
              <a:defRPr sz="1800" b="1">
                <a:solidFill>
                  <a:srgbClr val="FFFFFF"/>
                </a:solidFill>
                <a:latin typeface="Be Vietnam Pro"/>
              </a:defRPr>
            </a:pPr>
            <a:r>
              <a:t>DirectorRole</a:t>
            </a:r>
          </a:p>
        </p:txBody>
      </p:sp>
      <p:sp>
        <p:nvSpPr>
          <p:cNvPr id="27" name="Rounded Rectangle 26"/>
          <p:cNvSpPr/>
          <p:nvPr/>
        </p:nvSpPr>
        <p:spPr>
          <a:xfrm>
            <a:off x="777240" y="6044184"/>
            <a:ext cx="672084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6044184"/>
            <a:ext cx="41148" cy="11430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7552" y="6190488"/>
            <a:ext cx="630021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Each role has its own record</a:t>
            </a:r>
          </a:p>
        </p:txBody>
      </p:sp>
      <p:sp>
        <p:nvSpPr>
          <p:cNvPr id="30" name="TextBox 29"/>
          <p:cNvSpPr txBox="1"/>
          <p:nvPr/>
        </p:nvSpPr>
        <p:spPr>
          <a:xfrm>
            <a:off x="987552" y="6634480"/>
            <a:ext cx="6300216" cy="470408"/>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Director / Actor / Writer / Producer. Nolan has 3 roles in</a:t>
            </a:r>
          </a:p>
          <a:p>
            <a:pPr>
              <a:lnSpc>
                <a:spcPts val="2048"/>
              </a:lnSpc>
              <a:spcBef>
                <a:spcPts val="0"/>
              </a:spcBef>
              <a:spcAft>
                <a:spcPts val="0"/>
              </a:spcAft>
              <a:defRPr sz="1600" b="0">
                <a:solidFill>
                  <a:srgbClr val="506776"/>
                </a:solidFill>
                <a:latin typeface="Be Vietnam Pro"/>
              </a:defRPr>
            </a:pPr>
            <a:r>
              <a:t>Inception.</a:t>
            </a:r>
          </a:p>
        </p:txBody>
      </p:sp>
      <p:sp>
        <p:nvSpPr>
          <p:cNvPr id="31" name="PHOTO_P04_0"/>
          <p:cNvSpPr/>
          <p:nvPr/>
        </p:nvSpPr>
        <p:spPr>
          <a:xfrm>
            <a:off x="7818120" y="2578608"/>
            <a:ext cx="6080760" cy="4590288"/>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HOTO_P04_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P04</a:t>
            </a:r>
          </a:p>
        </p:txBody>
      </p:sp>
      <p:sp>
        <p:nvSpPr>
          <p:cNvPr id="33" name="PHOTO_P04_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HOTO_P04_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Ràng buộc của Contribution</a:t>
            </a:r>
          </a:p>
        </p:txBody>
      </p:sp>
      <p:sp>
        <p:nvSpPr>
          <p:cNvPr id="35" name="PHOTO_P04_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P04_contribution_restrictions.png</a:t>
            </a:r>
          </a:p>
        </p:txBody>
      </p:sp>
      <p:sp>
        <p:nvSpPr>
          <p:cNvPr id="36" name="PHOTO_P04_5"/>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Entities </a:t>
            </a:r>
            <a:r>
              <a:rPr>
                <a:latin typeface="Arial Unicode MS"/>
              </a:rPr>
              <a:t>→</a:t>
            </a:r>
            <a:r>
              <a:t> Classes </a:t>
            </a:r>
            <a:r>
              <a:rPr>
                <a:latin typeface="Arial Unicode MS"/>
              </a:rPr>
              <a:t>→</a:t>
            </a:r>
            <a:r>
              <a:t> chọn Contribution.</a:t>
            </a:r>
          </a:p>
        </p:txBody>
      </p:sp>
      <p:sp>
        <p:nvSpPr>
          <p:cNvPr id="37" name="PHOTO_P04_6"/>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Trong Class Description, mở đủ SubClass Of.</a:t>
            </a:r>
          </a:p>
        </p:txBody>
      </p:sp>
      <p:sp>
        <p:nvSpPr>
          <p:cNvPr id="38" name="PHOTO_P04_7"/>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Hiện contributionBy / contributionTo / hasRole: exactly 1.</a:t>
            </a:r>
          </a:p>
        </p:txBody>
      </p:sp>
      <p:sp>
        <p:nvSpPr>
          <p:cNvPr id="39" name="PHOTO_P04_8"/>
          <p:cNvSpPr txBox="1"/>
          <p:nvPr/>
        </p:nvSpPr>
        <p:spPr>
          <a:xfrm>
            <a:off x="8046720" y="6830568"/>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R1 · Properties, domain/range and inverses</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23 object properties · selected central relationships</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08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10 / 24</a:t>
            </a:r>
          </a:p>
        </p:txBody>
      </p:sp>
      <p:sp>
        <p:nvSpPr>
          <p:cNvPr id="9" name="Rectangle 8"/>
          <p:cNvSpPr/>
          <p:nvPr/>
        </p:nvSpPr>
        <p:spPr>
          <a:xfrm>
            <a:off x="731520" y="2679192"/>
            <a:ext cx="6812280" cy="39319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752344"/>
            <a:ext cx="1792224" cy="301752"/>
          </a:xfrm>
          <a:prstGeom prst="rect">
            <a:avLst/>
          </a:prstGeom>
          <a:noFill/>
        </p:spPr>
        <p:txBody>
          <a:bodyPr wrap="none" lIns="0" rIns="0" tIns="0" bIns="0">
            <a:spAutoFit/>
          </a:bodyPr>
          <a:lstStyle/>
          <a:p>
            <a:pPr>
              <a:lnSpc>
                <a:spcPts val="1792"/>
              </a:lnSpc>
              <a:spcBef>
                <a:spcPts val="0"/>
              </a:spcBef>
              <a:spcAft>
                <a:spcPts val="0"/>
              </a:spcAft>
              <a:defRPr sz="1400" b="1">
                <a:solidFill>
                  <a:srgbClr val="FFFFFF"/>
                </a:solidFill>
                <a:latin typeface="Be Vietnam Pro"/>
              </a:defRPr>
            </a:pPr>
            <a:r>
              <a:t>Property</a:t>
            </a:r>
          </a:p>
        </p:txBody>
      </p:sp>
      <p:sp>
        <p:nvSpPr>
          <p:cNvPr id="11" name="TextBox 10"/>
          <p:cNvSpPr txBox="1"/>
          <p:nvPr/>
        </p:nvSpPr>
        <p:spPr>
          <a:xfrm>
            <a:off x="2852928" y="2752344"/>
            <a:ext cx="2642615" cy="301752"/>
          </a:xfrm>
          <a:prstGeom prst="rect">
            <a:avLst/>
          </a:prstGeom>
          <a:noFill/>
        </p:spPr>
        <p:txBody>
          <a:bodyPr wrap="none" lIns="0" rIns="0" tIns="0" bIns="0">
            <a:spAutoFit/>
          </a:bodyPr>
          <a:lstStyle/>
          <a:p>
            <a:pPr>
              <a:lnSpc>
                <a:spcPts val="1792"/>
              </a:lnSpc>
              <a:spcBef>
                <a:spcPts val="0"/>
              </a:spcBef>
              <a:spcAft>
                <a:spcPts val="0"/>
              </a:spcAft>
              <a:defRPr sz="1400" b="1">
                <a:solidFill>
                  <a:srgbClr val="FFFFFF"/>
                </a:solidFill>
                <a:latin typeface="Be Vietnam Pro"/>
              </a:defRPr>
            </a:pPr>
            <a:r>
              <a:t>Domain </a:t>
            </a:r>
            <a:r>
              <a:rPr>
                <a:latin typeface="Arial Unicode MS"/>
              </a:rPr>
              <a:t>→</a:t>
            </a:r>
            <a:r>
              <a:t> range</a:t>
            </a:r>
          </a:p>
        </p:txBody>
      </p:sp>
      <p:sp>
        <p:nvSpPr>
          <p:cNvPr id="12" name="TextBox 11"/>
          <p:cNvSpPr txBox="1"/>
          <p:nvPr/>
        </p:nvSpPr>
        <p:spPr>
          <a:xfrm>
            <a:off x="5715000" y="2752344"/>
            <a:ext cx="1719072" cy="301752"/>
          </a:xfrm>
          <a:prstGeom prst="rect">
            <a:avLst/>
          </a:prstGeom>
          <a:noFill/>
        </p:spPr>
        <p:txBody>
          <a:bodyPr wrap="none" lIns="0" rIns="0" tIns="0" bIns="0">
            <a:spAutoFit/>
          </a:bodyPr>
          <a:lstStyle/>
          <a:p>
            <a:pPr>
              <a:lnSpc>
                <a:spcPts val="1792"/>
              </a:lnSpc>
              <a:spcBef>
                <a:spcPts val="0"/>
              </a:spcBef>
              <a:spcAft>
                <a:spcPts val="0"/>
              </a:spcAft>
              <a:defRPr sz="1400" b="1">
                <a:solidFill>
                  <a:srgbClr val="FFFFFF"/>
                </a:solidFill>
                <a:latin typeface="Be Vietnam Pro"/>
              </a:defRPr>
            </a:pPr>
            <a:r>
              <a:t>Inverse</a:t>
            </a:r>
          </a:p>
        </p:txBody>
      </p:sp>
      <p:sp>
        <p:nvSpPr>
          <p:cNvPr id="13" name="Rectangle 12"/>
          <p:cNvSpPr/>
          <p:nvPr/>
        </p:nvSpPr>
        <p:spPr>
          <a:xfrm>
            <a:off x="731520" y="3072384"/>
            <a:ext cx="6812280" cy="4389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3131820"/>
            <a:ext cx="1792224"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contributionBy</a:t>
            </a:r>
          </a:p>
        </p:txBody>
      </p:sp>
      <p:sp>
        <p:nvSpPr>
          <p:cNvPr id="15" name="TextBox 14"/>
          <p:cNvSpPr txBox="1"/>
          <p:nvPr/>
        </p:nvSpPr>
        <p:spPr>
          <a:xfrm>
            <a:off x="2852928" y="3131820"/>
            <a:ext cx="2642615"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Contribution </a:t>
            </a:r>
            <a:r>
              <a:rPr>
                <a:latin typeface="Arial Unicode MS"/>
              </a:rPr>
              <a:t>→</a:t>
            </a:r>
            <a:r>
              <a:t> Person</a:t>
            </a:r>
          </a:p>
        </p:txBody>
      </p:sp>
      <p:sp>
        <p:nvSpPr>
          <p:cNvPr id="16" name="TextBox 15"/>
          <p:cNvSpPr txBox="1"/>
          <p:nvPr/>
        </p:nvSpPr>
        <p:spPr>
          <a:xfrm>
            <a:off x="5715000" y="3131820"/>
            <a:ext cx="1719072"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hasContribution</a:t>
            </a:r>
          </a:p>
        </p:txBody>
      </p:sp>
      <p:sp>
        <p:nvSpPr>
          <p:cNvPr id="17" name="Rectangle 16"/>
          <p:cNvSpPr/>
          <p:nvPr/>
        </p:nvSpPr>
        <p:spPr>
          <a:xfrm>
            <a:off x="731520" y="3511296"/>
            <a:ext cx="6812280" cy="4389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3570732"/>
            <a:ext cx="1792224"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contributionTo</a:t>
            </a:r>
          </a:p>
        </p:txBody>
      </p:sp>
      <p:sp>
        <p:nvSpPr>
          <p:cNvPr id="19" name="TextBox 18"/>
          <p:cNvSpPr txBox="1"/>
          <p:nvPr/>
        </p:nvSpPr>
        <p:spPr>
          <a:xfrm>
            <a:off x="2852928" y="3570732"/>
            <a:ext cx="2642615"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Contribution </a:t>
            </a:r>
            <a:r>
              <a:rPr>
                <a:latin typeface="Arial Unicode MS"/>
              </a:rPr>
              <a:t>→</a:t>
            </a:r>
            <a:r>
              <a:t> Film</a:t>
            </a:r>
          </a:p>
        </p:txBody>
      </p:sp>
      <p:sp>
        <p:nvSpPr>
          <p:cNvPr id="20" name="TextBox 19"/>
          <p:cNvSpPr txBox="1"/>
          <p:nvPr/>
        </p:nvSpPr>
        <p:spPr>
          <a:xfrm>
            <a:off x="5715000" y="3570732"/>
            <a:ext cx="1719072"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contributionOf</a:t>
            </a:r>
          </a:p>
        </p:txBody>
      </p:sp>
      <p:sp>
        <p:nvSpPr>
          <p:cNvPr id="21" name="Rectangle 20"/>
          <p:cNvSpPr/>
          <p:nvPr/>
        </p:nvSpPr>
        <p:spPr>
          <a:xfrm>
            <a:off x="731520" y="3950208"/>
            <a:ext cx="6812280" cy="4389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4009644"/>
            <a:ext cx="1792224"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hasRole</a:t>
            </a:r>
          </a:p>
        </p:txBody>
      </p:sp>
      <p:sp>
        <p:nvSpPr>
          <p:cNvPr id="23" name="TextBox 22"/>
          <p:cNvSpPr txBox="1"/>
          <p:nvPr/>
        </p:nvSpPr>
        <p:spPr>
          <a:xfrm>
            <a:off x="2852928" y="4009644"/>
            <a:ext cx="2642615"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Contribution </a:t>
            </a:r>
            <a:r>
              <a:rPr>
                <a:latin typeface="Arial Unicode MS"/>
              </a:rPr>
              <a:t>→</a:t>
            </a:r>
            <a:r>
              <a:t> Role</a:t>
            </a:r>
          </a:p>
        </p:txBody>
      </p:sp>
      <p:sp>
        <p:nvSpPr>
          <p:cNvPr id="24" name="TextBox 23"/>
          <p:cNvSpPr txBox="1"/>
          <p:nvPr/>
        </p:nvSpPr>
        <p:spPr>
          <a:xfrm>
            <a:off x="5715000" y="4009644"/>
            <a:ext cx="1719072"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roleOf</a:t>
            </a:r>
          </a:p>
        </p:txBody>
      </p:sp>
      <p:sp>
        <p:nvSpPr>
          <p:cNvPr id="25" name="Rectangle 24"/>
          <p:cNvSpPr/>
          <p:nvPr/>
        </p:nvSpPr>
        <p:spPr>
          <a:xfrm>
            <a:off x="731520" y="4389120"/>
            <a:ext cx="6812280" cy="4389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4448556"/>
            <a:ext cx="1792224"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dbo:director</a:t>
            </a:r>
          </a:p>
        </p:txBody>
      </p:sp>
      <p:sp>
        <p:nvSpPr>
          <p:cNvPr id="27" name="TextBox 26"/>
          <p:cNvSpPr txBox="1"/>
          <p:nvPr/>
        </p:nvSpPr>
        <p:spPr>
          <a:xfrm>
            <a:off x="2852928" y="4448556"/>
            <a:ext cx="2642615"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Film </a:t>
            </a:r>
            <a:r>
              <a:rPr>
                <a:latin typeface="Arial Unicode MS"/>
              </a:rPr>
              <a:t>→</a:t>
            </a:r>
            <a:r>
              <a:t> Person</a:t>
            </a:r>
          </a:p>
        </p:txBody>
      </p:sp>
      <p:sp>
        <p:nvSpPr>
          <p:cNvPr id="28" name="TextBox 27"/>
          <p:cNvSpPr txBox="1"/>
          <p:nvPr/>
        </p:nvSpPr>
        <p:spPr>
          <a:xfrm>
            <a:off x="5715000" y="4448556"/>
            <a:ext cx="1719072"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directed</a:t>
            </a:r>
          </a:p>
        </p:txBody>
      </p:sp>
      <p:sp>
        <p:nvSpPr>
          <p:cNvPr id="29" name="Rectangle 28"/>
          <p:cNvSpPr/>
          <p:nvPr/>
        </p:nvSpPr>
        <p:spPr>
          <a:xfrm>
            <a:off x="731520" y="4828032"/>
            <a:ext cx="6812280" cy="4389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 y="4887468"/>
            <a:ext cx="1792224"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hasGenre</a:t>
            </a:r>
          </a:p>
        </p:txBody>
      </p:sp>
      <p:sp>
        <p:nvSpPr>
          <p:cNvPr id="31" name="TextBox 30"/>
          <p:cNvSpPr txBox="1"/>
          <p:nvPr/>
        </p:nvSpPr>
        <p:spPr>
          <a:xfrm>
            <a:off x="2852928" y="4887468"/>
            <a:ext cx="2642615"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Film </a:t>
            </a:r>
            <a:r>
              <a:rPr>
                <a:latin typeface="Arial Unicode MS"/>
              </a:rPr>
              <a:t>→</a:t>
            </a:r>
            <a:r>
              <a:t> Genre</a:t>
            </a:r>
          </a:p>
        </p:txBody>
      </p:sp>
      <p:sp>
        <p:nvSpPr>
          <p:cNvPr id="32" name="TextBox 31"/>
          <p:cNvSpPr txBox="1"/>
          <p:nvPr/>
        </p:nvSpPr>
        <p:spPr>
          <a:xfrm>
            <a:off x="5715000" y="4887468"/>
            <a:ext cx="1719072"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genreOf</a:t>
            </a:r>
          </a:p>
        </p:txBody>
      </p:sp>
      <p:sp>
        <p:nvSpPr>
          <p:cNvPr id="33" name="Rectangle 32"/>
          <p:cNvSpPr/>
          <p:nvPr/>
        </p:nvSpPr>
        <p:spPr>
          <a:xfrm>
            <a:off x="731520" y="5266944"/>
            <a:ext cx="6812280" cy="4389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1248" y="5326380"/>
            <a:ext cx="1792224"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hasAward</a:t>
            </a:r>
          </a:p>
        </p:txBody>
      </p:sp>
      <p:sp>
        <p:nvSpPr>
          <p:cNvPr id="35" name="TextBox 34"/>
          <p:cNvSpPr txBox="1"/>
          <p:nvPr/>
        </p:nvSpPr>
        <p:spPr>
          <a:xfrm>
            <a:off x="2852928" y="5326380"/>
            <a:ext cx="2642615"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Film or Person </a:t>
            </a:r>
            <a:r>
              <a:rPr>
                <a:latin typeface="Arial Unicode MS"/>
              </a:rPr>
              <a:t>→</a:t>
            </a:r>
            <a:r>
              <a:t> Award</a:t>
            </a:r>
          </a:p>
        </p:txBody>
      </p:sp>
      <p:sp>
        <p:nvSpPr>
          <p:cNvPr id="36" name="TextBox 35"/>
          <p:cNvSpPr txBox="1"/>
          <p:nvPr/>
        </p:nvSpPr>
        <p:spPr>
          <a:xfrm>
            <a:off x="5715000" y="5326380"/>
            <a:ext cx="1719072" cy="320040"/>
          </a:xfrm>
          <a:prstGeom prst="rect">
            <a:avLst/>
          </a:prstGeom>
          <a:noFill/>
        </p:spPr>
        <p:txBody>
          <a:bodyPr wrap="none" lIns="0" rIns="0" tIns="0" bIns="0">
            <a:spAutoFit/>
          </a:bodyPr>
          <a:lstStyle/>
          <a:p>
            <a:pPr>
              <a:lnSpc>
                <a:spcPts val="1792"/>
              </a:lnSpc>
              <a:spcBef>
                <a:spcPts val="0"/>
              </a:spcBef>
              <a:spcAft>
                <a:spcPts val="0"/>
              </a:spcAft>
              <a:defRPr sz="1400" b="0">
                <a:solidFill>
                  <a:srgbClr val="152B3A"/>
                </a:solidFill>
                <a:latin typeface="Be Vietnam Pro"/>
              </a:defRPr>
            </a:pPr>
            <a:r>
              <a:t>awardOf</a:t>
            </a:r>
          </a:p>
        </p:txBody>
      </p:sp>
      <p:sp>
        <p:nvSpPr>
          <p:cNvPr id="37" name="PHOTO_P05_0"/>
          <p:cNvSpPr/>
          <p:nvPr/>
        </p:nvSpPr>
        <p:spPr>
          <a:xfrm>
            <a:off x="7818120" y="2578608"/>
            <a:ext cx="6080760" cy="4590288"/>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HOTO_P05_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P05</a:t>
            </a:r>
          </a:p>
        </p:txBody>
      </p:sp>
      <p:sp>
        <p:nvSpPr>
          <p:cNvPr id="39" name="PHOTO_P05_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HOTO_P05_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Domain, range, inverse, functional</a:t>
            </a:r>
          </a:p>
        </p:txBody>
      </p:sp>
      <p:sp>
        <p:nvSpPr>
          <p:cNvPr id="41" name="PHOTO_P05_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P05_object_property.png</a:t>
            </a:r>
          </a:p>
        </p:txBody>
      </p:sp>
      <p:sp>
        <p:nvSpPr>
          <p:cNvPr id="42" name="PHOTO_P05_5"/>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Entities </a:t>
            </a:r>
            <a:r>
              <a:rPr>
                <a:latin typeface="Arial Unicode MS"/>
              </a:rPr>
              <a:t>→</a:t>
            </a:r>
            <a:r>
              <a:t> Object properties </a:t>
            </a:r>
            <a:r>
              <a:rPr>
                <a:latin typeface="Arial Unicode MS"/>
              </a:rPr>
              <a:t>→</a:t>
            </a:r>
            <a:r>
              <a:t> chọn contributionBy.</a:t>
            </a:r>
          </a:p>
        </p:txBody>
      </p:sp>
      <p:sp>
        <p:nvSpPr>
          <p:cNvPr id="43" name="PHOTO_P05_6"/>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Hiện Domain=Contribution, Range=Person.</a:t>
            </a:r>
          </a:p>
        </p:txBody>
      </p:sp>
      <p:sp>
        <p:nvSpPr>
          <p:cNvPr id="44" name="PHOTO_P05_7"/>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Giữ inverse hasContribution và ô Functional được chọn.</a:t>
            </a:r>
          </a:p>
        </p:txBody>
      </p:sp>
      <p:sp>
        <p:nvSpPr>
          <p:cNvPr id="45" name="PHOTO_P05_8"/>
          <p:cNvSpPr txBox="1"/>
          <p:nvPr/>
        </p:nvSpPr>
        <p:spPr>
          <a:xfrm>
            <a:off x="8046720" y="6830568"/>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
        <p:nvSpPr>
          <p:cNvPr id="46" name="TextBox 45"/>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contributionBy / contributionTo / hasRole: functional. Domain/range can infer types; inverse reverses a relation.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R1 · How OWL expresses meaning</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Ontology constraints and application validation serve different purposes</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08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11 / 24</a:t>
            </a:r>
          </a:p>
        </p:txBody>
      </p:sp>
      <p:sp>
        <p:nvSpPr>
          <p:cNvPr id="9" name="Rounded Rectangle 8"/>
          <p:cNvSpPr/>
          <p:nvPr/>
        </p:nvSpPr>
        <p:spPr>
          <a:xfrm>
            <a:off x="731520" y="2697480"/>
            <a:ext cx="6565392" cy="1947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697480"/>
            <a:ext cx="41148" cy="194767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843784"/>
            <a:ext cx="6144768"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Class definitions</a:t>
            </a:r>
          </a:p>
        </p:txBody>
      </p:sp>
      <p:sp>
        <p:nvSpPr>
          <p:cNvPr id="12" name="TextBox 11"/>
          <p:cNvSpPr txBox="1"/>
          <p:nvPr/>
        </p:nvSpPr>
        <p:spPr>
          <a:xfrm>
            <a:off x="941832" y="3287776"/>
            <a:ext cx="6144768" cy="1275079"/>
          </a:xfrm>
          <a:prstGeom prst="rect">
            <a:avLst/>
          </a:prstGeom>
          <a:noFill/>
        </p:spPr>
        <p:txBody>
          <a:bodyPr wrap="none" lIns="0" rIns="0" tIns="0" bIns="0">
            <a:spAutoFit/>
          </a:bodyPr>
          <a:lstStyle/>
          <a:p>
            <a:pPr>
              <a:lnSpc>
                <a:spcPts val="2304"/>
              </a:lnSpc>
              <a:spcBef>
                <a:spcPts val="0"/>
              </a:spcBef>
              <a:spcAft>
                <a:spcPts val="0"/>
              </a:spcAft>
              <a:defRPr sz="1800" b="0">
                <a:solidFill>
                  <a:srgbClr val="506776"/>
                </a:solidFill>
                <a:latin typeface="Be Vietnam Pro"/>
              </a:defRPr>
            </a:pPr>
            <a:r>
              <a:t>equivalentClass + AND / OR / SOME</a:t>
            </a:r>
          </a:p>
          <a:p>
            <a:pPr>
              <a:lnSpc>
                <a:spcPts val="2304"/>
              </a:lnSpc>
              <a:spcBef>
                <a:spcPts val="0"/>
              </a:spcBef>
              <a:spcAft>
                <a:spcPts val="0"/>
              </a:spcAft>
              <a:defRPr sz="1800" b="0">
                <a:solidFill>
                  <a:srgbClr val="506776"/>
                </a:solidFill>
                <a:latin typeface="Be Vietnam Pro"/>
              </a:defRPr>
            </a:pPr>
            <a:r>
              <a:t>A Person with filmmaking contributions </a:t>
            </a:r>
            <a:r>
              <a:rPr>
                <a:latin typeface="Arial Unicode MS"/>
              </a:rPr>
              <a:t>→</a:t>
            </a:r>
            <a:r>
              <a:t> Filmmaker.</a:t>
            </a:r>
          </a:p>
        </p:txBody>
      </p:sp>
      <p:sp>
        <p:nvSpPr>
          <p:cNvPr id="13" name="Rounded Rectangle 12"/>
          <p:cNvSpPr/>
          <p:nvPr/>
        </p:nvSpPr>
        <p:spPr>
          <a:xfrm>
            <a:off x="7571232" y="2697480"/>
            <a:ext cx="6565392" cy="1947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71232" y="2697480"/>
            <a:ext cx="41148" cy="194767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81544" y="2843784"/>
            <a:ext cx="6144768"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Cardinality and functional</a:t>
            </a:r>
          </a:p>
        </p:txBody>
      </p:sp>
      <p:sp>
        <p:nvSpPr>
          <p:cNvPr id="16" name="TextBox 15"/>
          <p:cNvSpPr txBox="1"/>
          <p:nvPr/>
        </p:nvSpPr>
        <p:spPr>
          <a:xfrm>
            <a:off x="7781544" y="3287776"/>
            <a:ext cx="6144768" cy="1275079"/>
          </a:xfrm>
          <a:prstGeom prst="rect">
            <a:avLst/>
          </a:prstGeom>
          <a:noFill/>
        </p:spPr>
        <p:txBody>
          <a:bodyPr wrap="none" lIns="0" rIns="0" tIns="0" bIns="0">
            <a:spAutoFit/>
          </a:bodyPr>
          <a:lstStyle/>
          <a:p>
            <a:pPr>
              <a:lnSpc>
                <a:spcPts val="2304"/>
              </a:lnSpc>
              <a:spcBef>
                <a:spcPts val="0"/>
              </a:spcBef>
              <a:spcAft>
                <a:spcPts val="0"/>
              </a:spcAft>
              <a:defRPr sz="1800" b="0">
                <a:solidFill>
                  <a:srgbClr val="506776"/>
                </a:solidFill>
                <a:latin typeface="Be Vietnam Pro"/>
              </a:defRPr>
            </a:pPr>
            <a:r>
              <a:t>Contribution: exactly one person / film / role.</a:t>
            </a:r>
          </a:p>
          <a:p>
            <a:pPr>
              <a:lnSpc>
                <a:spcPts val="2304"/>
              </a:lnSpc>
              <a:spcBef>
                <a:spcPts val="0"/>
              </a:spcBef>
              <a:spcAft>
                <a:spcPts val="0"/>
              </a:spcAft>
              <a:defRPr sz="1800" b="0">
                <a:solidFill>
                  <a:srgbClr val="506776"/>
                </a:solidFill>
                <a:latin typeface="Be Vietnam Pro"/>
              </a:defRPr>
            </a:pPr>
            <a:r>
              <a:t>Functional: at most one value under OWL semantics.</a:t>
            </a:r>
          </a:p>
        </p:txBody>
      </p:sp>
      <p:sp>
        <p:nvSpPr>
          <p:cNvPr id="17" name="Rounded Rectangle 16"/>
          <p:cNvSpPr/>
          <p:nvPr/>
        </p:nvSpPr>
        <p:spPr>
          <a:xfrm>
            <a:off x="731520" y="4910328"/>
            <a:ext cx="6565392" cy="1947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910328"/>
            <a:ext cx="41148" cy="194767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056632"/>
            <a:ext cx="6144768"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Inverse and disjointness</a:t>
            </a:r>
          </a:p>
        </p:txBody>
      </p:sp>
      <p:sp>
        <p:nvSpPr>
          <p:cNvPr id="20" name="TextBox 19"/>
          <p:cNvSpPr txBox="1"/>
          <p:nvPr/>
        </p:nvSpPr>
        <p:spPr>
          <a:xfrm>
            <a:off x="941832" y="5500624"/>
            <a:ext cx="6144768" cy="1275080"/>
          </a:xfrm>
          <a:prstGeom prst="rect">
            <a:avLst/>
          </a:prstGeom>
          <a:noFill/>
        </p:spPr>
        <p:txBody>
          <a:bodyPr wrap="none" lIns="0" rIns="0" tIns="0" bIns="0">
            <a:spAutoFit/>
          </a:bodyPr>
          <a:lstStyle/>
          <a:p>
            <a:pPr>
              <a:lnSpc>
                <a:spcPts val="2304"/>
              </a:lnSpc>
              <a:spcBef>
                <a:spcPts val="0"/>
              </a:spcBef>
              <a:spcAft>
                <a:spcPts val="0"/>
              </a:spcAft>
              <a:defRPr sz="1800" b="0">
                <a:solidFill>
                  <a:srgbClr val="506776"/>
                </a:solidFill>
                <a:latin typeface="Be Vietnam Pro"/>
              </a:defRPr>
            </a:pPr>
            <a:r>
              <a:t>director </a:t>
            </a:r>
            <a:r>
              <a:rPr>
                <a:latin typeface="Arial Unicode MS"/>
              </a:rPr>
              <a:t>↔</a:t>
            </a:r>
            <a:r>
              <a:t> directed; hasRole </a:t>
            </a:r>
            <a:r>
              <a:rPr>
                <a:latin typeface="Arial Unicode MS"/>
              </a:rPr>
              <a:t>↔</a:t>
            </a:r>
            <a:r>
              <a:t> roleOf.</a:t>
            </a:r>
          </a:p>
          <a:p>
            <a:pPr>
              <a:lnSpc>
                <a:spcPts val="2304"/>
              </a:lnSpc>
              <a:spcBef>
                <a:spcPts val="0"/>
              </a:spcBef>
              <a:spcAft>
                <a:spcPts val="0"/>
              </a:spcAft>
              <a:defRPr sz="1800" b="0">
                <a:solidFill>
                  <a:srgbClr val="506776"/>
                </a:solidFill>
                <a:latin typeface="Be Vietnam Pro"/>
              </a:defRPr>
            </a:pPr>
            <a:r>
              <a:t>Actor and Filmmaker are not disjoint.</a:t>
            </a:r>
          </a:p>
        </p:txBody>
      </p:sp>
      <p:sp>
        <p:nvSpPr>
          <p:cNvPr id="21" name="Rounded Rectangle 20"/>
          <p:cNvSpPr/>
          <p:nvPr/>
        </p:nvSpPr>
        <p:spPr>
          <a:xfrm>
            <a:off x="7571232" y="4910328"/>
            <a:ext cx="6565392" cy="1947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571232" y="4910328"/>
            <a:ext cx="41148" cy="194767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81544" y="5056632"/>
            <a:ext cx="6144768"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Open-world assumption</a:t>
            </a:r>
          </a:p>
        </p:txBody>
      </p:sp>
      <p:sp>
        <p:nvSpPr>
          <p:cNvPr id="24" name="TextBox 23"/>
          <p:cNvSpPr txBox="1"/>
          <p:nvPr/>
        </p:nvSpPr>
        <p:spPr>
          <a:xfrm>
            <a:off x="7781544" y="5500624"/>
            <a:ext cx="6144768" cy="1275080"/>
          </a:xfrm>
          <a:prstGeom prst="rect">
            <a:avLst/>
          </a:prstGeom>
          <a:noFill/>
        </p:spPr>
        <p:txBody>
          <a:bodyPr wrap="none" lIns="0" rIns="0" tIns="0" bIns="0">
            <a:spAutoFit/>
          </a:bodyPr>
          <a:lstStyle/>
          <a:p>
            <a:pPr>
              <a:lnSpc>
                <a:spcPts val="2304"/>
              </a:lnSpc>
              <a:spcBef>
                <a:spcPts val="0"/>
              </a:spcBef>
              <a:spcAft>
                <a:spcPts val="0"/>
              </a:spcAft>
              <a:defRPr sz="1800" b="0">
                <a:solidFill>
                  <a:srgbClr val="506776"/>
                </a:solidFill>
                <a:latin typeface="Be Vietnam Pro"/>
              </a:defRPr>
            </a:pPr>
            <a:r>
              <a:t>Missing information </a:t>
            </a:r>
            <a:r>
              <a:rPr>
                <a:latin typeface="Arial Unicode MS"/>
              </a:rPr>
              <a:t>≠</a:t>
            </a:r>
            <a:r>
              <a:t> negation.</a:t>
            </a:r>
          </a:p>
          <a:p>
            <a:pPr>
              <a:lnSpc>
                <a:spcPts val="2304"/>
              </a:lnSpc>
              <a:spcBef>
                <a:spcPts val="0"/>
              </a:spcBef>
              <a:spcAft>
                <a:spcPts val="0"/>
              </a:spcAft>
              <a:defRPr sz="1800" b="0">
                <a:solidFill>
                  <a:srgbClr val="506776"/>
                </a:solidFill>
                <a:latin typeface="Be Vietnam Pro"/>
              </a:defRPr>
            </a:pPr>
            <a:r>
              <a:t>Python validates required fields; OWL defines</a:t>
            </a:r>
          </a:p>
          <a:p>
            <a:pPr>
              <a:lnSpc>
                <a:spcPts val="2304"/>
              </a:lnSpc>
              <a:spcBef>
                <a:spcPts val="0"/>
              </a:spcBef>
              <a:spcAft>
                <a:spcPts val="0"/>
              </a:spcAft>
              <a:defRPr sz="1800" b="0">
                <a:solidFill>
                  <a:srgbClr val="506776"/>
                </a:solidFill>
                <a:latin typeface="Be Vietnam Pro"/>
              </a:defRPr>
            </a:pPr>
            <a:r>
              <a:t>meaning.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R1 · Fourteen classes with additional types</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None of these 14 types is asserted in the original data graph</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08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12 / 24</a:t>
            </a:r>
          </a:p>
        </p:txBody>
      </p:sp>
      <p:sp>
        <p:nvSpPr>
          <p:cNvPr id="9" name="Rectangle 8"/>
          <p:cNvSpPr/>
          <p:nvPr/>
        </p:nvSpPr>
        <p:spPr>
          <a:xfrm>
            <a:off x="731520" y="2542032"/>
            <a:ext cx="13304520" cy="39319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615184"/>
            <a:ext cx="3575304"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Class</a:t>
            </a:r>
          </a:p>
        </p:txBody>
      </p:sp>
      <p:sp>
        <p:nvSpPr>
          <p:cNvPr id="11" name="TextBox 10"/>
          <p:cNvSpPr txBox="1"/>
          <p:nvPr/>
        </p:nvSpPr>
        <p:spPr>
          <a:xfrm>
            <a:off x="4636008" y="2615184"/>
            <a:ext cx="5952744"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Condition in plain language</a:t>
            </a:r>
          </a:p>
        </p:txBody>
      </p:sp>
      <p:sp>
        <p:nvSpPr>
          <p:cNvPr id="12" name="TextBox 11"/>
          <p:cNvSpPr txBox="1"/>
          <p:nvPr/>
        </p:nvSpPr>
        <p:spPr>
          <a:xfrm>
            <a:off x="10808207" y="2615184"/>
            <a:ext cx="1014984"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Count</a:t>
            </a:r>
          </a:p>
        </p:txBody>
      </p:sp>
      <p:sp>
        <p:nvSpPr>
          <p:cNvPr id="13" name="TextBox 12"/>
          <p:cNvSpPr txBox="1"/>
          <p:nvPr/>
        </p:nvSpPr>
        <p:spPr>
          <a:xfrm>
            <a:off x="12042647" y="2615184"/>
            <a:ext cx="1883663"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Method</a:t>
            </a:r>
          </a:p>
        </p:txBody>
      </p:sp>
      <p:sp>
        <p:nvSpPr>
          <p:cNvPr id="14" name="Rectangle 13"/>
          <p:cNvSpPr/>
          <p:nvPr/>
        </p:nvSpPr>
        <p:spPr>
          <a:xfrm>
            <a:off x="731520" y="2935224"/>
            <a:ext cx="13304520" cy="3032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 y="2964942"/>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ActingContribution</a:t>
            </a:r>
          </a:p>
        </p:txBody>
      </p:sp>
      <p:sp>
        <p:nvSpPr>
          <p:cNvPr id="16" name="TextBox 15"/>
          <p:cNvSpPr txBox="1"/>
          <p:nvPr/>
        </p:nvSpPr>
        <p:spPr>
          <a:xfrm>
            <a:off x="4636008" y="2964942"/>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Contribution with ActorRole</a:t>
            </a:r>
          </a:p>
        </p:txBody>
      </p:sp>
      <p:sp>
        <p:nvSpPr>
          <p:cNvPr id="17" name="TextBox 16"/>
          <p:cNvSpPr txBox="1"/>
          <p:nvPr/>
        </p:nvSpPr>
        <p:spPr>
          <a:xfrm>
            <a:off x="10808207" y="2964942"/>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855</a:t>
            </a:r>
          </a:p>
        </p:txBody>
      </p:sp>
      <p:sp>
        <p:nvSpPr>
          <p:cNvPr id="18" name="TextBox 17"/>
          <p:cNvSpPr txBox="1"/>
          <p:nvPr/>
        </p:nvSpPr>
        <p:spPr>
          <a:xfrm>
            <a:off x="12042647" y="2964942"/>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OWL RL</a:t>
            </a:r>
          </a:p>
        </p:txBody>
      </p:sp>
      <p:sp>
        <p:nvSpPr>
          <p:cNvPr id="19" name="Rectangle 18"/>
          <p:cNvSpPr/>
          <p:nvPr/>
        </p:nvSpPr>
        <p:spPr>
          <a:xfrm>
            <a:off x="731520" y="3238500"/>
            <a:ext cx="13304520" cy="303276"/>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8" y="3268218"/>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DirectingContribution</a:t>
            </a:r>
          </a:p>
        </p:txBody>
      </p:sp>
      <p:sp>
        <p:nvSpPr>
          <p:cNvPr id="21" name="TextBox 20"/>
          <p:cNvSpPr txBox="1"/>
          <p:nvPr/>
        </p:nvSpPr>
        <p:spPr>
          <a:xfrm>
            <a:off x="4636008" y="3268218"/>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Contribution with DirectorRole</a:t>
            </a:r>
          </a:p>
        </p:txBody>
      </p:sp>
      <p:sp>
        <p:nvSpPr>
          <p:cNvPr id="22" name="TextBox 21"/>
          <p:cNvSpPr txBox="1"/>
          <p:nvPr/>
        </p:nvSpPr>
        <p:spPr>
          <a:xfrm>
            <a:off x="10808207" y="3268218"/>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31</a:t>
            </a:r>
          </a:p>
        </p:txBody>
      </p:sp>
      <p:sp>
        <p:nvSpPr>
          <p:cNvPr id="23" name="TextBox 22"/>
          <p:cNvSpPr txBox="1"/>
          <p:nvPr/>
        </p:nvSpPr>
        <p:spPr>
          <a:xfrm>
            <a:off x="12042647" y="3268218"/>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OWL RL</a:t>
            </a:r>
          </a:p>
        </p:txBody>
      </p:sp>
      <p:sp>
        <p:nvSpPr>
          <p:cNvPr id="24" name="Rectangle 23"/>
          <p:cNvSpPr/>
          <p:nvPr/>
        </p:nvSpPr>
        <p:spPr>
          <a:xfrm>
            <a:off x="731520" y="3541775"/>
            <a:ext cx="13304520" cy="3032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3571494"/>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WritingContribution</a:t>
            </a:r>
          </a:p>
        </p:txBody>
      </p:sp>
      <p:sp>
        <p:nvSpPr>
          <p:cNvPr id="26" name="TextBox 25"/>
          <p:cNvSpPr txBox="1"/>
          <p:nvPr/>
        </p:nvSpPr>
        <p:spPr>
          <a:xfrm>
            <a:off x="4636008" y="3571494"/>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Contribution with WriterRole</a:t>
            </a:r>
          </a:p>
        </p:txBody>
      </p:sp>
      <p:sp>
        <p:nvSpPr>
          <p:cNvPr id="27" name="TextBox 26"/>
          <p:cNvSpPr txBox="1"/>
          <p:nvPr/>
        </p:nvSpPr>
        <p:spPr>
          <a:xfrm>
            <a:off x="10808207" y="3571494"/>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51</a:t>
            </a:r>
          </a:p>
        </p:txBody>
      </p:sp>
      <p:sp>
        <p:nvSpPr>
          <p:cNvPr id="28" name="TextBox 27"/>
          <p:cNvSpPr txBox="1"/>
          <p:nvPr/>
        </p:nvSpPr>
        <p:spPr>
          <a:xfrm>
            <a:off x="12042647" y="3571494"/>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OWL RL</a:t>
            </a:r>
          </a:p>
        </p:txBody>
      </p:sp>
      <p:sp>
        <p:nvSpPr>
          <p:cNvPr id="29" name="Rectangle 28"/>
          <p:cNvSpPr/>
          <p:nvPr/>
        </p:nvSpPr>
        <p:spPr>
          <a:xfrm>
            <a:off x="731520" y="3845052"/>
            <a:ext cx="13304520" cy="303276"/>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 y="3874770"/>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ProducingContribution</a:t>
            </a:r>
          </a:p>
        </p:txBody>
      </p:sp>
      <p:sp>
        <p:nvSpPr>
          <p:cNvPr id="31" name="TextBox 30"/>
          <p:cNvSpPr txBox="1"/>
          <p:nvPr/>
        </p:nvSpPr>
        <p:spPr>
          <a:xfrm>
            <a:off x="4636008" y="3874770"/>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Contribution with ProducerRole</a:t>
            </a:r>
          </a:p>
        </p:txBody>
      </p:sp>
      <p:sp>
        <p:nvSpPr>
          <p:cNvPr id="32" name="TextBox 31"/>
          <p:cNvSpPr txBox="1"/>
          <p:nvPr/>
        </p:nvSpPr>
        <p:spPr>
          <a:xfrm>
            <a:off x="10808207" y="3874770"/>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73</a:t>
            </a:r>
          </a:p>
        </p:txBody>
      </p:sp>
      <p:sp>
        <p:nvSpPr>
          <p:cNvPr id="33" name="TextBox 32"/>
          <p:cNvSpPr txBox="1"/>
          <p:nvPr/>
        </p:nvSpPr>
        <p:spPr>
          <a:xfrm>
            <a:off x="12042647" y="3874770"/>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OWL RL</a:t>
            </a:r>
          </a:p>
        </p:txBody>
      </p:sp>
      <p:sp>
        <p:nvSpPr>
          <p:cNvPr id="34" name="Rectangle 33"/>
          <p:cNvSpPr/>
          <p:nvPr/>
        </p:nvSpPr>
        <p:spPr>
          <a:xfrm>
            <a:off x="731520" y="4148328"/>
            <a:ext cx="13304520" cy="3032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1248" y="4178046"/>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Actor</a:t>
            </a:r>
          </a:p>
        </p:txBody>
      </p:sp>
      <p:sp>
        <p:nvSpPr>
          <p:cNvPr id="36" name="TextBox 35"/>
          <p:cNvSpPr txBox="1"/>
          <p:nvPr/>
        </p:nvSpPr>
        <p:spPr>
          <a:xfrm>
            <a:off x="4636008" y="4178046"/>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Person with acting contributions</a:t>
            </a:r>
          </a:p>
        </p:txBody>
      </p:sp>
      <p:sp>
        <p:nvSpPr>
          <p:cNvPr id="37" name="TextBox 36"/>
          <p:cNvSpPr txBox="1"/>
          <p:nvPr/>
        </p:nvSpPr>
        <p:spPr>
          <a:xfrm>
            <a:off x="10808207" y="4178046"/>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769</a:t>
            </a:r>
          </a:p>
        </p:txBody>
      </p:sp>
      <p:sp>
        <p:nvSpPr>
          <p:cNvPr id="38" name="TextBox 37"/>
          <p:cNvSpPr txBox="1"/>
          <p:nvPr/>
        </p:nvSpPr>
        <p:spPr>
          <a:xfrm>
            <a:off x="12042647" y="4178046"/>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OWL RL</a:t>
            </a:r>
          </a:p>
        </p:txBody>
      </p:sp>
      <p:sp>
        <p:nvSpPr>
          <p:cNvPr id="39" name="Rectangle 38"/>
          <p:cNvSpPr/>
          <p:nvPr/>
        </p:nvSpPr>
        <p:spPr>
          <a:xfrm>
            <a:off x="731520" y="4451604"/>
            <a:ext cx="13304520" cy="303276"/>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1248" y="4481322"/>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Filmmaker</a:t>
            </a:r>
          </a:p>
        </p:txBody>
      </p:sp>
      <p:sp>
        <p:nvSpPr>
          <p:cNvPr id="41" name="TextBox 40"/>
          <p:cNvSpPr txBox="1"/>
          <p:nvPr/>
        </p:nvSpPr>
        <p:spPr>
          <a:xfrm>
            <a:off x="4636008" y="4481322"/>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Person with filmmaking contributions</a:t>
            </a:r>
          </a:p>
        </p:txBody>
      </p:sp>
      <p:sp>
        <p:nvSpPr>
          <p:cNvPr id="42" name="TextBox 41"/>
          <p:cNvSpPr txBox="1"/>
          <p:nvPr/>
        </p:nvSpPr>
        <p:spPr>
          <a:xfrm>
            <a:off x="10808207" y="4481322"/>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89</a:t>
            </a:r>
          </a:p>
        </p:txBody>
      </p:sp>
      <p:sp>
        <p:nvSpPr>
          <p:cNvPr id="43" name="TextBox 42"/>
          <p:cNvSpPr txBox="1"/>
          <p:nvPr/>
        </p:nvSpPr>
        <p:spPr>
          <a:xfrm>
            <a:off x="12042647" y="4481322"/>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OWL RL</a:t>
            </a:r>
          </a:p>
        </p:txBody>
      </p:sp>
      <p:sp>
        <p:nvSpPr>
          <p:cNvPr id="44" name="Rectangle 43"/>
          <p:cNvSpPr/>
          <p:nvPr/>
        </p:nvSpPr>
        <p:spPr>
          <a:xfrm>
            <a:off x="731520" y="4754880"/>
            <a:ext cx="13304520" cy="3032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41248" y="4784598"/>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AwardWinner</a:t>
            </a:r>
          </a:p>
        </p:txBody>
      </p:sp>
      <p:sp>
        <p:nvSpPr>
          <p:cNvPr id="46" name="TextBox 45"/>
          <p:cNvSpPr txBox="1"/>
          <p:nvPr/>
        </p:nvSpPr>
        <p:spPr>
          <a:xfrm>
            <a:off x="4636008" y="4784598"/>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Person who receives an award</a:t>
            </a:r>
          </a:p>
        </p:txBody>
      </p:sp>
      <p:sp>
        <p:nvSpPr>
          <p:cNvPr id="47" name="TextBox 46"/>
          <p:cNvSpPr txBox="1"/>
          <p:nvPr/>
        </p:nvSpPr>
        <p:spPr>
          <a:xfrm>
            <a:off x="10808207" y="4784598"/>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290</a:t>
            </a:r>
          </a:p>
        </p:txBody>
      </p:sp>
      <p:sp>
        <p:nvSpPr>
          <p:cNvPr id="48" name="TextBox 47"/>
          <p:cNvSpPr txBox="1"/>
          <p:nvPr/>
        </p:nvSpPr>
        <p:spPr>
          <a:xfrm>
            <a:off x="12042647" y="4784598"/>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OWL RL</a:t>
            </a:r>
          </a:p>
        </p:txBody>
      </p:sp>
      <p:sp>
        <p:nvSpPr>
          <p:cNvPr id="49" name="Rectangle 48"/>
          <p:cNvSpPr/>
          <p:nvPr/>
        </p:nvSpPr>
        <p:spPr>
          <a:xfrm>
            <a:off x="731520" y="5058156"/>
            <a:ext cx="13304520" cy="303276"/>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41248" y="5087874"/>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ActionFilm</a:t>
            </a:r>
          </a:p>
        </p:txBody>
      </p:sp>
      <p:sp>
        <p:nvSpPr>
          <p:cNvPr id="51" name="TextBox 50"/>
          <p:cNvSpPr txBox="1"/>
          <p:nvPr/>
        </p:nvSpPr>
        <p:spPr>
          <a:xfrm>
            <a:off x="4636008" y="5087874"/>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Film with ActionGenre</a:t>
            </a:r>
          </a:p>
        </p:txBody>
      </p:sp>
      <p:sp>
        <p:nvSpPr>
          <p:cNvPr id="52" name="TextBox 51"/>
          <p:cNvSpPr txBox="1"/>
          <p:nvPr/>
        </p:nvSpPr>
        <p:spPr>
          <a:xfrm>
            <a:off x="10808207" y="5087874"/>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12</a:t>
            </a:r>
          </a:p>
        </p:txBody>
      </p:sp>
      <p:sp>
        <p:nvSpPr>
          <p:cNvPr id="53" name="TextBox 52"/>
          <p:cNvSpPr txBox="1"/>
          <p:nvPr/>
        </p:nvSpPr>
        <p:spPr>
          <a:xfrm>
            <a:off x="12042647" y="5087874"/>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OWL RL</a:t>
            </a:r>
          </a:p>
        </p:txBody>
      </p:sp>
      <p:sp>
        <p:nvSpPr>
          <p:cNvPr id="54" name="Rectangle 53"/>
          <p:cNvSpPr/>
          <p:nvPr/>
        </p:nvSpPr>
        <p:spPr>
          <a:xfrm>
            <a:off x="731520" y="5361432"/>
            <a:ext cx="13304520" cy="3032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41248" y="5391150"/>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ComedyFilm</a:t>
            </a:r>
          </a:p>
        </p:txBody>
      </p:sp>
      <p:sp>
        <p:nvSpPr>
          <p:cNvPr id="56" name="TextBox 55"/>
          <p:cNvSpPr txBox="1"/>
          <p:nvPr/>
        </p:nvSpPr>
        <p:spPr>
          <a:xfrm>
            <a:off x="4636008" y="5391150"/>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Film with ComedyGenre</a:t>
            </a:r>
          </a:p>
        </p:txBody>
      </p:sp>
      <p:sp>
        <p:nvSpPr>
          <p:cNvPr id="57" name="TextBox 56"/>
          <p:cNvSpPr txBox="1"/>
          <p:nvPr/>
        </p:nvSpPr>
        <p:spPr>
          <a:xfrm>
            <a:off x="10808207" y="5391150"/>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4</a:t>
            </a:r>
          </a:p>
        </p:txBody>
      </p:sp>
      <p:sp>
        <p:nvSpPr>
          <p:cNvPr id="58" name="TextBox 57"/>
          <p:cNvSpPr txBox="1"/>
          <p:nvPr/>
        </p:nvSpPr>
        <p:spPr>
          <a:xfrm>
            <a:off x="12042647" y="5391150"/>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OWL RL</a:t>
            </a:r>
          </a:p>
        </p:txBody>
      </p:sp>
      <p:sp>
        <p:nvSpPr>
          <p:cNvPr id="59" name="Rectangle 58"/>
          <p:cNvSpPr/>
          <p:nvPr/>
        </p:nvSpPr>
        <p:spPr>
          <a:xfrm>
            <a:off x="731520" y="5664708"/>
            <a:ext cx="13304520" cy="303276"/>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41248" y="5694426"/>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DramaFilm</a:t>
            </a:r>
          </a:p>
        </p:txBody>
      </p:sp>
      <p:sp>
        <p:nvSpPr>
          <p:cNvPr id="61" name="TextBox 60"/>
          <p:cNvSpPr txBox="1"/>
          <p:nvPr/>
        </p:nvSpPr>
        <p:spPr>
          <a:xfrm>
            <a:off x="4636008" y="5694426"/>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Film with DramaGenre</a:t>
            </a:r>
          </a:p>
        </p:txBody>
      </p:sp>
      <p:sp>
        <p:nvSpPr>
          <p:cNvPr id="62" name="TextBox 61"/>
          <p:cNvSpPr txBox="1"/>
          <p:nvPr/>
        </p:nvSpPr>
        <p:spPr>
          <a:xfrm>
            <a:off x="10808207" y="5694426"/>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25</a:t>
            </a:r>
          </a:p>
        </p:txBody>
      </p:sp>
      <p:sp>
        <p:nvSpPr>
          <p:cNvPr id="63" name="TextBox 62"/>
          <p:cNvSpPr txBox="1"/>
          <p:nvPr/>
        </p:nvSpPr>
        <p:spPr>
          <a:xfrm>
            <a:off x="12042647" y="5694426"/>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OWL RL</a:t>
            </a:r>
          </a:p>
        </p:txBody>
      </p:sp>
      <p:sp>
        <p:nvSpPr>
          <p:cNvPr id="64" name="Rectangle 63"/>
          <p:cNvSpPr/>
          <p:nvPr/>
        </p:nvSpPr>
        <p:spPr>
          <a:xfrm>
            <a:off x="731520" y="5967984"/>
            <a:ext cx="13304520" cy="3032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41248" y="5997702"/>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ScienceFictionFilm</a:t>
            </a:r>
          </a:p>
        </p:txBody>
      </p:sp>
      <p:sp>
        <p:nvSpPr>
          <p:cNvPr id="66" name="TextBox 65"/>
          <p:cNvSpPr txBox="1"/>
          <p:nvPr/>
        </p:nvSpPr>
        <p:spPr>
          <a:xfrm>
            <a:off x="4636008" y="5997702"/>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Film with ScienceFictionGenre</a:t>
            </a:r>
          </a:p>
        </p:txBody>
      </p:sp>
      <p:sp>
        <p:nvSpPr>
          <p:cNvPr id="67" name="TextBox 66"/>
          <p:cNvSpPr txBox="1"/>
          <p:nvPr/>
        </p:nvSpPr>
        <p:spPr>
          <a:xfrm>
            <a:off x="10808207" y="5997702"/>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6</a:t>
            </a:r>
          </a:p>
        </p:txBody>
      </p:sp>
      <p:sp>
        <p:nvSpPr>
          <p:cNvPr id="68" name="TextBox 67"/>
          <p:cNvSpPr txBox="1"/>
          <p:nvPr/>
        </p:nvSpPr>
        <p:spPr>
          <a:xfrm>
            <a:off x="12042647" y="5997702"/>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OWL RL</a:t>
            </a:r>
          </a:p>
        </p:txBody>
      </p:sp>
      <p:sp>
        <p:nvSpPr>
          <p:cNvPr id="69" name="Rectangle 68"/>
          <p:cNvSpPr/>
          <p:nvPr/>
        </p:nvSpPr>
        <p:spPr>
          <a:xfrm>
            <a:off x="731520" y="6271260"/>
            <a:ext cx="13304520" cy="303276"/>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41248" y="6300978"/>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AwardWinningFilm</a:t>
            </a:r>
          </a:p>
        </p:txBody>
      </p:sp>
      <p:sp>
        <p:nvSpPr>
          <p:cNvPr id="71" name="TextBox 70"/>
          <p:cNvSpPr txBox="1"/>
          <p:nvPr/>
        </p:nvSpPr>
        <p:spPr>
          <a:xfrm>
            <a:off x="4636008" y="6300978"/>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Film that receives an award</a:t>
            </a:r>
          </a:p>
        </p:txBody>
      </p:sp>
      <p:sp>
        <p:nvSpPr>
          <p:cNvPr id="72" name="TextBox 71"/>
          <p:cNvSpPr txBox="1"/>
          <p:nvPr/>
        </p:nvSpPr>
        <p:spPr>
          <a:xfrm>
            <a:off x="10808207" y="6300978"/>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26</a:t>
            </a:r>
          </a:p>
        </p:txBody>
      </p:sp>
      <p:sp>
        <p:nvSpPr>
          <p:cNvPr id="73" name="TextBox 72"/>
          <p:cNvSpPr txBox="1"/>
          <p:nvPr/>
        </p:nvSpPr>
        <p:spPr>
          <a:xfrm>
            <a:off x="12042647" y="6300978"/>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OWL RL</a:t>
            </a:r>
          </a:p>
        </p:txBody>
      </p:sp>
      <p:sp>
        <p:nvSpPr>
          <p:cNvPr id="74" name="Rectangle 73"/>
          <p:cNvSpPr/>
          <p:nvPr/>
        </p:nvSpPr>
        <p:spPr>
          <a:xfrm>
            <a:off x="731520" y="6574536"/>
            <a:ext cx="13304520" cy="3032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1248" y="6604254"/>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MultiGenreFilm</a:t>
            </a:r>
          </a:p>
        </p:txBody>
      </p:sp>
      <p:sp>
        <p:nvSpPr>
          <p:cNvPr id="76" name="TextBox 75"/>
          <p:cNvSpPr txBox="1"/>
          <p:nvPr/>
        </p:nvSpPr>
        <p:spPr>
          <a:xfrm>
            <a:off x="4636008" y="6604254"/>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Film with at least 2 Genre IRIs</a:t>
            </a:r>
          </a:p>
        </p:txBody>
      </p:sp>
      <p:sp>
        <p:nvSpPr>
          <p:cNvPr id="77" name="TextBox 76"/>
          <p:cNvSpPr txBox="1"/>
          <p:nvPr/>
        </p:nvSpPr>
        <p:spPr>
          <a:xfrm>
            <a:off x="10808207" y="6604254"/>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30</a:t>
            </a:r>
          </a:p>
        </p:txBody>
      </p:sp>
      <p:sp>
        <p:nvSpPr>
          <p:cNvPr id="78" name="TextBox 77"/>
          <p:cNvSpPr txBox="1"/>
          <p:nvPr/>
        </p:nvSpPr>
        <p:spPr>
          <a:xfrm>
            <a:off x="12042647" y="6604254"/>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IRI counting</a:t>
            </a:r>
          </a:p>
        </p:txBody>
      </p:sp>
      <p:sp>
        <p:nvSpPr>
          <p:cNvPr id="79" name="Rectangle 78"/>
          <p:cNvSpPr/>
          <p:nvPr/>
        </p:nvSpPr>
        <p:spPr>
          <a:xfrm>
            <a:off x="731520" y="6877812"/>
            <a:ext cx="13304520" cy="303276"/>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41248" y="6907530"/>
            <a:ext cx="357530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FilmStudio</a:t>
            </a:r>
          </a:p>
        </p:txBody>
      </p:sp>
      <p:sp>
        <p:nvSpPr>
          <p:cNvPr id="81" name="TextBox 80"/>
          <p:cNvSpPr txBox="1"/>
          <p:nvPr/>
        </p:nvSpPr>
        <p:spPr>
          <a:xfrm>
            <a:off x="4636008" y="6907530"/>
            <a:ext cx="595274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Company with at least 3 Film IRIs</a:t>
            </a:r>
          </a:p>
        </p:txBody>
      </p:sp>
      <p:sp>
        <p:nvSpPr>
          <p:cNvPr id="82" name="TextBox 81"/>
          <p:cNvSpPr txBox="1"/>
          <p:nvPr/>
        </p:nvSpPr>
        <p:spPr>
          <a:xfrm>
            <a:off x="10808207" y="6907530"/>
            <a:ext cx="10149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6</a:t>
            </a:r>
          </a:p>
        </p:txBody>
      </p:sp>
      <p:sp>
        <p:nvSpPr>
          <p:cNvPr id="83" name="TextBox 82"/>
          <p:cNvSpPr txBox="1"/>
          <p:nvPr/>
        </p:nvSpPr>
        <p:spPr>
          <a:xfrm>
            <a:off x="12042647" y="6907530"/>
            <a:ext cx="1883663"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IRI counting</a:t>
            </a:r>
          </a:p>
        </p:txBody>
      </p:sp>
      <p:sp>
        <p:nvSpPr>
          <p:cNvPr id="84" name="TextBox 83"/>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12 classes: OWL RL, with matching HermiT/Pellet counts. Last 2: COUNT DISTINCT; DL instances: 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R1 · Inference example: Christopher Nolan</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DirectorRole </a:t>
            </a:r>
            <a:r>
              <a:rPr>
                <a:latin typeface="Arial Unicode MS"/>
              </a:rPr>
              <a:t>→</a:t>
            </a:r>
            <a:r>
              <a:t> DirectingContribution </a:t>
            </a:r>
            <a:r>
              <a:rPr>
                <a:latin typeface="Arial Unicode MS"/>
              </a:rPr>
              <a:t>→</a:t>
            </a:r>
            <a:r>
              <a:t> Filmmaker</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08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13 / 24</a:t>
            </a:r>
          </a:p>
        </p:txBody>
      </p:sp>
      <p:sp>
        <p:nvSpPr>
          <p:cNvPr id="9" name="Rounded Rectangle 8"/>
          <p:cNvSpPr/>
          <p:nvPr/>
        </p:nvSpPr>
        <p:spPr>
          <a:xfrm>
            <a:off x="731520" y="2651760"/>
            <a:ext cx="672084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651760"/>
            <a:ext cx="41148" cy="11887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798064"/>
            <a:ext cx="630021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FACTS</a:t>
            </a:r>
          </a:p>
        </p:txBody>
      </p:sp>
      <p:sp>
        <p:nvSpPr>
          <p:cNvPr id="12" name="TextBox 11"/>
          <p:cNvSpPr txBox="1"/>
          <p:nvPr/>
        </p:nvSpPr>
        <p:spPr>
          <a:xfrm>
            <a:off x="941832" y="3242056"/>
            <a:ext cx="6300216" cy="516128"/>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Nolan a dbo:Person</a:t>
            </a:r>
          </a:p>
          <a:p>
            <a:pPr>
              <a:lnSpc>
                <a:spcPts val="2176"/>
              </a:lnSpc>
              <a:spcBef>
                <a:spcPts val="0"/>
              </a:spcBef>
              <a:spcAft>
                <a:spcPts val="0"/>
              </a:spcAft>
              <a:defRPr sz="1700" b="0">
                <a:solidFill>
                  <a:srgbClr val="506776"/>
                </a:solidFill>
                <a:latin typeface="Be Vietnam Pro"/>
              </a:defRPr>
            </a:pPr>
            <a:r>
              <a:t>c hasRole DirectorRole</a:t>
            </a:r>
          </a:p>
        </p:txBody>
      </p:sp>
      <p:sp>
        <p:nvSpPr>
          <p:cNvPr id="13" name="TextBox 12"/>
          <p:cNvSpPr txBox="1"/>
          <p:nvPr/>
        </p:nvSpPr>
        <p:spPr>
          <a:xfrm>
            <a:off x="3749039" y="3831335"/>
            <a:ext cx="731520" cy="301752"/>
          </a:xfrm>
          <a:prstGeom prst="rect">
            <a:avLst/>
          </a:prstGeom>
          <a:noFill/>
        </p:spPr>
        <p:txBody>
          <a:bodyPr wrap="none" lIns="0" rIns="0" tIns="0" bIns="0">
            <a:spAutoFit/>
          </a:bodyPr>
          <a:lstStyle/>
          <a:p>
            <a:pPr>
              <a:lnSpc>
                <a:spcPts val="2560"/>
              </a:lnSpc>
              <a:spcBef>
                <a:spcPts val="0"/>
              </a:spcBef>
              <a:spcAft>
                <a:spcPts val="0"/>
              </a:spcAft>
              <a:defRPr sz="2000" b="0">
                <a:solidFill>
                  <a:srgbClr val="007F82"/>
                </a:solidFill>
                <a:latin typeface="Be Vietnam Pro"/>
              </a:defRPr>
            </a:pPr>
            <a:r>
              <a:rPr>
                <a:latin typeface="Arial Unicode MS"/>
              </a:rPr>
              <a:t>↓</a:t>
            </a:r>
          </a:p>
        </p:txBody>
      </p:sp>
      <p:sp>
        <p:nvSpPr>
          <p:cNvPr id="14" name="Rounded Rectangle 13"/>
          <p:cNvSpPr/>
          <p:nvPr/>
        </p:nvSpPr>
        <p:spPr>
          <a:xfrm>
            <a:off x="731520" y="4087368"/>
            <a:ext cx="672084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4087368"/>
            <a:ext cx="41148" cy="11887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1832" y="4233672"/>
            <a:ext cx="630021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RULE 1 · hasValue</a:t>
            </a:r>
          </a:p>
        </p:txBody>
      </p:sp>
      <p:sp>
        <p:nvSpPr>
          <p:cNvPr id="17" name="TextBox 16"/>
          <p:cNvSpPr txBox="1"/>
          <p:nvPr/>
        </p:nvSpPr>
        <p:spPr>
          <a:xfrm>
            <a:off x="941832" y="4677663"/>
            <a:ext cx="6300216" cy="516128"/>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c a DirectingContribution</a:t>
            </a:r>
          </a:p>
        </p:txBody>
      </p:sp>
      <p:sp>
        <p:nvSpPr>
          <p:cNvPr id="18" name="TextBox 17"/>
          <p:cNvSpPr txBox="1"/>
          <p:nvPr/>
        </p:nvSpPr>
        <p:spPr>
          <a:xfrm>
            <a:off x="3749039" y="5266944"/>
            <a:ext cx="731520" cy="301752"/>
          </a:xfrm>
          <a:prstGeom prst="rect">
            <a:avLst/>
          </a:prstGeom>
          <a:noFill/>
        </p:spPr>
        <p:txBody>
          <a:bodyPr wrap="none" lIns="0" rIns="0" tIns="0" bIns="0">
            <a:spAutoFit/>
          </a:bodyPr>
          <a:lstStyle/>
          <a:p>
            <a:pPr>
              <a:lnSpc>
                <a:spcPts val="2560"/>
              </a:lnSpc>
              <a:spcBef>
                <a:spcPts val="0"/>
              </a:spcBef>
              <a:spcAft>
                <a:spcPts val="0"/>
              </a:spcAft>
              <a:defRPr sz="2000" b="0">
                <a:solidFill>
                  <a:srgbClr val="007F82"/>
                </a:solidFill>
                <a:latin typeface="Be Vietnam Pro"/>
              </a:defRPr>
            </a:pPr>
            <a:r>
              <a:rPr>
                <a:latin typeface="Arial Unicode MS"/>
              </a:rPr>
              <a:t>↓</a:t>
            </a:r>
          </a:p>
        </p:txBody>
      </p:sp>
      <p:sp>
        <p:nvSpPr>
          <p:cNvPr id="19" name="Rounded Rectangle 18"/>
          <p:cNvSpPr/>
          <p:nvPr/>
        </p:nvSpPr>
        <p:spPr>
          <a:xfrm>
            <a:off x="731520" y="5522976"/>
            <a:ext cx="672084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 y="5522976"/>
            <a:ext cx="41148" cy="11887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5669280"/>
            <a:ext cx="630021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RULE 2 · SOME + OR</a:t>
            </a:r>
          </a:p>
        </p:txBody>
      </p:sp>
      <p:sp>
        <p:nvSpPr>
          <p:cNvPr id="22" name="TextBox 21"/>
          <p:cNvSpPr txBox="1"/>
          <p:nvPr/>
        </p:nvSpPr>
        <p:spPr>
          <a:xfrm>
            <a:off x="941832" y="6113272"/>
            <a:ext cx="6300216" cy="516128"/>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Nolan a Filmmaker</a:t>
            </a:r>
          </a:p>
        </p:txBody>
      </p:sp>
      <p:sp>
        <p:nvSpPr>
          <p:cNvPr id="23" name="PHOTO_P06_0"/>
          <p:cNvSpPr/>
          <p:nvPr/>
        </p:nvSpPr>
        <p:spPr>
          <a:xfrm>
            <a:off x="7818120" y="2578608"/>
            <a:ext cx="6080760" cy="4590288"/>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HOTO_P06_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P06</a:t>
            </a:r>
          </a:p>
        </p:txBody>
      </p:sp>
      <p:sp>
        <p:nvSpPr>
          <p:cNvPr id="25" name="PHOTO_P06_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HOTO_P06_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Định nghĩa Filmmaker</a:t>
            </a:r>
          </a:p>
        </p:txBody>
      </p:sp>
      <p:sp>
        <p:nvSpPr>
          <p:cNvPr id="27" name="PHOTO_P06_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P06_filmmaker_equivalent_class.png</a:t>
            </a:r>
          </a:p>
        </p:txBody>
      </p:sp>
      <p:sp>
        <p:nvSpPr>
          <p:cNvPr id="28" name="PHOTO_P06_5"/>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Entities </a:t>
            </a:r>
            <a:r>
              <a:rPr>
                <a:latin typeface="Arial Unicode MS"/>
              </a:rPr>
              <a:t>→</a:t>
            </a:r>
            <a:r>
              <a:t> Classes </a:t>
            </a:r>
            <a:r>
              <a:rPr>
                <a:latin typeface="Arial Unicode MS"/>
              </a:rPr>
              <a:t>→</a:t>
            </a:r>
            <a:r>
              <a:t> chọn Filmmaker.</a:t>
            </a:r>
          </a:p>
        </p:txBody>
      </p:sp>
      <p:sp>
        <p:nvSpPr>
          <p:cNvPr id="29" name="PHOTO_P06_6"/>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Mở Class Description </a:t>
            </a:r>
            <a:r>
              <a:rPr>
                <a:latin typeface="Arial Unicode MS"/>
              </a:rPr>
              <a:t>→</a:t>
            </a:r>
            <a:r>
              <a:t> Equivalent To.</a:t>
            </a:r>
          </a:p>
        </p:txBody>
      </p:sp>
      <p:sp>
        <p:nvSpPr>
          <p:cNvPr id="30" name="PHOTO_P06_7"/>
          <p:cNvSpPr txBox="1"/>
          <p:nvPr/>
        </p:nvSpPr>
        <p:spPr>
          <a:xfrm>
            <a:off x="8055864" y="5703823"/>
            <a:ext cx="5605272" cy="491744"/>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Hiện Person AND các nhánh SOME</a:t>
            </a:r>
          </a:p>
          <a:p>
            <a:pPr>
              <a:lnSpc>
                <a:spcPts val="1792"/>
              </a:lnSpc>
              <a:spcBef>
                <a:spcPts val="0"/>
              </a:spcBef>
              <a:spcAft>
                <a:spcPts val="0"/>
              </a:spcAft>
              <a:defRPr sz="1400" b="0">
                <a:solidFill>
                  <a:srgbClr val="506776"/>
                </a:solidFill>
                <a:latin typeface="Be Vietnam Pro"/>
              </a:defRPr>
            </a:pPr>
            <a:r>
              <a:t>Directing/Writing/ProducingContribution.</a:t>
            </a:r>
          </a:p>
        </p:txBody>
      </p:sp>
      <p:sp>
        <p:nvSpPr>
          <p:cNvPr id="31" name="PHOTO_P06_8"/>
          <p:cNvSpPr txBox="1"/>
          <p:nvPr/>
        </p:nvSpPr>
        <p:spPr>
          <a:xfrm>
            <a:off x="8046720" y="6830568"/>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
        <p:nvSpPr>
          <p:cNvPr id="32" name="TextBox 31"/>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Nolan: Person (asserted) </a:t>
            </a:r>
            <a:r>
              <a:rPr>
                <a:latin typeface="Arial Unicode MS"/>
              </a:rPr>
              <a:t>→</a:t>
            </a:r>
            <a:r>
              <a:t> Person + Filmmaker + AwardWinner (with inferred types).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R1 · Cardinality: thresholds of two and three</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Distinguish OWL definitions from counting distinct RDF terms</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08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14 / 24</a:t>
            </a:r>
          </a:p>
        </p:txBody>
      </p:sp>
      <p:sp>
        <p:nvSpPr>
          <p:cNvPr id="9" name="Rounded Rectangle 8"/>
          <p:cNvSpPr/>
          <p:nvPr/>
        </p:nvSpPr>
        <p:spPr>
          <a:xfrm>
            <a:off x="731520" y="2651760"/>
            <a:ext cx="6720840" cy="17373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651760"/>
            <a:ext cx="41148" cy="173736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798064"/>
            <a:ext cx="630021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MultiGenreFilm</a:t>
            </a:r>
          </a:p>
        </p:txBody>
      </p:sp>
      <p:sp>
        <p:nvSpPr>
          <p:cNvPr id="12" name="TextBox 11"/>
          <p:cNvSpPr txBox="1"/>
          <p:nvPr/>
        </p:nvSpPr>
        <p:spPr>
          <a:xfrm>
            <a:off x="941832" y="3242056"/>
            <a:ext cx="6300216" cy="1064767"/>
          </a:xfrm>
          <a:prstGeom prst="rect">
            <a:avLst/>
          </a:prstGeom>
          <a:noFill/>
        </p:spPr>
        <p:txBody>
          <a:bodyPr wrap="none" lIns="0" rIns="0" tIns="0" bIns="0">
            <a:spAutoFit/>
          </a:bodyPr>
          <a:lstStyle/>
          <a:p>
            <a:pPr>
              <a:lnSpc>
                <a:spcPts val="2304"/>
              </a:lnSpc>
              <a:spcBef>
                <a:spcPts val="0"/>
              </a:spcBef>
              <a:spcAft>
                <a:spcPts val="0"/>
              </a:spcAft>
              <a:defRPr sz="1800" b="0">
                <a:solidFill>
                  <a:srgbClr val="506776"/>
                </a:solidFill>
                <a:latin typeface="Be Vietnam Pro"/>
              </a:defRPr>
            </a:pPr>
            <a:r>
              <a:t>Film + min 2 hasGenre.Genre</a:t>
            </a:r>
          </a:p>
          <a:p>
            <a:pPr>
              <a:lnSpc>
                <a:spcPts val="2304"/>
              </a:lnSpc>
              <a:spcBef>
                <a:spcPts val="0"/>
              </a:spcBef>
              <a:spcAft>
                <a:spcPts val="0"/>
              </a:spcAft>
              <a:defRPr sz="1800" b="0">
                <a:solidFill>
                  <a:srgbClr val="506776"/>
                </a:solidFill>
                <a:latin typeface="Be Vietnam Pro"/>
              </a:defRPr>
            </a:pPr>
            <a:r>
              <a:t>Application: 30/30 films; DL: 0 inferred.</a:t>
            </a:r>
          </a:p>
        </p:txBody>
      </p:sp>
      <p:sp>
        <p:nvSpPr>
          <p:cNvPr id="13" name="Rounded Rectangle 12"/>
          <p:cNvSpPr/>
          <p:nvPr/>
        </p:nvSpPr>
        <p:spPr>
          <a:xfrm>
            <a:off x="731520" y="4590288"/>
            <a:ext cx="6720840" cy="17373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4590288"/>
            <a:ext cx="41148" cy="173736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736592"/>
            <a:ext cx="630021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FilmStudio</a:t>
            </a:r>
          </a:p>
        </p:txBody>
      </p:sp>
      <p:sp>
        <p:nvSpPr>
          <p:cNvPr id="16" name="TextBox 15"/>
          <p:cNvSpPr txBox="1"/>
          <p:nvPr/>
        </p:nvSpPr>
        <p:spPr>
          <a:xfrm>
            <a:off x="941832" y="5180583"/>
            <a:ext cx="6300216" cy="1064768"/>
          </a:xfrm>
          <a:prstGeom prst="rect">
            <a:avLst/>
          </a:prstGeom>
          <a:noFill/>
        </p:spPr>
        <p:txBody>
          <a:bodyPr wrap="none" lIns="0" rIns="0" tIns="0" bIns="0">
            <a:spAutoFit/>
          </a:bodyPr>
          <a:lstStyle/>
          <a:p>
            <a:pPr>
              <a:lnSpc>
                <a:spcPts val="2304"/>
              </a:lnSpc>
              <a:spcBef>
                <a:spcPts val="0"/>
              </a:spcBef>
              <a:spcAft>
                <a:spcPts val="0"/>
              </a:spcAft>
              <a:defRPr sz="1800" b="0">
                <a:solidFill>
                  <a:srgbClr val="506776"/>
                </a:solidFill>
                <a:latin typeface="Be Vietnam Pro"/>
              </a:defRPr>
            </a:pPr>
            <a:r>
              <a:t>ProductionCompany + min 3 productionOf.Film</a:t>
            </a:r>
          </a:p>
          <a:p>
            <a:pPr>
              <a:lnSpc>
                <a:spcPts val="2304"/>
              </a:lnSpc>
              <a:spcBef>
                <a:spcPts val="0"/>
              </a:spcBef>
              <a:spcAft>
                <a:spcPts val="0"/>
              </a:spcAft>
              <a:defRPr sz="1800" b="0">
                <a:solidFill>
                  <a:srgbClr val="506776"/>
                </a:solidFill>
                <a:latin typeface="Be Vietnam Pro"/>
              </a:defRPr>
            </a:pPr>
            <a:r>
              <a:t>Application: 6 companies; DL: 0 inferred.</a:t>
            </a:r>
          </a:p>
        </p:txBody>
      </p:sp>
      <p:sp>
        <p:nvSpPr>
          <p:cNvPr id="17" name="TextBox 16"/>
          <p:cNvSpPr txBox="1"/>
          <p:nvPr/>
        </p:nvSpPr>
        <p:spPr>
          <a:xfrm>
            <a:off x="914400" y="6592824"/>
            <a:ext cx="6336792" cy="557784"/>
          </a:xfrm>
          <a:prstGeom prst="rect">
            <a:avLst/>
          </a:prstGeom>
          <a:noFill/>
        </p:spPr>
        <p:txBody>
          <a:bodyPr wrap="none" lIns="0" rIns="0" tIns="0" bIns="0">
            <a:spAutoFit/>
          </a:bodyPr>
          <a:lstStyle/>
          <a:p>
            <a:pPr>
              <a:lnSpc>
                <a:spcPts val="2048"/>
              </a:lnSpc>
              <a:spcBef>
                <a:spcPts val="0"/>
              </a:spcBef>
              <a:spcAft>
                <a:spcPts val="0"/>
              </a:spcAft>
              <a:defRPr sz="1600" b="1">
                <a:solidFill>
                  <a:srgbClr val="007F82"/>
                </a:solidFill>
                <a:latin typeface="Be Vietnam Pro"/>
              </a:defRPr>
            </a:pPr>
            <a:r>
              <a:t>Distinct IRIs </a:t>
            </a:r>
            <a:r>
              <a:rPr>
                <a:latin typeface="Arial Unicode MS"/>
              </a:rPr>
              <a:t>≠</a:t>
            </a:r>
            <a:r>
              <a:t> provably different OWL individuals.</a:t>
            </a:r>
          </a:p>
        </p:txBody>
      </p:sp>
      <p:sp>
        <p:nvSpPr>
          <p:cNvPr id="18" name="PHOTO_P07_0"/>
          <p:cNvSpPr/>
          <p:nvPr/>
        </p:nvSpPr>
        <p:spPr>
          <a:xfrm>
            <a:off x="7818120" y="2578608"/>
            <a:ext cx="6080760" cy="4590288"/>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HOTO_P07_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P07</a:t>
            </a:r>
          </a:p>
        </p:txBody>
      </p:sp>
      <p:sp>
        <p:nvSpPr>
          <p:cNvPr id="20" name="PHOTO_P07_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HOTO_P07_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Định nghĩa FilmStudio</a:t>
            </a:r>
          </a:p>
        </p:txBody>
      </p:sp>
      <p:sp>
        <p:nvSpPr>
          <p:cNvPr id="22" name="PHOTO_P07_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P07_filmstudio_cardinality.png</a:t>
            </a:r>
          </a:p>
        </p:txBody>
      </p:sp>
      <p:sp>
        <p:nvSpPr>
          <p:cNvPr id="23" name="PHOTO_P07_5"/>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Entities </a:t>
            </a:r>
            <a:r>
              <a:rPr>
                <a:latin typeface="Arial Unicode MS"/>
              </a:rPr>
              <a:t>→</a:t>
            </a:r>
            <a:r>
              <a:t> Classes </a:t>
            </a:r>
            <a:r>
              <a:rPr>
                <a:latin typeface="Arial Unicode MS"/>
              </a:rPr>
              <a:t>→</a:t>
            </a:r>
            <a:r>
              <a:t> chọn FilmStudio.</a:t>
            </a:r>
          </a:p>
        </p:txBody>
      </p:sp>
      <p:sp>
        <p:nvSpPr>
          <p:cNvPr id="24" name="PHOTO_P07_6"/>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Mở Equivalent To; hiện min 3 productionOf Film.</a:t>
            </a:r>
          </a:p>
        </p:txBody>
      </p:sp>
      <p:sp>
        <p:nvSpPr>
          <p:cNvPr id="25" name="PHOTO_P07_7"/>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Có thể chụp thêm MultiGenreFilm: min 2 hasGenre Genre.</a:t>
            </a:r>
          </a:p>
        </p:txBody>
      </p:sp>
      <p:sp>
        <p:nvSpPr>
          <p:cNvPr id="26" name="PHOTO_P07_8"/>
          <p:cNvSpPr txBox="1"/>
          <p:nvPr/>
        </p:nvSpPr>
        <p:spPr>
          <a:xfrm>
            <a:off x="8046720" y="6830568"/>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
        <p:nvSpPr>
          <p:cNvPr id="27" name="TextBox 26"/>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Local namespace filter + COUNT(DISTINCT IRI) avoids counting sameAs aliases as separate values.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R2 · Real collection and traceable sources</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76/76 raw responses present · 76/76 SHA-256 hashes match</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08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15 / 24</a:t>
            </a:r>
          </a:p>
        </p:txBody>
      </p:sp>
      <p:sp>
        <p:nvSpPr>
          <p:cNvPr id="9" name="Rounded Rectangle 8"/>
          <p:cNvSpPr/>
          <p:nvPr/>
        </p:nvSpPr>
        <p:spPr>
          <a:xfrm>
            <a:off x="731520" y="2651760"/>
            <a:ext cx="6629400" cy="12984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651760"/>
            <a:ext cx="41148" cy="1298448"/>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798064"/>
            <a:ext cx="620877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Resolve the right entity</a:t>
            </a:r>
          </a:p>
        </p:txBody>
      </p:sp>
      <p:sp>
        <p:nvSpPr>
          <p:cNvPr id="12" name="TextBox 11"/>
          <p:cNvSpPr txBox="1"/>
          <p:nvPr/>
        </p:nvSpPr>
        <p:spPr>
          <a:xfrm>
            <a:off x="941832" y="3242056"/>
            <a:ext cx="6208776" cy="625855"/>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Wikidata: exact Wikipedia sitelink.</a:t>
            </a:r>
          </a:p>
          <a:p>
            <a:pPr>
              <a:lnSpc>
                <a:spcPts val="2048"/>
              </a:lnSpc>
              <a:spcBef>
                <a:spcPts val="0"/>
              </a:spcBef>
              <a:spcAft>
                <a:spcPts val="0"/>
              </a:spcAft>
              <a:defRPr sz="1600" b="0">
                <a:solidFill>
                  <a:srgbClr val="506776"/>
                </a:solidFill>
                <a:latin typeface="Be Vietnam Pro"/>
              </a:defRPr>
            </a:pPr>
            <a:r>
              <a:t>DBpedia: matched root must be typed Film.</a:t>
            </a:r>
          </a:p>
        </p:txBody>
      </p:sp>
      <p:sp>
        <p:nvSpPr>
          <p:cNvPr id="13" name="Rounded Rectangle 12"/>
          <p:cNvSpPr/>
          <p:nvPr/>
        </p:nvSpPr>
        <p:spPr>
          <a:xfrm>
            <a:off x="731520" y="4123944"/>
            <a:ext cx="6629400" cy="12984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4123944"/>
            <a:ext cx="41148" cy="1298448"/>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270248"/>
            <a:ext cx="620877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Collect relevant claims</a:t>
            </a:r>
          </a:p>
        </p:txBody>
      </p:sp>
      <p:sp>
        <p:nvSpPr>
          <p:cNvPr id="16" name="TextBox 15"/>
          <p:cNvSpPr txBox="1"/>
          <p:nvPr/>
        </p:nvSpPr>
        <p:spPr>
          <a:xfrm>
            <a:off x="941832" y="4714239"/>
            <a:ext cx="6208776" cy="625856"/>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P57 / P161 / P58 / P162: people and roles.</a:t>
            </a:r>
          </a:p>
          <a:p>
            <a:pPr>
              <a:lnSpc>
                <a:spcPts val="2048"/>
              </a:lnSpc>
              <a:spcBef>
                <a:spcPts val="0"/>
              </a:spcBef>
              <a:spcAft>
                <a:spcPts val="0"/>
              </a:spcAft>
              <a:defRPr sz="1600" b="0">
                <a:solidFill>
                  <a:srgbClr val="506776"/>
                </a:solidFill>
                <a:latin typeface="Be Vietnam Pro"/>
              </a:defRPr>
            </a:pPr>
            <a:r>
              <a:t>P166: awards; P272: companies; year/runtime/genre.</a:t>
            </a:r>
          </a:p>
        </p:txBody>
      </p:sp>
      <p:sp>
        <p:nvSpPr>
          <p:cNvPr id="17" name="Rounded Rectangle 16"/>
          <p:cNvSpPr/>
          <p:nvPr/>
        </p:nvSpPr>
        <p:spPr>
          <a:xfrm>
            <a:off x="731520" y="5596128"/>
            <a:ext cx="6629400" cy="12984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5596128"/>
            <a:ext cx="41148" cy="1298448"/>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5742432"/>
            <a:ext cx="620877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Trace and reproduce</a:t>
            </a:r>
          </a:p>
        </p:txBody>
      </p:sp>
      <p:sp>
        <p:nvSpPr>
          <p:cNvPr id="20" name="TextBox 19"/>
          <p:cNvSpPr txBox="1"/>
          <p:nvPr/>
        </p:nvSpPr>
        <p:spPr>
          <a:xfrm>
            <a:off x="941832" y="6186424"/>
            <a:ext cx="6208776" cy="625856"/>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URL + retrieval time + HTTP status + SHA-256.</a:t>
            </a:r>
          </a:p>
          <a:p>
            <a:pPr>
              <a:lnSpc>
                <a:spcPts val="2048"/>
              </a:lnSpc>
              <a:spcBef>
                <a:spcPts val="0"/>
              </a:spcBef>
              <a:spcAft>
                <a:spcPts val="0"/>
              </a:spcAft>
              <a:defRPr sz="1600" b="0">
                <a:solidFill>
                  <a:srgbClr val="506776"/>
                </a:solidFill>
                <a:latin typeface="Be Vietnam Pro"/>
              </a:defRPr>
            </a:pPr>
            <a:r>
              <a:t>Cached collect </a:t>
            </a:r>
            <a:r>
              <a:rPr>
                <a:latin typeface="Arial Unicode MS"/>
              </a:rPr>
              <a:t>→</a:t>
            </a:r>
            <a:r>
              <a:t> build </a:t>
            </a:r>
            <a:r>
              <a:rPr>
                <a:latin typeface="Arial Unicode MS"/>
              </a:rPr>
              <a:t>→</a:t>
            </a:r>
            <a:r>
              <a:t> validate rerun.</a:t>
            </a:r>
          </a:p>
        </p:txBody>
      </p:sp>
      <p:pic>
        <p:nvPicPr>
          <p:cNvPr id="21" name="Picture 20" descr="12_sources_en.png"/>
          <p:cNvPicPr>
            <a:picLocks noChangeAspect="1"/>
          </p:cNvPicPr>
          <p:nvPr/>
        </p:nvPicPr>
        <p:blipFill>
          <a:blip r:embed="rId2"/>
          <a:stretch>
            <a:fillRect/>
          </a:stretch>
        </p:blipFill>
        <p:spPr>
          <a:xfrm>
            <a:off x="7726679" y="2821686"/>
            <a:ext cx="6263640" cy="4351020"/>
          </a:xfrm>
          <a:prstGeom prst="rect">
            <a:avLst/>
          </a:prstGeom>
        </p:spPr>
      </p:pic>
      <p:sp>
        <p:nvSpPr>
          <p:cNvPr id="22" name="TextBox 21"/>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Right: actual Wikidata metadata and response excerpt. Hashes verify integrity, not real-world truth.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R3 · RDF and typed literal values</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19,339 data triples · 518 schema triples · Turtle / JSON-LD / OWL</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08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16 / 24</a:t>
            </a:r>
          </a:p>
        </p:txBody>
      </p:sp>
      <p:sp>
        <p:nvSpPr>
          <p:cNvPr id="9" name="Rounded Rectangle 8"/>
          <p:cNvSpPr/>
          <p:nvPr/>
        </p:nvSpPr>
        <p:spPr>
          <a:xfrm>
            <a:off x="731520" y="2633472"/>
            <a:ext cx="6720840" cy="1810512"/>
          </a:xfrm>
          <a:prstGeom prst="roundRect">
            <a:avLst/>
          </a:prstGeom>
          <a:solidFill>
            <a:srgbClr val="152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798064"/>
            <a:ext cx="6318503" cy="1481328"/>
          </a:xfrm>
          <a:prstGeom prst="rect">
            <a:avLst/>
          </a:prstGeom>
          <a:noFill/>
        </p:spPr>
        <p:txBody>
          <a:bodyPr wrap="none" lIns="0" rIns="0" tIns="0" bIns="0">
            <a:spAutoFit/>
          </a:bodyPr>
          <a:lstStyle/>
          <a:p>
            <a:pPr>
              <a:lnSpc>
                <a:spcPts val="2048"/>
              </a:lnSpc>
              <a:spcBef>
                <a:spcPts val="0"/>
              </a:spcBef>
              <a:spcAft>
                <a:spcPts val="0"/>
              </a:spcAft>
              <a:defRPr sz="1600" b="0">
                <a:solidFill>
                  <a:srgbClr val="FFFFFF"/>
                </a:solidFill>
                <a:latin typeface="Be Vietnam Pro"/>
              </a:defRPr>
            </a:pPr>
            <a:r>
              <a:t>res:film-Q25188 a dbo:Film ;</a:t>
            </a:r>
          </a:p>
          <a:p>
            <a:pPr>
              <a:lnSpc>
                <a:spcPts val="2048"/>
              </a:lnSpc>
              <a:spcBef>
                <a:spcPts val="0"/>
              </a:spcBef>
              <a:spcAft>
                <a:spcPts val="0"/>
              </a:spcAft>
              <a:defRPr sz="1600" b="0">
                <a:solidFill>
                  <a:srgbClr val="FFFFFF"/>
                </a:solidFill>
                <a:latin typeface="Be Vietnam Pro"/>
              </a:defRPr>
            </a:pPr>
            <a:r>
              <a:t>ex:title "Inception" ;</a:t>
            </a:r>
          </a:p>
          <a:p>
            <a:pPr>
              <a:lnSpc>
                <a:spcPts val="2048"/>
              </a:lnSpc>
              <a:spcBef>
                <a:spcPts val="0"/>
              </a:spcBef>
              <a:spcAft>
                <a:spcPts val="0"/>
              </a:spcAft>
              <a:defRPr sz="1600" b="0">
                <a:solidFill>
                  <a:srgbClr val="FFFFFF"/>
                </a:solidFill>
                <a:latin typeface="Be Vietnam Pro"/>
              </a:defRPr>
            </a:pPr>
            <a:r>
              <a:t>ex:releaseYear 2010 ;</a:t>
            </a:r>
          </a:p>
          <a:p>
            <a:pPr>
              <a:lnSpc>
                <a:spcPts val="2048"/>
              </a:lnSpc>
              <a:spcBef>
                <a:spcPts val="0"/>
              </a:spcBef>
              <a:spcAft>
                <a:spcPts val="0"/>
              </a:spcAft>
              <a:defRPr sz="1600" b="0">
                <a:solidFill>
                  <a:srgbClr val="FFFFFF"/>
                </a:solidFill>
                <a:latin typeface="Be Vietnam Pro"/>
              </a:defRPr>
            </a:pPr>
            <a:r>
              <a:t>ex:runtimeMinutes "148.0"^^xsd:decimal ;</a:t>
            </a:r>
          </a:p>
          <a:p>
            <a:pPr>
              <a:lnSpc>
                <a:spcPts val="2048"/>
              </a:lnSpc>
              <a:spcBef>
                <a:spcPts val="0"/>
              </a:spcBef>
              <a:spcAft>
                <a:spcPts val="0"/>
              </a:spcAft>
              <a:defRPr sz="1600" b="0">
                <a:solidFill>
                  <a:srgbClr val="FFFFFF"/>
                </a:solidFill>
                <a:latin typeface="Be Vietnam Pro"/>
              </a:defRPr>
            </a:pPr>
            <a:r>
              <a:t>dbo:director res:person-Q25191 .</a:t>
            </a:r>
          </a:p>
        </p:txBody>
      </p:sp>
      <p:sp>
        <p:nvSpPr>
          <p:cNvPr id="11" name="Rectangle 10"/>
          <p:cNvSpPr/>
          <p:nvPr/>
        </p:nvSpPr>
        <p:spPr>
          <a:xfrm>
            <a:off x="731520" y="4645152"/>
            <a:ext cx="6720840" cy="39319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 y="4718304"/>
            <a:ext cx="3483863" cy="301752"/>
          </a:xfrm>
          <a:prstGeom prst="rect">
            <a:avLst/>
          </a:prstGeom>
          <a:noFill/>
        </p:spPr>
        <p:txBody>
          <a:bodyPr wrap="none" lIns="0" rIns="0" tIns="0" bIns="0">
            <a:spAutoFit/>
          </a:bodyPr>
          <a:lstStyle/>
          <a:p>
            <a:pPr>
              <a:lnSpc>
                <a:spcPts val="2048"/>
              </a:lnSpc>
              <a:spcBef>
                <a:spcPts val="0"/>
              </a:spcBef>
              <a:spcAft>
                <a:spcPts val="0"/>
              </a:spcAft>
              <a:defRPr sz="1600" b="1">
                <a:solidFill>
                  <a:srgbClr val="FFFFFF"/>
                </a:solidFill>
                <a:latin typeface="Be Vietnam Pro"/>
              </a:defRPr>
            </a:pPr>
            <a:r>
              <a:t>Data property</a:t>
            </a:r>
          </a:p>
        </p:txBody>
      </p:sp>
      <p:sp>
        <p:nvSpPr>
          <p:cNvPr id="13" name="TextBox 12"/>
          <p:cNvSpPr txBox="1"/>
          <p:nvPr/>
        </p:nvSpPr>
        <p:spPr>
          <a:xfrm>
            <a:off x="4544568" y="4718304"/>
            <a:ext cx="2798063" cy="301752"/>
          </a:xfrm>
          <a:prstGeom prst="rect">
            <a:avLst/>
          </a:prstGeom>
          <a:noFill/>
        </p:spPr>
        <p:txBody>
          <a:bodyPr wrap="none" lIns="0" rIns="0" tIns="0" bIns="0">
            <a:spAutoFit/>
          </a:bodyPr>
          <a:lstStyle/>
          <a:p>
            <a:pPr>
              <a:lnSpc>
                <a:spcPts val="2048"/>
              </a:lnSpc>
              <a:spcBef>
                <a:spcPts val="0"/>
              </a:spcBef>
              <a:spcAft>
                <a:spcPts val="0"/>
              </a:spcAft>
              <a:defRPr sz="1600" b="1">
                <a:solidFill>
                  <a:srgbClr val="FFFFFF"/>
                </a:solidFill>
                <a:latin typeface="Be Vietnam Pro"/>
              </a:defRPr>
            </a:pPr>
            <a:r>
              <a:t>xsd: type</a:t>
            </a:r>
          </a:p>
        </p:txBody>
      </p:sp>
      <p:sp>
        <p:nvSpPr>
          <p:cNvPr id="14" name="Rectangle 13"/>
          <p:cNvSpPr/>
          <p:nvPr/>
        </p:nvSpPr>
        <p:spPr>
          <a:xfrm>
            <a:off x="731520" y="5038344"/>
            <a:ext cx="6720840" cy="3789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 y="5097780"/>
            <a:ext cx="34838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title</a:t>
            </a:r>
          </a:p>
        </p:txBody>
      </p:sp>
      <p:sp>
        <p:nvSpPr>
          <p:cNvPr id="16" name="TextBox 15"/>
          <p:cNvSpPr txBox="1"/>
          <p:nvPr/>
        </p:nvSpPr>
        <p:spPr>
          <a:xfrm>
            <a:off x="4544568" y="5097780"/>
            <a:ext cx="27980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string</a:t>
            </a:r>
          </a:p>
        </p:txBody>
      </p:sp>
      <p:sp>
        <p:nvSpPr>
          <p:cNvPr id="17" name="Rectangle 16"/>
          <p:cNvSpPr/>
          <p:nvPr/>
        </p:nvSpPr>
        <p:spPr>
          <a:xfrm>
            <a:off x="731520" y="5417312"/>
            <a:ext cx="6720840" cy="378968"/>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5476748"/>
            <a:ext cx="34838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releaseYear</a:t>
            </a:r>
          </a:p>
        </p:txBody>
      </p:sp>
      <p:sp>
        <p:nvSpPr>
          <p:cNvPr id="19" name="TextBox 18"/>
          <p:cNvSpPr txBox="1"/>
          <p:nvPr/>
        </p:nvSpPr>
        <p:spPr>
          <a:xfrm>
            <a:off x="4544568" y="5476748"/>
            <a:ext cx="27980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integer</a:t>
            </a:r>
          </a:p>
        </p:txBody>
      </p:sp>
      <p:sp>
        <p:nvSpPr>
          <p:cNvPr id="20" name="Rectangle 19"/>
          <p:cNvSpPr/>
          <p:nvPr/>
        </p:nvSpPr>
        <p:spPr>
          <a:xfrm>
            <a:off x="731520" y="5796280"/>
            <a:ext cx="6720840" cy="3789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 y="5855716"/>
            <a:ext cx="34838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runtimeMinutes</a:t>
            </a:r>
          </a:p>
        </p:txBody>
      </p:sp>
      <p:sp>
        <p:nvSpPr>
          <p:cNvPr id="22" name="TextBox 21"/>
          <p:cNvSpPr txBox="1"/>
          <p:nvPr/>
        </p:nvSpPr>
        <p:spPr>
          <a:xfrm>
            <a:off x="4544568" y="5855716"/>
            <a:ext cx="27980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decimal</a:t>
            </a:r>
          </a:p>
        </p:txBody>
      </p:sp>
      <p:sp>
        <p:nvSpPr>
          <p:cNvPr id="23" name="Rectangle 22"/>
          <p:cNvSpPr/>
          <p:nvPr/>
        </p:nvSpPr>
        <p:spPr>
          <a:xfrm>
            <a:off x="731520" y="6175248"/>
            <a:ext cx="6720840" cy="378968"/>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8" y="6234684"/>
            <a:ext cx="34838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sourceUrl</a:t>
            </a:r>
          </a:p>
        </p:txBody>
      </p:sp>
      <p:sp>
        <p:nvSpPr>
          <p:cNvPr id="25" name="TextBox 24"/>
          <p:cNvSpPr txBox="1"/>
          <p:nvPr/>
        </p:nvSpPr>
        <p:spPr>
          <a:xfrm>
            <a:off x="4544568" y="6234684"/>
            <a:ext cx="27980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anyURI</a:t>
            </a:r>
          </a:p>
        </p:txBody>
      </p:sp>
      <p:sp>
        <p:nvSpPr>
          <p:cNvPr id="26" name="Rectangle 25"/>
          <p:cNvSpPr/>
          <p:nvPr/>
        </p:nvSpPr>
        <p:spPr>
          <a:xfrm>
            <a:off x="731520" y="6554216"/>
            <a:ext cx="6720840" cy="3789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6613652"/>
            <a:ext cx="34838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retrievedAt</a:t>
            </a:r>
          </a:p>
        </p:txBody>
      </p:sp>
      <p:sp>
        <p:nvSpPr>
          <p:cNvPr id="28" name="TextBox 27"/>
          <p:cNvSpPr txBox="1"/>
          <p:nvPr/>
        </p:nvSpPr>
        <p:spPr>
          <a:xfrm>
            <a:off x="4544568" y="6613652"/>
            <a:ext cx="27980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dateTime</a:t>
            </a:r>
          </a:p>
        </p:txBody>
      </p:sp>
      <p:sp>
        <p:nvSpPr>
          <p:cNvPr id="29" name="Rectangle 28"/>
          <p:cNvSpPr/>
          <p:nvPr/>
        </p:nvSpPr>
        <p:spPr>
          <a:xfrm>
            <a:off x="731520" y="6933184"/>
            <a:ext cx="6720840" cy="378968"/>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 y="6992620"/>
            <a:ext cx="34838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sha256</a:t>
            </a:r>
          </a:p>
        </p:txBody>
      </p:sp>
      <p:sp>
        <p:nvSpPr>
          <p:cNvPr id="31" name="TextBox 30"/>
          <p:cNvSpPr txBox="1"/>
          <p:nvPr/>
        </p:nvSpPr>
        <p:spPr>
          <a:xfrm>
            <a:off x="4544568" y="6992620"/>
            <a:ext cx="2798063" cy="260096"/>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string</a:t>
            </a:r>
          </a:p>
        </p:txBody>
      </p:sp>
      <p:sp>
        <p:nvSpPr>
          <p:cNvPr id="32" name="PHOTO_P08_0"/>
          <p:cNvSpPr/>
          <p:nvPr/>
        </p:nvSpPr>
        <p:spPr>
          <a:xfrm>
            <a:off x="7818120" y="2578608"/>
            <a:ext cx="6080760" cy="4590288"/>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HOTO_P08_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P08</a:t>
            </a:r>
          </a:p>
        </p:txBody>
      </p:sp>
      <p:sp>
        <p:nvSpPr>
          <p:cNvPr id="34" name="PHOTO_P08_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HOTO_P08_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Datatype của thời lượng</a:t>
            </a:r>
          </a:p>
        </p:txBody>
      </p:sp>
      <p:sp>
        <p:nvSpPr>
          <p:cNvPr id="36" name="PHOTO_P08_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P08_runtime_datatype.png</a:t>
            </a:r>
          </a:p>
        </p:txBody>
      </p:sp>
      <p:sp>
        <p:nvSpPr>
          <p:cNvPr id="37" name="PHOTO_P08_5"/>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Entities </a:t>
            </a:r>
            <a:r>
              <a:rPr>
                <a:latin typeface="Arial Unicode MS"/>
              </a:rPr>
              <a:t>→</a:t>
            </a:r>
            <a:r>
              <a:t> Data properties </a:t>
            </a:r>
            <a:r>
              <a:rPr>
                <a:latin typeface="Arial Unicode MS"/>
              </a:rPr>
              <a:t>→</a:t>
            </a:r>
            <a:r>
              <a:t> chọn runtimeMinutes.</a:t>
            </a:r>
          </a:p>
        </p:txBody>
      </p:sp>
      <p:sp>
        <p:nvSpPr>
          <p:cNvPr id="38" name="PHOTO_P08_6"/>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Hiện Domain=Film và Range=xsd:decimal.</a:t>
            </a:r>
          </a:p>
        </p:txBody>
      </p:sp>
      <p:sp>
        <p:nvSpPr>
          <p:cNvPr id="39" name="PHOTO_P08_7"/>
          <p:cNvSpPr txBox="1"/>
          <p:nvPr/>
        </p:nvSpPr>
        <p:spPr>
          <a:xfrm>
            <a:off x="8055864" y="57038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Có thể chụp thêm releaseYear có range xsd:integer.</a:t>
            </a:r>
          </a:p>
        </p:txBody>
      </p:sp>
      <p:sp>
        <p:nvSpPr>
          <p:cNvPr id="40" name="PHOTO_P08_8"/>
          <p:cNvSpPr txBox="1"/>
          <p:nvPr/>
        </p:nvSpPr>
        <p:spPr>
          <a:xfrm>
            <a:off x="8046720" y="6830568"/>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R3–R4 · From RDF to Linked Open Data</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Star levels are cumulative · publication and links are verified</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08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17 / 24</a:t>
            </a:r>
          </a:p>
        </p:txBody>
      </p:sp>
      <p:sp>
        <p:nvSpPr>
          <p:cNvPr id="9" name="Rounded Rectangle 8"/>
          <p:cNvSpPr/>
          <p:nvPr/>
        </p:nvSpPr>
        <p:spPr>
          <a:xfrm>
            <a:off x="731520" y="2651760"/>
            <a:ext cx="13304520" cy="6217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770632"/>
            <a:ext cx="1188720" cy="365760"/>
          </a:xfrm>
          <a:prstGeom prst="rect">
            <a:avLst/>
          </a:prstGeom>
          <a:noFill/>
        </p:spPr>
        <p:txBody>
          <a:bodyPr wrap="none" lIns="0" rIns="0" tIns="0" bIns="0">
            <a:spAutoFit/>
          </a:bodyPr>
          <a:lstStyle/>
          <a:p>
            <a:pPr>
              <a:lnSpc>
                <a:spcPts val="2688"/>
              </a:lnSpc>
              <a:spcBef>
                <a:spcPts val="0"/>
              </a:spcBef>
              <a:spcAft>
                <a:spcPts val="0"/>
              </a:spcAft>
              <a:defRPr sz="2100" b="1">
                <a:solidFill>
                  <a:srgbClr val="007F82"/>
                </a:solidFill>
                <a:latin typeface="Be Vietnam Pro"/>
              </a:defRPr>
            </a:pPr>
            <a:r>
              <a:t>1 star</a:t>
            </a:r>
          </a:p>
        </p:txBody>
      </p:sp>
      <p:sp>
        <p:nvSpPr>
          <p:cNvPr id="11" name="TextBox 10"/>
          <p:cNvSpPr txBox="1"/>
          <p:nvPr/>
        </p:nvSpPr>
        <p:spPr>
          <a:xfrm>
            <a:off x="2377440" y="2788920"/>
            <a:ext cx="5852160" cy="356616"/>
          </a:xfrm>
          <a:prstGeom prst="rect">
            <a:avLst/>
          </a:prstGeom>
          <a:noFill/>
        </p:spPr>
        <p:txBody>
          <a:bodyPr wrap="none" lIns="0" rIns="0" tIns="0" bIns="0">
            <a:spAutoFit/>
          </a:bodyPr>
          <a:lstStyle/>
          <a:p>
            <a:pPr>
              <a:lnSpc>
                <a:spcPts val="2432"/>
              </a:lnSpc>
              <a:spcBef>
                <a:spcPts val="0"/>
              </a:spcBef>
              <a:spcAft>
                <a:spcPts val="0"/>
              </a:spcAft>
              <a:defRPr sz="1900" b="1">
                <a:solidFill>
                  <a:srgbClr val="152B3A"/>
                </a:solidFill>
                <a:latin typeface="Be Vietnam Pro"/>
              </a:defRPr>
            </a:pPr>
            <a:r>
              <a:t>Public data + open license</a:t>
            </a:r>
          </a:p>
        </p:txBody>
      </p:sp>
      <p:sp>
        <p:nvSpPr>
          <p:cNvPr id="12" name="TextBox 11"/>
          <p:cNvSpPr txBox="1"/>
          <p:nvPr/>
        </p:nvSpPr>
        <p:spPr>
          <a:xfrm>
            <a:off x="8385048" y="2788920"/>
            <a:ext cx="5358384"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CC BY-SA 4.0</a:t>
            </a:r>
          </a:p>
        </p:txBody>
      </p:sp>
      <p:sp>
        <p:nvSpPr>
          <p:cNvPr id="13" name="Rounded Rectangle 12"/>
          <p:cNvSpPr/>
          <p:nvPr/>
        </p:nvSpPr>
        <p:spPr>
          <a:xfrm>
            <a:off x="731520" y="3438144"/>
            <a:ext cx="13304520" cy="6217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3557015"/>
            <a:ext cx="1188720" cy="365760"/>
          </a:xfrm>
          <a:prstGeom prst="rect">
            <a:avLst/>
          </a:prstGeom>
          <a:noFill/>
        </p:spPr>
        <p:txBody>
          <a:bodyPr wrap="none" lIns="0" rIns="0" tIns="0" bIns="0">
            <a:spAutoFit/>
          </a:bodyPr>
          <a:lstStyle/>
          <a:p>
            <a:pPr>
              <a:lnSpc>
                <a:spcPts val="2688"/>
              </a:lnSpc>
              <a:spcBef>
                <a:spcPts val="0"/>
              </a:spcBef>
              <a:spcAft>
                <a:spcPts val="0"/>
              </a:spcAft>
              <a:defRPr sz="2100" b="1">
                <a:solidFill>
                  <a:srgbClr val="007F82"/>
                </a:solidFill>
                <a:latin typeface="Be Vietnam Pro"/>
              </a:defRPr>
            </a:pPr>
            <a:r>
              <a:t>2 stars</a:t>
            </a:r>
          </a:p>
        </p:txBody>
      </p:sp>
      <p:sp>
        <p:nvSpPr>
          <p:cNvPr id="15" name="TextBox 14"/>
          <p:cNvSpPr txBox="1"/>
          <p:nvPr/>
        </p:nvSpPr>
        <p:spPr>
          <a:xfrm>
            <a:off x="2377440" y="3575303"/>
            <a:ext cx="5852160" cy="356616"/>
          </a:xfrm>
          <a:prstGeom prst="rect">
            <a:avLst/>
          </a:prstGeom>
          <a:noFill/>
        </p:spPr>
        <p:txBody>
          <a:bodyPr wrap="none" lIns="0" rIns="0" tIns="0" bIns="0">
            <a:spAutoFit/>
          </a:bodyPr>
          <a:lstStyle/>
          <a:p>
            <a:pPr>
              <a:lnSpc>
                <a:spcPts val="2432"/>
              </a:lnSpc>
              <a:spcBef>
                <a:spcPts val="0"/>
              </a:spcBef>
              <a:spcAft>
                <a:spcPts val="0"/>
              </a:spcAft>
              <a:defRPr sz="1900" b="1">
                <a:solidFill>
                  <a:srgbClr val="152B3A"/>
                </a:solidFill>
                <a:latin typeface="Be Vietnam Pro"/>
              </a:defRPr>
            </a:pPr>
            <a:r>
              <a:t>Structured data</a:t>
            </a:r>
          </a:p>
        </p:txBody>
      </p:sp>
      <p:sp>
        <p:nvSpPr>
          <p:cNvPr id="16" name="TextBox 15"/>
          <p:cNvSpPr txBox="1"/>
          <p:nvPr/>
        </p:nvSpPr>
        <p:spPr>
          <a:xfrm>
            <a:off x="8385048" y="3575303"/>
            <a:ext cx="5358384"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Films, people, roles and attributes</a:t>
            </a:r>
          </a:p>
        </p:txBody>
      </p:sp>
      <p:sp>
        <p:nvSpPr>
          <p:cNvPr id="17" name="Rounded Rectangle 16"/>
          <p:cNvSpPr/>
          <p:nvPr/>
        </p:nvSpPr>
        <p:spPr>
          <a:xfrm>
            <a:off x="731520" y="4224528"/>
            <a:ext cx="13304520" cy="6217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1832" y="4343400"/>
            <a:ext cx="1188720" cy="365760"/>
          </a:xfrm>
          <a:prstGeom prst="rect">
            <a:avLst/>
          </a:prstGeom>
          <a:noFill/>
        </p:spPr>
        <p:txBody>
          <a:bodyPr wrap="none" lIns="0" rIns="0" tIns="0" bIns="0">
            <a:spAutoFit/>
          </a:bodyPr>
          <a:lstStyle/>
          <a:p>
            <a:pPr>
              <a:lnSpc>
                <a:spcPts val="2688"/>
              </a:lnSpc>
              <a:spcBef>
                <a:spcPts val="0"/>
              </a:spcBef>
              <a:spcAft>
                <a:spcPts val="0"/>
              </a:spcAft>
              <a:defRPr sz="2100" b="1">
                <a:solidFill>
                  <a:srgbClr val="007F82"/>
                </a:solidFill>
                <a:latin typeface="Be Vietnam Pro"/>
              </a:defRPr>
            </a:pPr>
            <a:r>
              <a:t>3 stars</a:t>
            </a:r>
          </a:p>
        </p:txBody>
      </p:sp>
      <p:sp>
        <p:nvSpPr>
          <p:cNvPr id="19" name="TextBox 18"/>
          <p:cNvSpPr txBox="1"/>
          <p:nvPr/>
        </p:nvSpPr>
        <p:spPr>
          <a:xfrm>
            <a:off x="2377440" y="4361688"/>
            <a:ext cx="5852160" cy="356616"/>
          </a:xfrm>
          <a:prstGeom prst="rect">
            <a:avLst/>
          </a:prstGeom>
          <a:noFill/>
        </p:spPr>
        <p:txBody>
          <a:bodyPr wrap="none" lIns="0" rIns="0" tIns="0" bIns="0">
            <a:spAutoFit/>
          </a:bodyPr>
          <a:lstStyle/>
          <a:p>
            <a:pPr>
              <a:lnSpc>
                <a:spcPts val="2432"/>
              </a:lnSpc>
              <a:spcBef>
                <a:spcPts val="0"/>
              </a:spcBef>
              <a:spcAft>
                <a:spcPts val="0"/>
              </a:spcAft>
              <a:defRPr sz="1900" b="1">
                <a:solidFill>
                  <a:srgbClr val="152B3A"/>
                </a:solidFill>
                <a:latin typeface="Be Vietnam Pro"/>
              </a:defRPr>
            </a:pPr>
            <a:r>
              <a:t>Open formats</a:t>
            </a:r>
          </a:p>
        </p:txBody>
      </p:sp>
      <p:sp>
        <p:nvSpPr>
          <p:cNvPr id="20" name="TextBox 19"/>
          <p:cNvSpPr txBox="1"/>
          <p:nvPr/>
        </p:nvSpPr>
        <p:spPr>
          <a:xfrm>
            <a:off x="8385048" y="4361688"/>
            <a:ext cx="5358384"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CSV / Turtle / JSON-LD</a:t>
            </a:r>
          </a:p>
        </p:txBody>
      </p:sp>
      <p:sp>
        <p:nvSpPr>
          <p:cNvPr id="21" name="Rounded Rectangle 20"/>
          <p:cNvSpPr/>
          <p:nvPr/>
        </p:nvSpPr>
        <p:spPr>
          <a:xfrm>
            <a:off x="731520" y="5010912"/>
            <a:ext cx="13304520" cy="6217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1832" y="5129784"/>
            <a:ext cx="1188720" cy="365760"/>
          </a:xfrm>
          <a:prstGeom prst="rect">
            <a:avLst/>
          </a:prstGeom>
          <a:noFill/>
        </p:spPr>
        <p:txBody>
          <a:bodyPr wrap="none" lIns="0" rIns="0" tIns="0" bIns="0">
            <a:spAutoFit/>
          </a:bodyPr>
          <a:lstStyle/>
          <a:p>
            <a:pPr>
              <a:lnSpc>
                <a:spcPts val="2688"/>
              </a:lnSpc>
              <a:spcBef>
                <a:spcPts val="0"/>
              </a:spcBef>
              <a:spcAft>
                <a:spcPts val="0"/>
              </a:spcAft>
              <a:defRPr sz="2100" b="1">
                <a:solidFill>
                  <a:srgbClr val="007F82"/>
                </a:solidFill>
                <a:latin typeface="Be Vietnam Pro"/>
              </a:defRPr>
            </a:pPr>
            <a:r>
              <a:t>4 stars</a:t>
            </a:r>
          </a:p>
        </p:txBody>
      </p:sp>
      <p:sp>
        <p:nvSpPr>
          <p:cNvPr id="23" name="TextBox 22"/>
          <p:cNvSpPr txBox="1"/>
          <p:nvPr/>
        </p:nvSpPr>
        <p:spPr>
          <a:xfrm>
            <a:off x="2377440" y="5148072"/>
            <a:ext cx="5852160" cy="356616"/>
          </a:xfrm>
          <a:prstGeom prst="rect">
            <a:avLst/>
          </a:prstGeom>
          <a:noFill/>
        </p:spPr>
        <p:txBody>
          <a:bodyPr wrap="none" lIns="0" rIns="0" tIns="0" bIns="0">
            <a:spAutoFit/>
          </a:bodyPr>
          <a:lstStyle/>
          <a:p>
            <a:pPr>
              <a:lnSpc>
                <a:spcPts val="2432"/>
              </a:lnSpc>
              <a:spcBef>
                <a:spcPts val="0"/>
              </a:spcBef>
              <a:spcAft>
                <a:spcPts val="0"/>
              </a:spcAft>
              <a:defRPr sz="1900" b="1">
                <a:solidFill>
                  <a:srgbClr val="152B3A"/>
                </a:solidFill>
                <a:latin typeface="Be Vietnam Pro"/>
              </a:defRPr>
            </a:pPr>
            <a:r>
              <a:t>HTTP IRIs + RDF + lookup</a:t>
            </a:r>
          </a:p>
        </p:txBody>
      </p:sp>
      <p:sp>
        <p:nvSpPr>
          <p:cNvPr id="24" name="TextBox 23"/>
          <p:cNvSpPr txBox="1"/>
          <p:nvPr/>
        </p:nvSpPr>
        <p:spPr>
          <a:xfrm>
            <a:off x="8385048" y="5148072"/>
            <a:ext cx="5358384"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HTML, JSON-LD and RDF descriptions</a:t>
            </a:r>
          </a:p>
        </p:txBody>
      </p:sp>
      <p:sp>
        <p:nvSpPr>
          <p:cNvPr id="25" name="Rounded Rectangle 24"/>
          <p:cNvSpPr/>
          <p:nvPr/>
        </p:nvSpPr>
        <p:spPr>
          <a:xfrm>
            <a:off x="731520" y="5797296"/>
            <a:ext cx="13304520" cy="6217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1832" y="5916168"/>
            <a:ext cx="1188720" cy="365760"/>
          </a:xfrm>
          <a:prstGeom prst="rect">
            <a:avLst/>
          </a:prstGeom>
          <a:noFill/>
        </p:spPr>
        <p:txBody>
          <a:bodyPr wrap="none" lIns="0" rIns="0" tIns="0" bIns="0">
            <a:spAutoFit/>
          </a:bodyPr>
          <a:lstStyle/>
          <a:p>
            <a:pPr>
              <a:lnSpc>
                <a:spcPts val="2688"/>
              </a:lnSpc>
              <a:spcBef>
                <a:spcPts val="0"/>
              </a:spcBef>
              <a:spcAft>
                <a:spcPts val="0"/>
              </a:spcAft>
              <a:defRPr sz="2100" b="1">
                <a:solidFill>
                  <a:srgbClr val="007F82"/>
                </a:solidFill>
                <a:latin typeface="Be Vietnam Pro"/>
              </a:defRPr>
            </a:pPr>
            <a:r>
              <a:t>5 stars</a:t>
            </a:r>
          </a:p>
        </p:txBody>
      </p:sp>
      <p:sp>
        <p:nvSpPr>
          <p:cNvPr id="27" name="TextBox 26"/>
          <p:cNvSpPr txBox="1"/>
          <p:nvPr/>
        </p:nvSpPr>
        <p:spPr>
          <a:xfrm>
            <a:off x="2377440" y="5934456"/>
            <a:ext cx="5852160" cy="356616"/>
          </a:xfrm>
          <a:prstGeom prst="rect">
            <a:avLst/>
          </a:prstGeom>
          <a:noFill/>
        </p:spPr>
        <p:txBody>
          <a:bodyPr wrap="none" lIns="0" rIns="0" tIns="0" bIns="0">
            <a:spAutoFit/>
          </a:bodyPr>
          <a:lstStyle/>
          <a:p>
            <a:pPr>
              <a:lnSpc>
                <a:spcPts val="2432"/>
              </a:lnSpc>
              <a:spcBef>
                <a:spcPts val="0"/>
              </a:spcBef>
              <a:spcAft>
                <a:spcPts val="0"/>
              </a:spcAft>
              <a:defRPr sz="1900" b="1">
                <a:solidFill>
                  <a:srgbClr val="152B3A"/>
                </a:solidFill>
                <a:latin typeface="Be Vietnam Pro"/>
              </a:defRPr>
            </a:pPr>
            <a:r>
              <a:t>Links to external datasets</a:t>
            </a:r>
          </a:p>
        </p:txBody>
      </p:sp>
      <p:sp>
        <p:nvSpPr>
          <p:cNvPr id="28" name="TextBox 27"/>
          <p:cNvSpPr txBox="1"/>
          <p:nvPr/>
        </p:nvSpPr>
        <p:spPr>
          <a:xfrm>
            <a:off x="8385048" y="5934456"/>
            <a:ext cx="5358384" cy="36576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1,699 Wikidata + 28 DBpedia</a:t>
            </a:r>
          </a:p>
        </p:txBody>
      </p:sp>
      <p:sp>
        <p:nvSpPr>
          <p:cNvPr id="29" name="TextBox 28"/>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sameAs: shared identity. sourceSnapshot: provenance. All four checked public RDF graphs match local data.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R3 · Looking up Inception’s IRI</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One identifier offers readable and machine-readable descriptions</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08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18 / 24</a:t>
            </a:r>
          </a:p>
        </p:txBody>
      </p:sp>
      <p:pic>
        <p:nvPicPr>
          <p:cNvPr id="9" name="Picture 8" descr="09_inception_resource.png"/>
          <p:cNvPicPr>
            <a:picLocks noChangeAspect="1"/>
          </p:cNvPicPr>
          <p:nvPr/>
        </p:nvPicPr>
        <p:blipFill>
          <a:blip r:embed="rId2"/>
          <a:stretch>
            <a:fillRect/>
          </a:stretch>
        </p:blipFill>
        <p:spPr>
          <a:xfrm>
            <a:off x="758190" y="2606040"/>
            <a:ext cx="6713220" cy="4663440"/>
          </a:xfrm>
          <a:prstGeom prst="rect">
            <a:avLst/>
          </a:prstGeom>
        </p:spPr>
      </p:pic>
      <p:sp>
        <p:nvSpPr>
          <p:cNvPr id="10" name="PHOTO_P09_0"/>
          <p:cNvSpPr/>
          <p:nvPr/>
        </p:nvSpPr>
        <p:spPr>
          <a:xfrm>
            <a:off x="7818120" y="2578608"/>
            <a:ext cx="6080760" cy="4590288"/>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HOTO_P09_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P09</a:t>
            </a:r>
          </a:p>
        </p:txBody>
      </p:sp>
      <p:sp>
        <p:nvSpPr>
          <p:cNvPr id="12" name="PHOTO_P09_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HOTO_P09_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Cá thể Inception</a:t>
            </a:r>
          </a:p>
        </p:txBody>
      </p:sp>
      <p:sp>
        <p:nvSpPr>
          <p:cNvPr id="14" name="PHOTO_P09_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P09_inception_individual.png</a:t>
            </a:r>
          </a:p>
        </p:txBody>
      </p:sp>
      <p:sp>
        <p:nvSpPr>
          <p:cNvPr id="15" name="PHOTO_P09_5"/>
          <p:cNvSpPr txBox="1"/>
          <p:nvPr/>
        </p:nvSpPr>
        <p:spPr>
          <a:xfrm>
            <a:off x="8055864" y="4992624"/>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Mở ontology/Movie_Knowledge_Graph.owl.</a:t>
            </a:r>
          </a:p>
        </p:txBody>
      </p:sp>
      <p:sp>
        <p:nvSpPr>
          <p:cNvPr id="16" name="PHOTO_P09_6"/>
          <p:cNvSpPr txBox="1"/>
          <p:nvPr/>
        </p:nvSpPr>
        <p:spPr>
          <a:xfrm>
            <a:off x="8055864" y="5348223"/>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Individuals </a:t>
            </a:r>
            <a:r>
              <a:rPr>
                <a:latin typeface="Arial Unicode MS"/>
              </a:rPr>
              <a:t>→</a:t>
            </a:r>
            <a:r>
              <a:t> chọn film-Q25188 (Inception).</a:t>
            </a:r>
          </a:p>
        </p:txBody>
      </p:sp>
      <p:sp>
        <p:nvSpPr>
          <p:cNvPr id="17" name="PHOTO_P09_7"/>
          <p:cNvSpPr txBox="1"/>
          <p:nvPr/>
        </p:nvSpPr>
        <p:spPr>
          <a:xfrm>
            <a:off x="8055864" y="5703823"/>
            <a:ext cx="5605272" cy="491744"/>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Hiện Film, title, releaseYear=2010, runtimeMinutes=148 và</a:t>
            </a:r>
          </a:p>
          <a:p>
            <a:pPr>
              <a:lnSpc>
                <a:spcPts val="1792"/>
              </a:lnSpc>
              <a:spcBef>
                <a:spcPts val="0"/>
              </a:spcBef>
              <a:spcAft>
                <a:spcPts val="0"/>
              </a:spcAft>
              <a:defRPr sz="1400" b="0">
                <a:solidFill>
                  <a:srgbClr val="506776"/>
                </a:solidFill>
                <a:latin typeface="Be Vietnam Pro"/>
              </a:defRPr>
            </a:pPr>
            <a:r>
              <a:t>director.</a:t>
            </a:r>
          </a:p>
        </p:txBody>
      </p:sp>
      <p:sp>
        <p:nvSpPr>
          <p:cNvPr id="18" name="PHOTO_P09_8"/>
          <p:cNvSpPr txBox="1"/>
          <p:nvPr/>
        </p:nvSpPr>
        <p:spPr>
          <a:xfrm>
            <a:off x="8046720" y="6830568"/>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
        <p:nvSpPr>
          <p:cNvPr id="19" name="TextBox 18"/>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Left: real application screenshot. Right: pending Protégé evidence for Inception in the main Knowledge Graph.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R5 · Querying Inception on the Web</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SELECT </a:t>
            </a:r>
            <a:r>
              <a:rPr>
                <a:latin typeface="Arial Unicode MS"/>
              </a:rPr>
              <a:t>→</a:t>
            </a:r>
            <a:r>
              <a:t> title, year, runtimeMinutes and director</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08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19 / 24</a:t>
            </a:r>
          </a:p>
        </p:txBody>
      </p:sp>
      <p:sp>
        <p:nvSpPr>
          <p:cNvPr id="9" name="Rounded Rectangle 8"/>
          <p:cNvSpPr/>
          <p:nvPr/>
        </p:nvSpPr>
        <p:spPr>
          <a:xfrm>
            <a:off x="731520" y="2697480"/>
            <a:ext cx="5715000" cy="3017520"/>
          </a:xfrm>
          <a:prstGeom prst="roundRect">
            <a:avLst/>
          </a:prstGeom>
          <a:solidFill>
            <a:srgbClr val="152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862072"/>
            <a:ext cx="5312664" cy="2688336"/>
          </a:xfrm>
          <a:prstGeom prst="rect">
            <a:avLst/>
          </a:prstGeom>
          <a:noFill/>
        </p:spPr>
        <p:txBody>
          <a:bodyPr wrap="none" lIns="0" rIns="0" tIns="0" bIns="0">
            <a:spAutoFit/>
          </a:bodyPr>
          <a:lstStyle/>
          <a:p>
            <a:pPr>
              <a:lnSpc>
                <a:spcPts val="1792"/>
              </a:lnSpc>
              <a:spcBef>
                <a:spcPts val="0"/>
              </a:spcBef>
              <a:spcAft>
                <a:spcPts val="0"/>
              </a:spcAft>
              <a:defRPr sz="1400" b="0">
                <a:solidFill>
                  <a:srgbClr val="FFFFFF"/>
                </a:solidFill>
                <a:latin typeface="Be Vietnam Pro"/>
              </a:defRPr>
            </a:pPr>
            <a:r>
              <a:t>SELECT ?title ?year ?runtimeMinutes ?director</a:t>
            </a:r>
          </a:p>
          <a:p>
            <a:pPr>
              <a:lnSpc>
                <a:spcPts val="1792"/>
              </a:lnSpc>
              <a:spcBef>
                <a:spcPts val="0"/>
              </a:spcBef>
              <a:spcAft>
                <a:spcPts val="0"/>
              </a:spcAft>
              <a:defRPr sz="1400" b="0">
                <a:solidFill>
                  <a:srgbClr val="FFFFFF"/>
                </a:solidFill>
                <a:latin typeface="Be Vietnam Pro"/>
              </a:defRPr>
            </a:pPr>
            <a:r>
              <a:t>WHERE {</a:t>
            </a:r>
          </a:p>
          <a:p>
            <a:pPr>
              <a:lnSpc>
                <a:spcPts val="1792"/>
              </a:lnSpc>
              <a:spcBef>
                <a:spcPts val="0"/>
              </a:spcBef>
              <a:spcAft>
                <a:spcPts val="0"/>
              </a:spcAft>
              <a:defRPr sz="1400" b="0">
                <a:solidFill>
                  <a:srgbClr val="FFFFFF"/>
                </a:solidFill>
                <a:latin typeface="Be Vietnam Pro"/>
              </a:defRPr>
            </a:pPr>
            <a:r>
              <a:t>?film a dbo:Film ; ex:title "Inception" ;</a:t>
            </a:r>
          </a:p>
          <a:p>
            <a:pPr>
              <a:lnSpc>
                <a:spcPts val="1792"/>
              </a:lnSpc>
              <a:spcBef>
                <a:spcPts val="0"/>
              </a:spcBef>
              <a:spcAft>
                <a:spcPts val="0"/>
              </a:spcAft>
              <a:defRPr sz="1400" b="0">
                <a:solidFill>
                  <a:srgbClr val="FFFFFF"/>
                </a:solidFill>
                <a:latin typeface="Be Vietnam Pro"/>
              </a:defRPr>
            </a:pPr>
            <a:r>
              <a:t>ex:title ?title ; dbo:director ?person .</a:t>
            </a:r>
          </a:p>
          <a:p>
            <a:pPr>
              <a:lnSpc>
                <a:spcPts val="1792"/>
              </a:lnSpc>
              <a:spcBef>
                <a:spcPts val="0"/>
              </a:spcBef>
              <a:spcAft>
                <a:spcPts val="0"/>
              </a:spcAft>
              <a:defRPr sz="1400" b="0">
                <a:solidFill>
                  <a:srgbClr val="FFFFFF"/>
                </a:solidFill>
                <a:latin typeface="Be Vietnam Pro"/>
              </a:defRPr>
            </a:pPr>
            <a:r>
              <a:t>?person rdfs:label ?director .</a:t>
            </a:r>
          </a:p>
          <a:p>
            <a:pPr>
              <a:lnSpc>
                <a:spcPts val="1792"/>
              </a:lnSpc>
              <a:spcBef>
                <a:spcPts val="0"/>
              </a:spcBef>
              <a:spcAft>
                <a:spcPts val="0"/>
              </a:spcAft>
              <a:defRPr sz="1400" b="0">
                <a:solidFill>
                  <a:srgbClr val="FFFFFF"/>
                </a:solidFill>
                <a:latin typeface="Be Vietnam Pro"/>
              </a:defRPr>
            </a:pPr>
            <a:r>
              <a:t>OPTIONAL { ?film ex:releaseYear ?year }</a:t>
            </a:r>
          </a:p>
          <a:p>
            <a:pPr>
              <a:lnSpc>
                <a:spcPts val="1792"/>
              </a:lnSpc>
              <a:spcBef>
                <a:spcPts val="0"/>
              </a:spcBef>
              <a:spcAft>
                <a:spcPts val="0"/>
              </a:spcAft>
              <a:defRPr sz="1400" b="0">
                <a:solidFill>
                  <a:srgbClr val="FFFFFF"/>
                </a:solidFill>
                <a:latin typeface="Be Vietnam Pro"/>
              </a:defRPr>
            </a:pPr>
            <a:r>
              <a:t>OPTIONAL { ?film ex:runtimeMinutes ?runtimeMinutes }</a:t>
            </a:r>
          </a:p>
          <a:p>
            <a:pPr>
              <a:lnSpc>
                <a:spcPts val="1792"/>
              </a:lnSpc>
              <a:spcBef>
                <a:spcPts val="0"/>
              </a:spcBef>
              <a:spcAft>
                <a:spcPts val="0"/>
              </a:spcAft>
              <a:defRPr sz="1400" b="0">
                <a:solidFill>
                  <a:srgbClr val="FFFFFF"/>
                </a:solidFill>
                <a:latin typeface="Be Vietnam Pro"/>
              </a:defRPr>
            </a:pPr>
            <a:r>
              <a:t>}</a:t>
            </a:r>
          </a:p>
        </p:txBody>
      </p:sp>
      <p:sp>
        <p:nvSpPr>
          <p:cNvPr id="11" name="Rounded Rectangle 10"/>
          <p:cNvSpPr/>
          <p:nvPr/>
        </p:nvSpPr>
        <p:spPr>
          <a:xfrm>
            <a:off x="731520" y="5998464"/>
            <a:ext cx="5715000" cy="10972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5998464"/>
            <a:ext cx="41148" cy="109728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6144768"/>
            <a:ext cx="529437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2010 · 148 minutes · Nolan</a:t>
            </a:r>
          </a:p>
        </p:txBody>
      </p:sp>
      <p:sp>
        <p:nvSpPr>
          <p:cNvPr id="14" name="TextBox 13"/>
          <p:cNvSpPr txBox="1"/>
          <p:nvPr/>
        </p:nvSpPr>
        <p:spPr>
          <a:xfrm>
            <a:off x="941832" y="6588759"/>
            <a:ext cx="5294376" cy="424688"/>
          </a:xfrm>
          <a:prstGeom prst="rect">
            <a:avLst/>
          </a:prstGeom>
          <a:noFill/>
        </p:spPr>
        <p:txBody>
          <a:bodyPr wrap="none" lIns="0" rIns="0" tIns="0" bIns="0">
            <a:spAutoFit/>
          </a:bodyPr>
          <a:lstStyle/>
          <a:p>
            <a:pPr>
              <a:lnSpc>
                <a:spcPts val="1920"/>
              </a:lnSpc>
              <a:spcBef>
                <a:spcPts val="0"/>
              </a:spcBef>
              <a:spcAft>
                <a:spcPts val="0"/>
              </a:spcAft>
              <a:defRPr sz="1500" b="0">
                <a:solidFill>
                  <a:srgbClr val="506776"/>
                </a:solidFill>
                <a:latin typeface="Be Vietnam Pro"/>
              </a:defRPr>
            </a:pPr>
            <a:r>
              <a:t>SELECT chooses columns; WHERE matches; OPTIONAL</a:t>
            </a:r>
          </a:p>
          <a:p>
            <a:pPr>
              <a:lnSpc>
                <a:spcPts val="1920"/>
              </a:lnSpc>
              <a:spcBef>
                <a:spcPts val="0"/>
              </a:spcBef>
              <a:spcAft>
                <a:spcPts val="0"/>
              </a:spcAft>
              <a:defRPr sz="1500" b="0">
                <a:solidFill>
                  <a:srgbClr val="506776"/>
                </a:solidFill>
                <a:latin typeface="Be Vietnam Pro"/>
              </a:defRPr>
            </a:pPr>
            <a:r>
              <a:t>preserves rows.</a:t>
            </a:r>
          </a:p>
        </p:txBody>
      </p:sp>
      <p:pic>
        <p:nvPicPr>
          <p:cNvPr id="15" name="Picture 14" descr="05_inception_current.png"/>
          <p:cNvPicPr>
            <a:picLocks noChangeAspect="1"/>
          </p:cNvPicPr>
          <p:nvPr/>
        </p:nvPicPr>
        <p:blipFill>
          <a:blip r:embed="rId2"/>
          <a:stretch>
            <a:fillRect/>
          </a:stretch>
        </p:blipFill>
        <p:spPr>
          <a:xfrm>
            <a:off x="6966204" y="2595372"/>
            <a:ext cx="6888480" cy="4785360"/>
          </a:xfrm>
          <a:prstGeom prst="rect">
            <a:avLst/>
          </a:prstGeom>
        </p:spPr>
      </p:pic>
      <p:sp>
        <p:nvSpPr>
          <p:cNvPr id="16" name="TextBox 15"/>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Use the PREFIX declarations in queries/02_inception.rq. Actual result: 2010 · 148 minutes · Christopher Nolan.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R5 · One person, multiple roles and questions</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The screenshot filters Nolan: Director, Writer and Producer in Inception</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08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20 / 24</a:t>
            </a:r>
          </a:p>
        </p:txBody>
      </p:sp>
      <p:pic>
        <p:nvPicPr>
          <p:cNvPr id="9" name="Picture 8" descr="06_nolan_roles.png"/>
          <p:cNvPicPr>
            <a:picLocks noChangeAspect="1"/>
          </p:cNvPicPr>
          <p:nvPr/>
        </p:nvPicPr>
        <p:blipFill>
          <a:blip r:embed="rId2"/>
          <a:stretch>
            <a:fillRect/>
          </a:stretch>
        </p:blipFill>
        <p:spPr>
          <a:xfrm>
            <a:off x="1626870" y="2606040"/>
            <a:ext cx="6850380" cy="4754880"/>
          </a:xfrm>
          <a:prstGeom prst="rect">
            <a:avLst/>
          </a:prstGeom>
        </p:spPr>
      </p:pic>
      <p:sp>
        <p:nvSpPr>
          <p:cNvPr id="10" name="Rounded Rectangle 9"/>
          <p:cNvSpPr/>
          <p:nvPr/>
        </p:nvSpPr>
        <p:spPr>
          <a:xfrm>
            <a:off x="9601200" y="2670048"/>
            <a:ext cx="4443984" cy="1325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601200" y="2670048"/>
            <a:ext cx="41148" cy="132588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11512" y="2816352"/>
            <a:ext cx="4023360"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25 records</a:t>
            </a:r>
          </a:p>
        </p:txBody>
      </p:sp>
      <p:sp>
        <p:nvSpPr>
          <p:cNvPr id="13" name="TextBox 12"/>
          <p:cNvSpPr txBox="1"/>
          <p:nvPr/>
        </p:nvSpPr>
        <p:spPr>
          <a:xfrm>
            <a:off x="9811512" y="3260344"/>
            <a:ext cx="4023360" cy="653287"/>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All Inception contributions; the image</a:t>
            </a:r>
          </a:p>
          <a:p>
            <a:pPr>
              <a:lnSpc>
                <a:spcPts val="2048"/>
              </a:lnSpc>
              <a:spcBef>
                <a:spcPts val="0"/>
              </a:spcBef>
              <a:spcAft>
                <a:spcPts val="0"/>
              </a:spcAft>
              <a:defRPr sz="1600" b="0">
                <a:solidFill>
                  <a:srgbClr val="506776"/>
                </a:solidFill>
                <a:latin typeface="Be Vietnam Pro"/>
              </a:defRPr>
            </a:pPr>
            <a:r>
              <a:t>shows only Nolan.</a:t>
            </a:r>
          </a:p>
        </p:txBody>
      </p:sp>
      <p:sp>
        <p:nvSpPr>
          <p:cNvPr id="14" name="Rounded Rectangle 13"/>
          <p:cNvSpPr/>
          <p:nvPr/>
        </p:nvSpPr>
        <p:spPr>
          <a:xfrm>
            <a:off x="9601200" y="4224528"/>
            <a:ext cx="4443984" cy="1325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601200" y="4224528"/>
            <a:ext cx="41148" cy="132588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11512" y="4370832"/>
            <a:ext cx="4023360"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8 / 4 / 7</a:t>
            </a:r>
          </a:p>
        </p:txBody>
      </p:sp>
      <p:sp>
        <p:nvSpPr>
          <p:cNvPr id="17" name="TextBox 16"/>
          <p:cNvSpPr txBox="1"/>
          <p:nvPr/>
        </p:nvSpPr>
        <p:spPr>
          <a:xfrm>
            <a:off x="9811512" y="4814824"/>
            <a:ext cx="4023360" cy="653288"/>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Nolan films / Inception companies /</a:t>
            </a:r>
          </a:p>
          <a:p>
            <a:pPr>
              <a:lnSpc>
                <a:spcPts val="2048"/>
              </a:lnSpc>
              <a:spcBef>
                <a:spcPts val="0"/>
              </a:spcBef>
              <a:spcAft>
                <a:spcPts val="0"/>
              </a:spcAft>
              <a:defRPr sz="1600" b="0">
                <a:solidFill>
                  <a:srgbClr val="506776"/>
                </a:solidFill>
                <a:latin typeface="Be Vietnam Pro"/>
              </a:defRPr>
            </a:pPr>
            <a:r>
              <a:t>Godfather awards.</a:t>
            </a:r>
          </a:p>
        </p:txBody>
      </p:sp>
      <p:sp>
        <p:nvSpPr>
          <p:cNvPr id="18" name="Rounded Rectangle 17"/>
          <p:cNvSpPr/>
          <p:nvPr/>
        </p:nvSpPr>
        <p:spPr>
          <a:xfrm>
            <a:off x="9601200" y="5779008"/>
            <a:ext cx="4443984" cy="1325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601200" y="5779008"/>
            <a:ext cx="41148" cy="132588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11512" y="5925312"/>
            <a:ext cx="4023360"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14 Web samples / 24 files</a:t>
            </a:r>
          </a:p>
        </p:txBody>
      </p:sp>
      <p:sp>
        <p:nvSpPr>
          <p:cNvPr id="21" name="TextBox 20"/>
          <p:cNvSpPr txBox="1"/>
          <p:nvPr/>
        </p:nvSpPr>
        <p:spPr>
          <a:xfrm>
            <a:off x="9811512" y="6369304"/>
            <a:ext cx="4023360" cy="653288"/>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Hierarchy requires schema; inferred</a:t>
            </a:r>
          </a:p>
          <a:p>
            <a:pPr>
              <a:lnSpc>
                <a:spcPts val="2048"/>
              </a:lnSpc>
              <a:spcBef>
                <a:spcPts val="0"/>
              </a:spcBef>
              <a:spcAft>
                <a:spcPts val="0"/>
              </a:spcAft>
              <a:defRPr sz="1600" b="0">
                <a:solidFill>
                  <a:srgbClr val="506776"/>
                </a:solidFill>
                <a:latin typeface="Be Vietnam Pro"/>
              </a:defRPr>
            </a:pPr>
            <a:r>
              <a:t>types require --reasoned.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R5 · Endpoint, terminal and inferred types</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Same Nolan query: one asserted type </a:t>
            </a:r>
            <a:r>
              <a:rPr>
                <a:latin typeface="Arial Unicode MS"/>
              </a:rPr>
              <a:t>→</a:t>
            </a:r>
            <a:r>
              <a:t> three with saved inference</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08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21 / 24</a:t>
            </a:r>
          </a:p>
        </p:txBody>
      </p:sp>
      <p:sp>
        <p:nvSpPr>
          <p:cNvPr id="9" name="Rounded Rectangle 8"/>
          <p:cNvSpPr/>
          <p:nvPr/>
        </p:nvSpPr>
        <p:spPr>
          <a:xfrm>
            <a:off x="731520" y="2606040"/>
            <a:ext cx="6720840" cy="2496312"/>
          </a:xfrm>
          <a:prstGeom prst="roundRect">
            <a:avLst/>
          </a:prstGeom>
          <a:solidFill>
            <a:srgbClr val="152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770632"/>
            <a:ext cx="6318503" cy="2167128"/>
          </a:xfrm>
          <a:prstGeom prst="rect">
            <a:avLst/>
          </a:prstGeom>
          <a:noFill/>
        </p:spPr>
        <p:txBody>
          <a:bodyPr wrap="none" lIns="0" rIns="0" tIns="0" bIns="0">
            <a:spAutoFit/>
          </a:bodyPr>
          <a:lstStyle/>
          <a:p>
            <a:pPr>
              <a:lnSpc>
                <a:spcPts val="1792"/>
              </a:lnSpc>
              <a:spcBef>
                <a:spcPts val="0"/>
              </a:spcBef>
              <a:spcAft>
                <a:spcPts val="0"/>
              </a:spcAft>
              <a:defRPr sz="1400" b="0">
                <a:solidFill>
                  <a:srgbClr val="FFFFFF"/>
                </a:solidFill>
                <a:latin typeface="Be Vietnam Pro"/>
              </a:defRPr>
            </a:pPr>
            <a:r>
              <a:t>curl -X POST http://127.0.0.1:8000/sparql \</a:t>
            </a:r>
          </a:p>
          <a:p>
            <a:pPr>
              <a:lnSpc>
                <a:spcPts val="1792"/>
              </a:lnSpc>
              <a:spcBef>
                <a:spcPts val="0"/>
              </a:spcBef>
              <a:spcAft>
                <a:spcPts val="0"/>
              </a:spcAft>
              <a:defRPr sz="1400" b="0">
                <a:solidFill>
                  <a:srgbClr val="FFFFFF"/>
                </a:solidFill>
                <a:latin typeface="Be Vietnam Pro"/>
              </a:defRPr>
            </a:pPr>
            <a:r>
              <a:t>-H "Content-Type: application/sparql-query" \</a:t>
            </a:r>
          </a:p>
          <a:p>
            <a:pPr>
              <a:lnSpc>
                <a:spcPts val="1792"/>
              </a:lnSpc>
              <a:spcBef>
                <a:spcPts val="0"/>
              </a:spcBef>
              <a:spcAft>
                <a:spcPts val="0"/>
              </a:spcAft>
              <a:defRPr sz="1400" b="0">
                <a:solidFill>
                  <a:srgbClr val="FFFFFF"/>
                </a:solidFill>
                <a:latin typeface="Be Vietnam Pro"/>
              </a:defRPr>
            </a:pPr>
            <a:r>
              <a:t>--data-binary @queries/02_inception.rq</a:t>
            </a:r>
          </a:p>
          <a:p>
            <a:pPr>
              <a:lnSpc>
                <a:spcPts val="1792"/>
              </a:lnSpc>
              <a:spcBef>
                <a:spcPts val="0"/>
              </a:spcBef>
              <a:spcAft>
                <a:spcPts val="0"/>
              </a:spcAft>
              <a:defRPr sz="1400" b="0">
                <a:solidFill>
                  <a:srgbClr val="FFFFFF"/>
                </a:solidFill>
                <a:latin typeface="Be Vietnam Pro"/>
              </a:defRPr>
            </a:pPr>
          </a:p>
          <a:p>
            <a:pPr>
              <a:lnSpc>
                <a:spcPts val="1792"/>
              </a:lnSpc>
              <a:spcBef>
                <a:spcPts val="0"/>
              </a:spcBef>
              <a:spcAft>
                <a:spcPts val="0"/>
              </a:spcAft>
              <a:defRPr sz="1400" b="0">
                <a:solidFill>
                  <a:srgbClr val="FFFFFF"/>
                </a:solidFill>
                <a:latin typeface="Be Vietnam Pro"/>
              </a:defRPr>
            </a:pPr>
            <a:r>
              <a:t>.venv/bin/python src/query.py \</a:t>
            </a:r>
          </a:p>
          <a:p>
            <a:pPr>
              <a:lnSpc>
                <a:spcPts val="1792"/>
              </a:lnSpc>
              <a:spcBef>
                <a:spcPts val="0"/>
              </a:spcBef>
              <a:spcAft>
                <a:spcPts val="0"/>
              </a:spcAft>
              <a:defRPr sz="1400" b="0">
                <a:solidFill>
                  <a:srgbClr val="FFFFFF"/>
                </a:solidFill>
                <a:latin typeface="Be Vietnam Pro"/>
              </a:defRPr>
            </a:pPr>
            <a:r>
              <a:t>queries/24_nolan_asserted_types_only.rq</a:t>
            </a:r>
          </a:p>
          <a:p>
            <a:pPr>
              <a:lnSpc>
                <a:spcPts val="1792"/>
              </a:lnSpc>
              <a:spcBef>
                <a:spcPts val="0"/>
              </a:spcBef>
              <a:spcAft>
                <a:spcPts val="0"/>
              </a:spcAft>
              <a:defRPr sz="1400" b="0">
                <a:solidFill>
                  <a:srgbClr val="FFFFFF"/>
                </a:solidFill>
                <a:latin typeface="Be Vietnam Pro"/>
              </a:defRPr>
            </a:pPr>
            <a:r>
              <a:t>.venv/bin/python src/query.py \</a:t>
            </a:r>
          </a:p>
          <a:p>
            <a:pPr>
              <a:lnSpc>
                <a:spcPts val="1792"/>
              </a:lnSpc>
              <a:spcBef>
                <a:spcPts val="0"/>
              </a:spcBef>
              <a:spcAft>
                <a:spcPts val="0"/>
              </a:spcAft>
              <a:defRPr sz="1400" b="0">
                <a:solidFill>
                  <a:srgbClr val="FFFFFF"/>
                </a:solidFill>
                <a:latin typeface="Be Vietnam Pro"/>
              </a:defRPr>
            </a:pPr>
            <a:r>
              <a:t>queries/24_nolan_asserted_types_only.rq --reasoned</a:t>
            </a:r>
          </a:p>
        </p:txBody>
      </p:sp>
      <p:sp>
        <p:nvSpPr>
          <p:cNvPr id="11" name="Rectangle 10"/>
          <p:cNvSpPr/>
          <p:nvPr/>
        </p:nvSpPr>
        <p:spPr>
          <a:xfrm>
            <a:off x="731520" y="5431536"/>
            <a:ext cx="6720840" cy="39319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 y="5504688"/>
            <a:ext cx="1810512" cy="301752"/>
          </a:xfrm>
          <a:prstGeom prst="rect">
            <a:avLst/>
          </a:prstGeom>
          <a:noFill/>
        </p:spPr>
        <p:txBody>
          <a:bodyPr wrap="none" lIns="0" rIns="0" tIns="0" bIns="0">
            <a:spAutoFit/>
          </a:bodyPr>
          <a:lstStyle/>
          <a:p>
            <a:pPr>
              <a:lnSpc>
                <a:spcPts val="2048"/>
              </a:lnSpc>
              <a:spcBef>
                <a:spcPts val="0"/>
              </a:spcBef>
              <a:spcAft>
                <a:spcPts val="0"/>
              </a:spcAft>
              <a:defRPr sz="1600" b="1">
                <a:solidFill>
                  <a:srgbClr val="FFFFFF"/>
                </a:solidFill>
                <a:latin typeface="Be Vietnam Pro"/>
              </a:defRPr>
            </a:pPr>
            <a:r>
              <a:t>Mode</a:t>
            </a:r>
          </a:p>
        </p:txBody>
      </p:sp>
      <p:sp>
        <p:nvSpPr>
          <p:cNvPr id="13" name="TextBox 12"/>
          <p:cNvSpPr txBox="1"/>
          <p:nvPr/>
        </p:nvSpPr>
        <p:spPr>
          <a:xfrm>
            <a:off x="2871216" y="5504688"/>
            <a:ext cx="4471416" cy="301752"/>
          </a:xfrm>
          <a:prstGeom prst="rect">
            <a:avLst/>
          </a:prstGeom>
          <a:noFill/>
        </p:spPr>
        <p:txBody>
          <a:bodyPr wrap="none" lIns="0" rIns="0" tIns="0" bIns="0">
            <a:spAutoFit/>
          </a:bodyPr>
          <a:lstStyle/>
          <a:p>
            <a:pPr>
              <a:lnSpc>
                <a:spcPts val="2048"/>
              </a:lnSpc>
              <a:spcBef>
                <a:spcPts val="0"/>
              </a:spcBef>
              <a:spcAft>
                <a:spcPts val="0"/>
              </a:spcAft>
              <a:defRPr sz="1600" b="1">
                <a:solidFill>
                  <a:srgbClr val="FFFFFF"/>
                </a:solidFill>
                <a:latin typeface="Be Vietnam Pro"/>
              </a:defRPr>
            </a:pPr>
            <a:r>
              <a:t>Nolan types returned</a:t>
            </a:r>
          </a:p>
        </p:txBody>
      </p:sp>
      <p:sp>
        <p:nvSpPr>
          <p:cNvPr id="14" name="Rectangle 13"/>
          <p:cNvSpPr/>
          <p:nvPr/>
        </p:nvSpPr>
        <p:spPr>
          <a:xfrm>
            <a:off x="731520" y="5824728"/>
            <a:ext cx="672084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 y="5884164"/>
            <a:ext cx="1810512" cy="50292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Asserted graph</a:t>
            </a:r>
          </a:p>
        </p:txBody>
      </p:sp>
      <p:sp>
        <p:nvSpPr>
          <p:cNvPr id="16" name="TextBox 15"/>
          <p:cNvSpPr txBox="1"/>
          <p:nvPr/>
        </p:nvSpPr>
        <p:spPr>
          <a:xfrm>
            <a:off x="2871216" y="5884164"/>
            <a:ext cx="4471416" cy="50292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dbo:Person</a:t>
            </a:r>
          </a:p>
        </p:txBody>
      </p:sp>
      <p:sp>
        <p:nvSpPr>
          <p:cNvPr id="17" name="Rectangle 16"/>
          <p:cNvSpPr/>
          <p:nvPr/>
        </p:nvSpPr>
        <p:spPr>
          <a:xfrm>
            <a:off x="731520" y="6446520"/>
            <a:ext cx="6720840" cy="62179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6505956"/>
            <a:ext cx="1810512" cy="50292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With inference</a:t>
            </a:r>
          </a:p>
        </p:txBody>
      </p:sp>
      <p:sp>
        <p:nvSpPr>
          <p:cNvPr id="19" name="TextBox 18"/>
          <p:cNvSpPr txBox="1"/>
          <p:nvPr/>
        </p:nvSpPr>
        <p:spPr>
          <a:xfrm>
            <a:off x="2871216" y="6505956"/>
            <a:ext cx="4471416" cy="502920"/>
          </a:xfrm>
          <a:prstGeom prst="rect">
            <a:avLst/>
          </a:prstGeom>
          <a:noFill/>
        </p:spPr>
        <p:txBody>
          <a:bodyPr wrap="none" lIns="0" rIns="0" tIns="0" bIns="0">
            <a:spAutoFit/>
          </a:bodyPr>
          <a:lstStyle/>
          <a:p>
            <a:pPr>
              <a:lnSpc>
                <a:spcPts val="2048"/>
              </a:lnSpc>
              <a:spcBef>
                <a:spcPts val="0"/>
              </a:spcBef>
              <a:spcAft>
                <a:spcPts val="0"/>
              </a:spcAft>
              <a:defRPr sz="1600" b="0">
                <a:solidFill>
                  <a:srgbClr val="152B3A"/>
                </a:solidFill>
                <a:latin typeface="Be Vietnam Pro"/>
              </a:defRPr>
            </a:pPr>
            <a:r>
              <a:t>Person + Filmmaker + AwardWinner</a:t>
            </a:r>
          </a:p>
        </p:txBody>
      </p:sp>
      <p:sp>
        <p:nvSpPr>
          <p:cNvPr id="20" name="PHOTO_P10_0"/>
          <p:cNvSpPr/>
          <p:nvPr/>
        </p:nvSpPr>
        <p:spPr>
          <a:xfrm>
            <a:off x="7818120" y="2578608"/>
            <a:ext cx="6080760" cy="4590288"/>
          </a:xfrm>
          <a:prstGeom prst="roundRect">
            <a:avLst/>
          </a:prstGeom>
          <a:solidFill>
            <a:srgbClr val="FFFFFF"/>
          </a:solidFill>
          <a:ln>
            <a:solidFill>
              <a:srgbClr val="007F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HOTO_P10_1"/>
          <p:cNvSpPr txBox="1"/>
          <p:nvPr/>
        </p:nvSpPr>
        <p:spPr>
          <a:xfrm>
            <a:off x="8019288" y="2743200"/>
            <a:ext cx="5678424" cy="347472"/>
          </a:xfrm>
          <a:prstGeom prst="rect">
            <a:avLst/>
          </a:prstGeom>
          <a:noFill/>
        </p:spPr>
        <p:txBody>
          <a:bodyPr wrap="none" lIns="0" rIns="0" tIns="0" bIns="0">
            <a:spAutoFit/>
          </a:bodyPr>
          <a:lstStyle/>
          <a:p>
            <a:pPr>
              <a:lnSpc>
                <a:spcPts val="1792"/>
              </a:lnSpc>
              <a:spcBef>
                <a:spcPts val="0"/>
              </a:spcBef>
              <a:spcAft>
                <a:spcPts val="0"/>
              </a:spcAft>
              <a:defRPr sz="1400" b="1">
                <a:solidFill>
                  <a:srgbClr val="007F82"/>
                </a:solidFill>
                <a:latin typeface="Be Vietnam Pro"/>
              </a:defRPr>
            </a:pPr>
            <a:r>
              <a:t>ẢNH PROTÉGÉ CẦN BỔ SUNG · P10</a:t>
            </a:r>
          </a:p>
        </p:txBody>
      </p:sp>
      <p:sp>
        <p:nvSpPr>
          <p:cNvPr id="22" name="PHOTO_P10_2"/>
          <p:cNvSpPr/>
          <p:nvPr/>
        </p:nvSpPr>
        <p:spPr>
          <a:xfrm>
            <a:off x="8019288" y="3310128"/>
            <a:ext cx="5678424" cy="1051560"/>
          </a:xfrm>
          <a:prstGeom prst="round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HOTO_P10_3"/>
          <p:cNvSpPr txBox="1"/>
          <p:nvPr/>
        </p:nvSpPr>
        <p:spPr>
          <a:xfrm>
            <a:off x="8183880" y="3520439"/>
            <a:ext cx="5349240" cy="731520"/>
          </a:xfrm>
          <a:prstGeom prst="rect">
            <a:avLst/>
          </a:prstGeom>
          <a:noFill/>
        </p:spPr>
        <p:txBody>
          <a:bodyPr wrap="none" lIns="0" rIns="0" tIns="0" bIns="0">
            <a:spAutoFit/>
          </a:bodyPr>
          <a:lstStyle/>
          <a:p>
            <a:pPr>
              <a:lnSpc>
                <a:spcPts val="2816"/>
              </a:lnSpc>
              <a:spcBef>
                <a:spcPts val="0"/>
              </a:spcBef>
              <a:spcAft>
                <a:spcPts val="0"/>
              </a:spcAft>
              <a:defRPr sz="2200" b="1">
                <a:solidFill>
                  <a:srgbClr val="007F82"/>
                </a:solidFill>
                <a:latin typeface="Be Vietnam Pro"/>
              </a:defRPr>
            </a:pPr>
            <a:r>
              <a:t>Kiểu khai báo của Nolan</a:t>
            </a:r>
          </a:p>
        </p:txBody>
      </p:sp>
      <p:sp>
        <p:nvSpPr>
          <p:cNvPr id="24" name="PHOTO_P10_4"/>
          <p:cNvSpPr txBox="1"/>
          <p:nvPr/>
        </p:nvSpPr>
        <p:spPr>
          <a:xfrm>
            <a:off x="8046720" y="4507992"/>
            <a:ext cx="5623560" cy="384048"/>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P10_nolan_asserted_types.png</a:t>
            </a:r>
          </a:p>
        </p:txBody>
      </p:sp>
      <p:sp>
        <p:nvSpPr>
          <p:cNvPr id="25" name="PHOTO_P10_5"/>
          <p:cNvSpPr txBox="1"/>
          <p:nvPr/>
        </p:nvSpPr>
        <p:spPr>
          <a:xfrm>
            <a:off x="8055864" y="4992624"/>
            <a:ext cx="5605272" cy="491744"/>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1. Mở Movie_Knowledge_Graph.owl, chọn person-Q25191</a:t>
            </a:r>
          </a:p>
          <a:p>
            <a:pPr>
              <a:lnSpc>
                <a:spcPts val="1792"/>
              </a:lnSpc>
              <a:spcBef>
                <a:spcPts val="0"/>
              </a:spcBef>
              <a:spcAft>
                <a:spcPts val="0"/>
              </a:spcAft>
              <a:defRPr sz="1400" b="0">
                <a:solidFill>
                  <a:srgbClr val="506776"/>
                </a:solidFill>
                <a:latin typeface="Be Vietnam Pro"/>
              </a:defRPr>
            </a:pPr>
            <a:r>
              <a:t>(Nolan).</a:t>
            </a:r>
          </a:p>
        </p:txBody>
      </p:sp>
      <p:sp>
        <p:nvSpPr>
          <p:cNvPr id="26" name="PHOTO_P10_6"/>
          <p:cNvSpPr txBox="1"/>
          <p:nvPr/>
        </p:nvSpPr>
        <p:spPr>
          <a:xfrm>
            <a:off x="8055864" y="5575807"/>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2. Hiện Types trong chế độ asserted / trước suy luận.</a:t>
            </a:r>
          </a:p>
        </p:txBody>
      </p:sp>
      <p:sp>
        <p:nvSpPr>
          <p:cNvPr id="27" name="PHOTO_P10_7"/>
          <p:cNvSpPr txBox="1"/>
          <p:nvPr/>
        </p:nvSpPr>
        <p:spPr>
          <a:xfrm>
            <a:off x="8055864" y="5931407"/>
            <a:ext cx="5605272" cy="264160"/>
          </a:xfrm>
          <a:prstGeom prst="rect">
            <a:avLst/>
          </a:prstGeom>
          <a:noFill/>
        </p:spPr>
        <p:txBody>
          <a:bodyPr wrap="none" lIns="0" rIns="0" tIns="0" bIns="0">
            <a:spAutoFit/>
          </a:bodyPr>
          <a:lstStyle/>
          <a:p>
            <a:pPr>
              <a:lnSpc>
                <a:spcPts val="1792"/>
              </a:lnSpc>
              <a:spcBef>
                <a:spcPts val="0"/>
              </a:spcBef>
              <a:spcAft>
                <a:spcPts val="0"/>
              </a:spcAft>
              <a:defRPr sz="1400" b="0">
                <a:solidFill>
                  <a:srgbClr val="506776"/>
                </a:solidFill>
                <a:latin typeface="Be Vietnam Pro"/>
              </a:defRPr>
            </a:pPr>
            <a:r>
              <a:t>3. Giữ dbo:Person và các quan hệ đóng góp/giải trong ảnh.</a:t>
            </a:r>
          </a:p>
        </p:txBody>
      </p:sp>
      <p:sp>
        <p:nvSpPr>
          <p:cNvPr id="28" name="PHOTO_P10_8"/>
          <p:cNvSpPr txBox="1"/>
          <p:nvPr/>
        </p:nvSpPr>
        <p:spPr>
          <a:xfrm>
            <a:off x="8046720" y="6830568"/>
            <a:ext cx="5623560" cy="283464"/>
          </a:xfrm>
          <a:prstGeom prst="rect">
            <a:avLst/>
          </a:prstGeom>
          <a:noFill/>
        </p:spPr>
        <p:txBody>
          <a:bodyPr wrap="none" lIns="0" rIns="0" tIns="0" bIns="0">
            <a:spAutoFit/>
          </a:bodyPr>
          <a:lstStyle/>
          <a:p>
            <a:pPr>
              <a:lnSpc>
                <a:spcPts val="1408"/>
              </a:lnSpc>
              <a:spcBef>
                <a:spcPts val="0"/>
              </a:spcBef>
              <a:spcAft>
                <a:spcPts val="0"/>
              </a:spcAft>
              <a:defRPr sz="1100" b="0">
                <a:solidFill>
                  <a:srgbClr val="007F82"/>
                </a:solidFill>
                <a:latin typeface="Be Vietnam Pro"/>
              </a:defRPr>
            </a:pPr>
            <a:r>
              <a:t>Thay khung bằng ảnh thật; chi tiết thêm trong Speaker Notes.</a:t>
            </a:r>
          </a:p>
        </p:txBody>
      </p:sp>
      <p:sp>
        <p:nvSpPr>
          <p:cNvPr id="29" name="TextBox 28"/>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--reasoned loads schema + saved types. Endpoint: asserted graph by default. SELECT/ASK: JSON; graph queries: Turtle.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Validating data, application and publication</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Execution evidence is stored in evidence/</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08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22 / 24</a:t>
            </a:r>
          </a:p>
        </p:txBody>
      </p:sp>
      <p:sp>
        <p:nvSpPr>
          <p:cNvPr id="9" name="Rounded Rectangle 8"/>
          <p:cNvSpPr/>
          <p:nvPr/>
        </p:nvSpPr>
        <p:spPr>
          <a:xfrm>
            <a:off x="731520" y="2679192"/>
            <a:ext cx="5943600" cy="85953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825496"/>
            <a:ext cx="1965960" cy="521207"/>
          </a:xfrm>
          <a:prstGeom prst="rect">
            <a:avLst/>
          </a:prstGeom>
          <a:noFill/>
        </p:spPr>
        <p:txBody>
          <a:bodyPr wrap="none" lIns="0" rIns="0" tIns="0" bIns="0">
            <a:spAutoFit/>
          </a:bodyPr>
          <a:lstStyle/>
          <a:p>
            <a:pPr>
              <a:lnSpc>
                <a:spcPts val="3200"/>
              </a:lnSpc>
              <a:spcBef>
                <a:spcPts val="0"/>
              </a:spcBef>
              <a:spcAft>
                <a:spcPts val="0"/>
              </a:spcAft>
              <a:defRPr sz="2500" b="1">
                <a:solidFill>
                  <a:srgbClr val="007F82"/>
                </a:solidFill>
                <a:latin typeface="Be Vietnam Pro"/>
              </a:defRPr>
            </a:pPr>
            <a:r>
              <a:t>76/76</a:t>
            </a:r>
          </a:p>
        </p:txBody>
      </p:sp>
      <p:sp>
        <p:nvSpPr>
          <p:cNvPr id="11" name="TextBox 10"/>
          <p:cNvSpPr txBox="1"/>
          <p:nvPr/>
        </p:nvSpPr>
        <p:spPr>
          <a:xfrm>
            <a:off x="3145536" y="2889504"/>
            <a:ext cx="3218688"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Matching source hashes</a:t>
            </a:r>
          </a:p>
        </p:txBody>
      </p:sp>
      <p:sp>
        <p:nvSpPr>
          <p:cNvPr id="12" name="Rounded Rectangle 11"/>
          <p:cNvSpPr/>
          <p:nvPr/>
        </p:nvSpPr>
        <p:spPr>
          <a:xfrm>
            <a:off x="731520" y="3730752"/>
            <a:ext cx="5943600" cy="85953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877056"/>
            <a:ext cx="1965960" cy="521207"/>
          </a:xfrm>
          <a:prstGeom prst="rect">
            <a:avLst/>
          </a:prstGeom>
          <a:noFill/>
        </p:spPr>
        <p:txBody>
          <a:bodyPr wrap="none" lIns="0" rIns="0" tIns="0" bIns="0">
            <a:spAutoFit/>
          </a:bodyPr>
          <a:lstStyle/>
          <a:p>
            <a:pPr>
              <a:lnSpc>
                <a:spcPts val="3200"/>
              </a:lnSpc>
              <a:spcBef>
                <a:spcPts val="0"/>
              </a:spcBef>
              <a:spcAft>
                <a:spcPts val="0"/>
              </a:spcAft>
              <a:defRPr sz="2500" b="1">
                <a:solidFill>
                  <a:srgbClr val="007F82"/>
                </a:solidFill>
                <a:latin typeface="Be Vietnam Pro"/>
              </a:defRPr>
            </a:pPr>
            <a:r>
              <a:t>24</a:t>
            </a:r>
          </a:p>
        </p:txBody>
      </p:sp>
      <p:sp>
        <p:nvSpPr>
          <p:cNvPr id="14" name="TextBox 13"/>
          <p:cNvSpPr txBox="1"/>
          <p:nvPr/>
        </p:nvSpPr>
        <p:spPr>
          <a:xfrm>
            <a:off x="3145536" y="3941064"/>
            <a:ext cx="3218688"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Query files executed</a:t>
            </a:r>
          </a:p>
        </p:txBody>
      </p:sp>
      <p:sp>
        <p:nvSpPr>
          <p:cNvPr id="15" name="Rounded Rectangle 14"/>
          <p:cNvSpPr/>
          <p:nvPr/>
        </p:nvSpPr>
        <p:spPr>
          <a:xfrm>
            <a:off x="731520" y="4782312"/>
            <a:ext cx="5943600" cy="85953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928616"/>
            <a:ext cx="1965960" cy="521207"/>
          </a:xfrm>
          <a:prstGeom prst="rect">
            <a:avLst/>
          </a:prstGeom>
          <a:noFill/>
        </p:spPr>
        <p:txBody>
          <a:bodyPr wrap="none" lIns="0" rIns="0" tIns="0" bIns="0">
            <a:spAutoFit/>
          </a:bodyPr>
          <a:lstStyle/>
          <a:p>
            <a:pPr>
              <a:lnSpc>
                <a:spcPts val="3200"/>
              </a:lnSpc>
              <a:spcBef>
                <a:spcPts val="0"/>
              </a:spcBef>
              <a:spcAft>
                <a:spcPts val="0"/>
              </a:spcAft>
              <a:defRPr sz="2500" b="1">
                <a:solidFill>
                  <a:srgbClr val="007F82"/>
                </a:solidFill>
                <a:latin typeface="Be Vietnam Pro"/>
              </a:defRPr>
            </a:pPr>
            <a:r>
              <a:t>14 + 9</a:t>
            </a:r>
          </a:p>
        </p:txBody>
      </p:sp>
      <p:sp>
        <p:nvSpPr>
          <p:cNvPr id="17" name="TextBox 16"/>
          <p:cNvSpPr txBox="1"/>
          <p:nvPr/>
        </p:nvSpPr>
        <p:spPr>
          <a:xfrm>
            <a:off x="3145536" y="4992624"/>
            <a:ext cx="3218688"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Tests + browser checks</a:t>
            </a:r>
          </a:p>
        </p:txBody>
      </p:sp>
      <p:sp>
        <p:nvSpPr>
          <p:cNvPr id="18" name="Rounded Rectangle 17"/>
          <p:cNvSpPr/>
          <p:nvPr/>
        </p:nvSpPr>
        <p:spPr>
          <a:xfrm>
            <a:off x="731520" y="5833872"/>
            <a:ext cx="5943600" cy="85953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980176"/>
            <a:ext cx="1965960" cy="521207"/>
          </a:xfrm>
          <a:prstGeom prst="rect">
            <a:avLst/>
          </a:prstGeom>
          <a:noFill/>
        </p:spPr>
        <p:txBody>
          <a:bodyPr wrap="none" lIns="0" rIns="0" tIns="0" bIns="0">
            <a:spAutoFit/>
          </a:bodyPr>
          <a:lstStyle/>
          <a:p>
            <a:pPr>
              <a:lnSpc>
                <a:spcPts val="3200"/>
              </a:lnSpc>
              <a:spcBef>
                <a:spcPts val="0"/>
              </a:spcBef>
              <a:spcAft>
                <a:spcPts val="0"/>
              </a:spcAft>
              <a:defRPr sz="2500" b="1">
                <a:solidFill>
                  <a:srgbClr val="007F82"/>
                </a:solidFill>
                <a:latin typeface="Be Vietnam Pro"/>
              </a:defRPr>
            </a:pPr>
            <a:r>
              <a:t>8 / 4</a:t>
            </a:r>
          </a:p>
        </p:txBody>
      </p:sp>
      <p:sp>
        <p:nvSpPr>
          <p:cNvPr id="20" name="TextBox 19"/>
          <p:cNvSpPr txBox="1"/>
          <p:nvPr/>
        </p:nvSpPr>
        <p:spPr>
          <a:xfrm>
            <a:off x="3145536" y="6044184"/>
            <a:ext cx="3218688"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Public HTTP 200 / graph</a:t>
            </a:r>
          </a:p>
          <a:p>
            <a:pPr>
              <a:lnSpc>
                <a:spcPts val="2176"/>
              </a:lnSpc>
              <a:spcBef>
                <a:spcPts val="0"/>
              </a:spcBef>
              <a:spcAft>
                <a:spcPts val="0"/>
              </a:spcAft>
              <a:defRPr sz="1700" b="0">
                <a:solidFill>
                  <a:srgbClr val="152B3A"/>
                </a:solidFill>
                <a:latin typeface="Be Vietnam Pro"/>
              </a:defRPr>
            </a:pPr>
            <a:r>
              <a:t>match</a:t>
            </a:r>
          </a:p>
        </p:txBody>
      </p:sp>
      <p:pic>
        <p:nvPicPr>
          <p:cNvPr id="21" name="Picture 20" descr="13_validation_en.png"/>
          <p:cNvPicPr>
            <a:picLocks noChangeAspect="1"/>
          </p:cNvPicPr>
          <p:nvPr/>
        </p:nvPicPr>
        <p:blipFill>
          <a:blip r:embed="rId2"/>
          <a:stretch>
            <a:fillRect/>
          </a:stretch>
        </p:blipFill>
        <p:spPr>
          <a:xfrm>
            <a:off x="7302246" y="2615184"/>
            <a:ext cx="6454140" cy="4480560"/>
          </a:xfrm>
          <a:prstGeom prst="rect">
            <a:avLst/>
          </a:prstGeom>
        </p:spPr>
      </p:pic>
      <p:sp>
        <p:nvSpPr>
          <p:cNvPr id="22" name="TextBox 21"/>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14 tests / 9 browser checks. HermiT/Pellet verify DL separately; the image shows actual execution logs.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Assessment and limitations</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Evidence for 5/5 requirements · 10/10 is a proposed self-score</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08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23 / 24</a:t>
            </a:r>
          </a:p>
        </p:txBody>
      </p:sp>
      <p:sp>
        <p:nvSpPr>
          <p:cNvPr id="9" name="Rectangle 8"/>
          <p:cNvSpPr/>
          <p:nvPr/>
        </p:nvSpPr>
        <p:spPr>
          <a:xfrm>
            <a:off x="731520" y="2697480"/>
            <a:ext cx="6720840" cy="39319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770632"/>
            <a:ext cx="832103" cy="301752"/>
          </a:xfrm>
          <a:prstGeom prst="rect">
            <a:avLst/>
          </a:prstGeom>
          <a:noFill/>
        </p:spPr>
        <p:txBody>
          <a:bodyPr wrap="none" lIns="0" rIns="0" tIns="0" bIns="0">
            <a:spAutoFit/>
          </a:bodyPr>
          <a:lstStyle/>
          <a:p>
            <a:pPr>
              <a:lnSpc>
                <a:spcPts val="2176"/>
              </a:lnSpc>
              <a:spcBef>
                <a:spcPts val="0"/>
              </a:spcBef>
              <a:spcAft>
                <a:spcPts val="0"/>
              </a:spcAft>
              <a:defRPr sz="1700" b="1">
                <a:solidFill>
                  <a:srgbClr val="FFFFFF"/>
                </a:solidFill>
                <a:latin typeface="Be Vietnam Pro"/>
              </a:defRPr>
            </a:pPr>
            <a:r>
              <a:t>Req.</a:t>
            </a:r>
          </a:p>
        </p:txBody>
      </p:sp>
      <p:sp>
        <p:nvSpPr>
          <p:cNvPr id="11" name="TextBox 10"/>
          <p:cNvSpPr txBox="1"/>
          <p:nvPr/>
        </p:nvSpPr>
        <p:spPr>
          <a:xfrm>
            <a:off x="1892807" y="2770632"/>
            <a:ext cx="4261104" cy="301752"/>
          </a:xfrm>
          <a:prstGeom prst="rect">
            <a:avLst/>
          </a:prstGeom>
          <a:noFill/>
        </p:spPr>
        <p:txBody>
          <a:bodyPr wrap="none" lIns="0" rIns="0" tIns="0" bIns="0">
            <a:spAutoFit/>
          </a:bodyPr>
          <a:lstStyle/>
          <a:p>
            <a:pPr>
              <a:lnSpc>
                <a:spcPts val="2176"/>
              </a:lnSpc>
              <a:spcBef>
                <a:spcPts val="0"/>
              </a:spcBef>
              <a:spcAft>
                <a:spcPts val="0"/>
              </a:spcAft>
              <a:defRPr sz="1700" b="1">
                <a:solidFill>
                  <a:srgbClr val="FFFFFF"/>
                </a:solidFill>
                <a:latin typeface="Be Vietnam Pro"/>
              </a:defRPr>
            </a:pPr>
            <a:r>
              <a:t>Evidence</a:t>
            </a:r>
          </a:p>
        </p:txBody>
      </p:sp>
      <p:sp>
        <p:nvSpPr>
          <p:cNvPr id="12" name="TextBox 11"/>
          <p:cNvSpPr txBox="1"/>
          <p:nvPr/>
        </p:nvSpPr>
        <p:spPr>
          <a:xfrm>
            <a:off x="6373368" y="2770632"/>
            <a:ext cx="969264" cy="301752"/>
          </a:xfrm>
          <a:prstGeom prst="rect">
            <a:avLst/>
          </a:prstGeom>
          <a:noFill/>
        </p:spPr>
        <p:txBody>
          <a:bodyPr wrap="none" lIns="0" rIns="0" tIns="0" bIns="0">
            <a:spAutoFit/>
          </a:bodyPr>
          <a:lstStyle/>
          <a:p>
            <a:pPr>
              <a:lnSpc>
                <a:spcPts val="2176"/>
              </a:lnSpc>
              <a:spcBef>
                <a:spcPts val="0"/>
              </a:spcBef>
              <a:spcAft>
                <a:spcPts val="0"/>
              </a:spcAft>
              <a:defRPr sz="1700" b="1">
                <a:solidFill>
                  <a:srgbClr val="FFFFFF"/>
                </a:solidFill>
                <a:latin typeface="Be Vietnam Pro"/>
              </a:defRPr>
            </a:pPr>
            <a:r>
              <a:t>Score</a:t>
            </a:r>
          </a:p>
        </p:txBody>
      </p:sp>
      <p:sp>
        <p:nvSpPr>
          <p:cNvPr id="13" name="Rectangle 12"/>
          <p:cNvSpPr/>
          <p:nvPr/>
        </p:nvSpPr>
        <p:spPr>
          <a:xfrm>
            <a:off x="731520" y="3090672"/>
            <a:ext cx="672084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3150108"/>
            <a:ext cx="832103"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R1</a:t>
            </a:r>
          </a:p>
        </p:txBody>
      </p:sp>
      <p:sp>
        <p:nvSpPr>
          <p:cNvPr id="15" name="TextBox 14"/>
          <p:cNvSpPr txBox="1"/>
          <p:nvPr/>
        </p:nvSpPr>
        <p:spPr>
          <a:xfrm>
            <a:off x="1892807" y="3150108"/>
            <a:ext cx="426110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Ontology + OWL + tests</a:t>
            </a:r>
          </a:p>
        </p:txBody>
      </p:sp>
      <p:sp>
        <p:nvSpPr>
          <p:cNvPr id="16" name="TextBox 15"/>
          <p:cNvSpPr txBox="1"/>
          <p:nvPr/>
        </p:nvSpPr>
        <p:spPr>
          <a:xfrm>
            <a:off x="6373368" y="3150108"/>
            <a:ext cx="96926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2/2</a:t>
            </a:r>
          </a:p>
        </p:txBody>
      </p:sp>
      <p:sp>
        <p:nvSpPr>
          <p:cNvPr id="17" name="Rectangle 16"/>
          <p:cNvSpPr/>
          <p:nvPr/>
        </p:nvSpPr>
        <p:spPr>
          <a:xfrm>
            <a:off x="731520" y="3685032"/>
            <a:ext cx="6720840" cy="594360"/>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3744468"/>
            <a:ext cx="832103"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R2</a:t>
            </a:r>
          </a:p>
        </p:txBody>
      </p:sp>
      <p:sp>
        <p:nvSpPr>
          <p:cNvPr id="19" name="TextBox 18"/>
          <p:cNvSpPr txBox="1"/>
          <p:nvPr/>
        </p:nvSpPr>
        <p:spPr>
          <a:xfrm>
            <a:off x="1892807" y="3744468"/>
            <a:ext cx="426110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76 sources + hashes + reproducibility</a:t>
            </a:r>
          </a:p>
        </p:txBody>
      </p:sp>
      <p:sp>
        <p:nvSpPr>
          <p:cNvPr id="20" name="TextBox 19"/>
          <p:cNvSpPr txBox="1"/>
          <p:nvPr/>
        </p:nvSpPr>
        <p:spPr>
          <a:xfrm>
            <a:off x="6373368" y="3744468"/>
            <a:ext cx="96926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2/2</a:t>
            </a:r>
          </a:p>
        </p:txBody>
      </p:sp>
      <p:sp>
        <p:nvSpPr>
          <p:cNvPr id="21" name="Rectangle 20"/>
          <p:cNvSpPr/>
          <p:nvPr/>
        </p:nvSpPr>
        <p:spPr>
          <a:xfrm>
            <a:off x="731520" y="4279392"/>
            <a:ext cx="672084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4338828"/>
            <a:ext cx="832103"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R3</a:t>
            </a:r>
          </a:p>
        </p:txBody>
      </p:sp>
      <p:sp>
        <p:nvSpPr>
          <p:cNvPr id="23" name="TextBox 22"/>
          <p:cNvSpPr txBox="1"/>
          <p:nvPr/>
        </p:nvSpPr>
        <p:spPr>
          <a:xfrm>
            <a:off x="1892807" y="4338828"/>
            <a:ext cx="426110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Public RDF matches local data</a:t>
            </a:r>
          </a:p>
        </p:txBody>
      </p:sp>
      <p:sp>
        <p:nvSpPr>
          <p:cNvPr id="24" name="TextBox 23"/>
          <p:cNvSpPr txBox="1"/>
          <p:nvPr/>
        </p:nvSpPr>
        <p:spPr>
          <a:xfrm>
            <a:off x="6373368" y="4338828"/>
            <a:ext cx="96926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2/2</a:t>
            </a:r>
          </a:p>
        </p:txBody>
      </p:sp>
      <p:sp>
        <p:nvSpPr>
          <p:cNvPr id="25" name="Rectangle 24"/>
          <p:cNvSpPr/>
          <p:nvPr/>
        </p:nvSpPr>
        <p:spPr>
          <a:xfrm>
            <a:off x="731520" y="4873752"/>
            <a:ext cx="6720840" cy="594360"/>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4933188"/>
            <a:ext cx="832103"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R4</a:t>
            </a:r>
          </a:p>
        </p:txBody>
      </p:sp>
      <p:sp>
        <p:nvSpPr>
          <p:cNvPr id="27" name="TextBox 26"/>
          <p:cNvSpPr txBox="1"/>
          <p:nvPr/>
        </p:nvSpPr>
        <p:spPr>
          <a:xfrm>
            <a:off x="1892807" y="4933188"/>
            <a:ext cx="426110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1,727 published identity links</a:t>
            </a:r>
          </a:p>
        </p:txBody>
      </p:sp>
      <p:sp>
        <p:nvSpPr>
          <p:cNvPr id="28" name="TextBox 27"/>
          <p:cNvSpPr txBox="1"/>
          <p:nvPr/>
        </p:nvSpPr>
        <p:spPr>
          <a:xfrm>
            <a:off x="6373368" y="4933188"/>
            <a:ext cx="96926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2/2</a:t>
            </a:r>
          </a:p>
        </p:txBody>
      </p:sp>
      <p:sp>
        <p:nvSpPr>
          <p:cNvPr id="29" name="Rectangle 28"/>
          <p:cNvSpPr/>
          <p:nvPr/>
        </p:nvSpPr>
        <p:spPr>
          <a:xfrm>
            <a:off x="731520" y="5468112"/>
            <a:ext cx="672084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 y="5527548"/>
            <a:ext cx="832103"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R5</a:t>
            </a:r>
          </a:p>
        </p:txBody>
      </p:sp>
      <p:sp>
        <p:nvSpPr>
          <p:cNvPr id="31" name="TextBox 30"/>
          <p:cNvSpPr txBox="1"/>
          <p:nvPr/>
        </p:nvSpPr>
        <p:spPr>
          <a:xfrm>
            <a:off x="1892807" y="5527548"/>
            <a:ext cx="426110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Web / endpoint / terminal</a:t>
            </a:r>
          </a:p>
        </p:txBody>
      </p:sp>
      <p:sp>
        <p:nvSpPr>
          <p:cNvPr id="32" name="TextBox 31"/>
          <p:cNvSpPr txBox="1"/>
          <p:nvPr/>
        </p:nvSpPr>
        <p:spPr>
          <a:xfrm>
            <a:off x="6373368" y="5527548"/>
            <a:ext cx="969264" cy="475488"/>
          </a:xfrm>
          <a:prstGeom prst="rect">
            <a:avLst/>
          </a:prstGeom>
          <a:noFill/>
        </p:spPr>
        <p:txBody>
          <a:bodyPr wrap="none" lIns="0" rIns="0" tIns="0" bIns="0">
            <a:spAutoFit/>
          </a:bodyPr>
          <a:lstStyle/>
          <a:p>
            <a:pPr>
              <a:lnSpc>
                <a:spcPts val="2176"/>
              </a:lnSpc>
              <a:spcBef>
                <a:spcPts val="0"/>
              </a:spcBef>
              <a:spcAft>
                <a:spcPts val="0"/>
              </a:spcAft>
              <a:defRPr sz="1700" b="0">
                <a:solidFill>
                  <a:srgbClr val="152B3A"/>
                </a:solidFill>
                <a:latin typeface="Be Vietnam Pro"/>
              </a:defRPr>
            </a:pPr>
            <a:r>
              <a:t>2/2</a:t>
            </a:r>
          </a:p>
        </p:txBody>
      </p:sp>
      <p:sp>
        <p:nvSpPr>
          <p:cNvPr id="33" name="Rounded Rectangle 32"/>
          <p:cNvSpPr/>
          <p:nvPr/>
        </p:nvSpPr>
        <p:spPr>
          <a:xfrm>
            <a:off x="731520" y="6565392"/>
            <a:ext cx="6720840" cy="640080"/>
          </a:xfrm>
          <a:prstGeom prst="round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9264" y="6665976"/>
            <a:ext cx="6217920" cy="411480"/>
          </a:xfrm>
          <a:prstGeom prst="rect">
            <a:avLst/>
          </a:prstGeom>
          <a:noFill/>
        </p:spPr>
        <p:txBody>
          <a:bodyPr wrap="none" lIns="0" rIns="0" tIns="0" bIns="0">
            <a:spAutoFit/>
          </a:bodyPr>
          <a:lstStyle/>
          <a:p>
            <a:pPr>
              <a:lnSpc>
                <a:spcPts val="2176"/>
              </a:lnSpc>
              <a:spcBef>
                <a:spcPts val="0"/>
              </a:spcBef>
              <a:spcAft>
                <a:spcPts val="0"/>
              </a:spcAft>
              <a:defRPr sz="1700" b="1">
                <a:solidFill>
                  <a:srgbClr val="FFFFFF"/>
                </a:solidFill>
                <a:latin typeface="Be Vietnam Pro"/>
              </a:defRPr>
            </a:pPr>
            <a:r>
              <a:t>Total 10/10 · proposed self-score, not an official grade</a:t>
            </a:r>
          </a:p>
        </p:txBody>
      </p:sp>
      <p:sp>
        <p:nvSpPr>
          <p:cNvPr id="35" name="Rounded Rectangle 34"/>
          <p:cNvSpPr/>
          <p:nvPr/>
        </p:nvSpPr>
        <p:spPr>
          <a:xfrm>
            <a:off x="7818120" y="2688336"/>
            <a:ext cx="6080760" cy="1417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818120" y="2688336"/>
            <a:ext cx="41148" cy="14173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28432" y="2834640"/>
            <a:ext cx="566013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Data limitations</a:t>
            </a:r>
          </a:p>
        </p:txBody>
      </p:sp>
      <p:sp>
        <p:nvSpPr>
          <p:cNvPr id="38" name="TextBox 37"/>
          <p:cNvSpPr txBox="1"/>
          <p:nvPr/>
        </p:nvSpPr>
        <p:spPr>
          <a:xfrm>
            <a:off x="8028432" y="3278632"/>
            <a:ext cx="5660136" cy="744728"/>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Selected 30-film sample; label-based groups.</a:t>
            </a:r>
          </a:p>
          <a:p>
            <a:pPr>
              <a:lnSpc>
                <a:spcPts val="2048"/>
              </a:lnSpc>
              <a:spcBef>
                <a:spcPts val="0"/>
              </a:spcBef>
              <a:spcAft>
                <a:spcPts val="0"/>
              </a:spcAft>
              <a:defRPr sz="1600" b="0">
                <a:solidFill>
                  <a:srgbClr val="506776"/>
                </a:solidFill>
                <a:latin typeface="Be Vietnam Pro"/>
              </a:defRPr>
            </a:pPr>
            <a:r>
              <a:t>Hashes </a:t>
            </a:r>
            <a:r>
              <a:rPr>
                <a:latin typeface="Arial Unicode MS"/>
              </a:rPr>
              <a:t>≠</a:t>
            </a:r>
            <a:r>
              <a:t> truth; budget/streaming data absent.</a:t>
            </a:r>
          </a:p>
        </p:txBody>
      </p:sp>
      <p:sp>
        <p:nvSpPr>
          <p:cNvPr id="39" name="Rounded Rectangle 38"/>
          <p:cNvSpPr/>
          <p:nvPr/>
        </p:nvSpPr>
        <p:spPr>
          <a:xfrm>
            <a:off x="7818120" y="4178808"/>
            <a:ext cx="6080760" cy="1417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818120" y="4178808"/>
            <a:ext cx="41148" cy="14173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28432" y="4325112"/>
            <a:ext cx="566013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Reasoning limitations</a:t>
            </a:r>
          </a:p>
        </p:txBody>
      </p:sp>
      <p:sp>
        <p:nvSpPr>
          <p:cNvPr id="42" name="TextBox 41"/>
          <p:cNvSpPr txBox="1"/>
          <p:nvPr/>
        </p:nvSpPr>
        <p:spPr>
          <a:xfrm>
            <a:off x="8028432" y="4769104"/>
            <a:ext cx="5660136" cy="744728"/>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12 OWL RL classes; 2 IRI-counting rules.</a:t>
            </a:r>
          </a:p>
          <a:p>
            <a:pPr>
              <a:lnSpc>
                <a:spcPts val="2048"/>
              </a:lnSpc>
              <a:spcBef>
                <a:spcPts val="0"/>
              </a:spcBef>
              <a:spcAft>
                <a:spcPts val="0"/>
              </a:spcAft>
              <a:defRPr sz="1600" b="0">
                <a:solidFill>
                  <a:srgbClr val="506776"/>
                </a:solidFill>
                <a:latin typeface="Be Vietnam Pro"/>
              </a:defRPr>
            </a:pPr>
            <a:r>
              <a:t>HermiT/Pellet: consistent; threshold classes: 0.</a:t>
            </a:r>
          </a:p>
        </p:txBody>
      </p:sp>
      <p:sp>
        <p:nvSpPr>
          <p:cNvPr id="43" name="Rounded Rectangle 42"/>
          <p:cNvSpPr/>
          <p:nvPr/>
        </p:nvSpPr>
        <p:spPr>
          <a:xfrm>
            <a:off x="7818120" y="5669279"/>
            <a:ext cx="6080760" cy="1417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818120" y="5669279"/>
            <a:ext cx="41148" cy="141732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28432" y="5815583"/>
            <a:ext cx="5660136"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Semantic Web value</a:t>
            </a:r>
          </a:p>
        </p:txBody>
      </p:sp>
      <p:sp>
        <p:nvSpPr>
          <p:cNvPr id="46" name="TextBox 45"/>
          <p:cNvSpPr txBox="1"/>
          <p:nvPr/>
        </p:nvSpPr>
        <p:spPr>
          <a:xfrm>
            <a:off x="8028432" y="6259575"/>
            <a:ext cx="5660136" cy="744728"/>
          </a:xfrm>
          <a:prstGeom prst="rect">
            <a:avLst/>
          </a:prstGeom>
          <a:noFill/>
        </p:spPr>
        <p:txBody>
          <a:bodyPr wrap="none" lIns="0" rIns="0" tIns="0" bIns="0">
            <a:spAutoFit/>
          </a:bodyPr>
          <a:lstStyle/>
          <a:p>
            <a:pPr>
              <a:lnSpc>
                <a:spcPts val="2048"/>
              </a:lnSpc>
              <a:spcBef>
                <a:spcPts val="0"/>
              </a:spcBef>
              <a:spcAft>
                <a:spcPts val="0"/>
              </a:spcAft>
              <a:defRPr sz="1600" b="0">
                <a:solidFill>
                  <a:srgbClr val="506776"/>
                </a:solidFill>
                <a:latin typeface="Be Vietnam Pro"/>
              </a:defRPr>
            </a:pPr>
            <a:r>
              <a:t>Shared IRIs, vocabulary, links and provenance.</a:t>
            </a:r>
          </a:p>
          <a:p>
            <a:pPr>
              <a:lnSpc>
                <a:spcPts val="2048"/>
              </a:lnSpc>
              <a:spcBef>
                <a:spcPts val="0"/>
              </a:spcBef>
              <a:spcAft>
                <a:spcPts val="0"/>
              </a:spcAft>
              <a:defRPr sz="1600" b="0">
                <a:solidFill>
                  <a:srgbClr val="506776"/>
                </a:solidFill>
                <a:latin typeface="Be Vietnam Pro"/>
              </a:defRPr>
            </a:pPr>
            <a:r>
              <a:t>SQL can also answer many of these questions.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6F7"/>
        </a:solidFill>
        <a:effectLst/>
      </p:bgPr>
    </p:bg>
    <p:spTree>
      <p:nvGrpSpPr>
        <p:cNvPr id="1" name=""/>
        <p:cNvGrpSpPr/>
        <p:nvPr/>
      </p:nvGrpSpPr>
      <p:grpSpPr/>
      <p:sp>
        <p:nvSpPr>
          <p:cNvPr id="2" name="Rectangle 1"/>
          <p:cNvSpPr/>
          <p:nvPr/>
        </p:nvSpPr>
        <p:spPr>
          <a:xfrm>
            <a:off x="0" y="0"/>
            <a:ext cx="118872" cy="822960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1887200" cy="32004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MOVIELOD / SEMANTIC WEB / ONTOLOGY 2.0</a:t>
            </a:r>
          </a:p>
        </p:txBody>
      </p:sp>
      <p:sp>
        <p:nvSpPr>
          <p:cNvPr id="4" name="TextBox 3"/>
          <p:cNvSpPr txBox="1"/>
          <p:nvPr/>
        </p:nvSpPr>
        <p:spPr>
          <a:xfrm>
            <a:off x="594360" y="868680"/>
            <a:ext cx="13441680" cy="822960"/>
          </a:xfrm>
          <a:prstGeom prst="rect">
            <a:avLst/>
          </a:prstGeom>
          <a:noFill/>
        </p:spPr>
        <p:txBody>
          <a:bodyPr wrap="none" lIns="0" rIns="0" tIns="0" bIns="0">
            <a:spAutoFit/>
          </a:bodyPr>
          <a:lstStyle/>
          <a:p>
            <a:pPr>
              <a:lnSpc>
                <a:spcPts val="4352"/>
              </a:lnSpc>
              <a:spcBef>
                <a:spcPts val="0"/>
              </a:spcBef>
              <a:spcAft>
                <a:spcPts val="0"/>
              </a:spcAft>
              <a:defRPr sz="3400" b="1">
                <a:solidFill>
                  <a:srgbClr val="152B3A"/>
                </a:solidFill>
                <a:latin typeface="Be Vietnam Pro"/>
              </a:defRPr>
            </a:pPr>
            <a:r>
              <a:t>Conclusion and pending Protégé evidence</a:t>
            </a:r>
          </a:p>
        </p:txBody>
      </p:sp>
      <p:sp>
        <p:nvSpPr>
          <p:cNvPr id="5" name="TextBox 4"/>
          <p:cNvSpPr txBox="1"/>
          <p:nvPr/>
        </p:nvSpPr>
        <p:spPr>
          <a:xfrm>
            <a:off x="612648" y="1719072"/>
            <a:ext cx="13350240" cy="548640"/>
          </a:xfrm>
          <a:prstGeom prst="rect">
            <a:avLst/>
          </a:prstGeom>
          <a:noFill/>
        </p:spPr>
        <p:txBody>
          <a:bodyPr wrap="none" lIns="0" rIns="0" tIns="0" bIns="0">
            <a:spAutoFit/>
          </a:bodyPr>
          <a:lstStyle/>
          <a:p>
            <a:pPr>
              <a:lnSpc>
                <a:spcPts val="2176"/>
              </a:lnSpc>
              <a:spcBef>
                <a:spcPts val="0"/>
              </a:spcBef>
              <a:spcAft>
                <a:spcPts val="0"/>
              </a:spcAft>
              <a:defRPr sz="1700" b="0">
                <a:solidFill>
                  <a:srgbClr val="506776"/>
                </a:solidFill>
                <a:latin typeface="Be Vietnam Pro"/>
              </a:defRPr>
            </a:pPr>
            <a:r>
              <a:t>24 slides · five-page report · four-minute-fifty-second demo</a:t>
            </a:r>
          </a:p>
        </p:txBody>
      </p:sp>
      <p:sp>
        <p:nvSpPr>
          <p:cNvPr id="6" name="Rectangle 5"/>
          <p:cNvSpPr/>
          <p:nvPr/>
        </p:nvSpPr>
        <p:spPr>
          <a:xfrm>
            <a:off x="594360" y="7708392"/>
            <a:ext cx="13441680" cy="9144"/>
          </a:xfrm>
          <a:prstGeom prst="rect">
            <a:avLst/>
          </a:prstGeom>
          <a:solidFill>
            <a:srgbClr val="DD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7845552"/>
            <a:ext cx="11887200" cy="201168"/>
          </a:xfrm>
          <a:prstGeom prst="rect">
            <a:avLst/>
          </a:prstGeom>
          <a:noFill/>
        </p:spPr>
        <p:txBody>
          <a:bodyPr wrap="none" lIns="0" rIns="0" tIns="0" bIns="0">
            <a:spAutoFit/>
          </a:bodyPr>
          <a:lstStyle/>
          <a:p>
            <a:pPr>
              <a:lnSpc>
                <a:spcPts val="1280"/>
              </a:lnSpc>
              <a:spcBef>
                <a:spcPts val="0"/>
              </a:spcBef>
              <a:spcAft>
                <a:spcPts val="0"/>
              </a:spcAft>
              <a:defRPr sz="1000" b="0">
                <a:solidFill>
                  <a:srgbClr val="506776"/>
                </a:solidFill>
                <a:latin typeface="Be Vietnam Pro"/>
              </a:defRPr>
            </a:pPr>
            <a:r>
              <a:t>Data checked: 08 Oct 2026 • Sources: project code and evidence/</a:t>
            </a:r>
          </a:p>
        </p:txBody>
      </p:sp>
      <p:sp>
        <p:nvSpPr>
          <p:cNvPr id="8" name="TextBox 7"/>
          <p:cNvSpPr txBox="1"/>
          <p:nvPr/>
        </p:nvSpPr>
        <p:spPr>
          <a:xfrm>
            <a:off x="13258800" y="7818120"/>
            <a:ext cx="914400" cy="274320"/>
          </a:xfrm>
          <a:prstGeom prst="rect">
            <a:avLst/>
          </a:prstGeom>
          <a:noFill/>
        </p:spPr>
        <p:txBody>
          <a:bodyPr wrap="none" lIns="0" rIns="0" tIns="0" bIns="0">
            <a:spAutoFit/>
          </a:bodyPr>
          <a:lstStyle/>
          <a:p>
            <a:pPr>
              <a:lnSpc>
                <a:spcPts val="1536"/>
              </a:lnSpc>
              <a:spcBef>
                <a:spcPts val="0"/>
              </a:spcBef>
              <a:spcAft>
                <a:spcPts val="0"/>
              </a:spcAft>
              <a:defRPr sz="1200" b="1">
                <a:solidFill>
                  <a:srgbClr val="007F82"/>
                </a:solidFill>
                <a:latin typeface="Be Vietnam Pro"/>
              </a:defRPr>
            </a:pPr>
            <a:r>
              <a:t>24 / 24</a:t>
            </a:r>
          </a:p>
        </p:txBody>
      </p:sp>
      <p:sp>
        <p:nvSpPr>
          <p:cNvPr id="9" name="Rectangle 8"/>
          <p:cNvSpPr/>
          <p:nvPr/>
        </p:nvSpPr>
        <p:spPr>
          <a:xfrm>
            <a:off x="731520" y="2615184"/>
            <a:ext cx="7909560" cy="393192"/>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688336"/>
            <a:ext cx="786384"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Image</a:t>
            </a:r>
          </a:p>
        </p:txBody>
      </p:sp>
      <p:sp>
        <p:nvSpPr>
          <p:cNvPr id="11" name="TextBox 10"/>
          <p:cNvSpPr txBox="1"/>
          <p:nvPr/>
        </p:nvSpPr>
        <p:spPr>
          <a:xfrm>
            <a:off x="1847088" y="2688336"/>
            <a:ext cx="786384"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Slide</a:t>
            </a:r>
          </a:p>
        </p:txBody>
      </p:sp>
      <p:sp>
        <p:nvSpPr>
          <p:cNvPr id="12" name="TextBox 11"/>
          <p:cNvSpPr txBox="1"/>
          <p:nvPr/>
        </p:nvSpPr>
        <p:spPr>
          <a:xfrm>
            <a:off x="2852928" y="2688336"/>
            <a:ext cx="5678424" cy="301752"/>
          </a:xfrm>
          <a:prstGeom prst="rect">
            <a:avLst/>
          </a:prstGeom>
          <a:noFill/>
        </p:spPr>
        <p:txBody>
          <a:bodyPr wrap="none" lIns="0" rIns="0" tIns="0" bIns="0">
            <a:spAutoFit/>
          </a:bodyPr>
          <a:lstStyle/>
          <a:p>
            <a:pPr>
              <a:lnSpc>
                <a:spcPts val="1920"/>
              </a:lnSpc>
              <a:spcBef>
                <a:spcPts val="0"/>
              </a:spcBef>
              <a:spcAft>
                <a:spcPts val="0"/>
              </a:spcAft>
              <a:defRPr sz="1500" b="1">
                <a:solidFill>
                  <a:srgbClr val="FFFFFF"/>
                </a:solidFill>
                <a:latin typeface="Be Vietnam Pro"/>
              </a:defRPr>
            </a:pPr>
            <a:r>
              <a:t>Evidence to capture</a:t>
            </a:r>
          </a:p>
        </p:txBody>
      </p:sp>
      <p:sp>
        <p:nvSpPr>
          <p:cNvPr id="13" name="Rectangle 12"/>
          <p:cNvSpPr/>
          <p:nvPr/>
        </p:nvSpPr>
        <p:spPr>
          <a:xfrm>
            <a:off x="731520" y="3008376"/>
            <a:ext cx="7909560" cy="362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3067812"/>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P00</a:t>
            </a:r>
          </a:p>
        </p:txBody>
      </p:sp>
      <p:sp>
        <p:nvSpPr>
          <p:cNvPr id="15" name="TextBox 14"/>
          <p:cNvSpPr txBox="1"/>
          <p:nvPr/>
        </p:nvSpPr>
        <p:spPr>
          <a:xfrm>
            <a:off x="1847088" y="3067812"/>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5</a:t>
            </a:r>
          </a:p>
        </p:txBody>
      </p:sp>
      <p:sp>
        <p:nvSpPr>
          <p:cNvPr id="16" name="TextBox 15"/>
          <p:cNvSpPr txBox="1"/>
          <p:nvPr/>
        </p:nvSpPr>
        <p:spPr>
          <a:xfrm>
            <a:off x="2852928" y="3067812"/>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Ontology IRI and version</a:t>
            </a:r>
          </a:p>
        </p:txBody>
      </p:sp>
      <p:sp>
        <p:nvSpPr>
          <p:cNvPr id="17" name="Rectangle 16"/>
          <p:cNvSpPr/>
          <p:nvPr/>
        </p:nvSpPr>
        <p:spPr>
          <a:xfrm>
            <a:off x="731520" y="3371088"/>
            <a:ext cx="7909560" cy="3627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3430524"/>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P01</a:t>
            </a:r>
          </a:p>
        </p:txBody>
      </p:sp>
      <p:sp>
        <p:nvSpPr>
          <p:cNvPr id="19" name="TextBox 18"/>
          <p:cNvSpPr txBox="1"/>
          <p:nvPr/>
        </p:nvSpPr>
        <p:spPr>
          <a:xfrm>
            <a:off x="1847088" y="3430524"/>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6</a:t>
            </a:r>
          </a:p>
        </p:txBody>
      </p:sp>
      <p:sp>
        <p:nvSpPr>
          <p:cNvPr id="20" name="TextBox 19"/>
          <p:cNvSpPr txBox="1"/>
          <p:nvPr/>
        </p:nvSpPr>
        <p:spPr>
          <a:xfrm>
            <a:off x="2852928" y="3430524"/>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Film class hierarchy</a:t>
            </a:r>
          </a:p>
        </p:txBody>
      </p:sp>
      <p:sp>
        <p:nvSpPr>
          <p:cNvPr id="21" name="Rectangle 20"/>
          <p:cNvSpPr/>
          <p:nvPr/>
        </p:nvSpPr>
        <p:spPr>
          <a:xfrm>
            <a:off x="731520" y="3733799"/>
            <a:ext cx="7909560" cy="362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3793236"/>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P02</a:t>
            </a:r>
          </a:p>
        </p:txBody>
      </p:sp>
      <p:sp>
        <p:nvSpPr>
          <p:cNvPr id="23" name="TextBox 22"/>
          <p:cNvSpPr txBox="1"/>
          <p:nvPr/>
        </p:nvSpPr>
        <p:spPr>
          <a:xfrm>
            <a:off x="1847088" y="3793236"/>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7</a:t>
            </a:r>
          </a:p>
        </p:txBody>
      </p:sp>
      <p:sp>
        <p:nvSpPr>
          <p:cNvPr id="24" name="TextBox 23"/>
          <p:cNvSpPr txBox="1"/>
          <p:nvPr/>
        </p:nvSpPr>
        <p:spPr>
          <a:xfrm>
            <a:off x="2852928" y="3793236"/>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People and organizations</a:t>
            </a:r>
          </a:p>
        </p:txBody>
      </p:sp>
      <p:sp>
        <p:nvSpPr>
          <p:cNvPr id="25" name="Rectangle 24"/>
          <p:cNvSpPr/>
          <p:nvPr/>
        </p:nvSpPr>
        <p:spPr>
          <a:xfrm>
            <a:off x="731520" y="4096511"/>
            <a:ext cx="7909560" cy="3627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4155948"/>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P03</a:t>
            </a:r>
          </a:p>
        </p:txBody>
      </p:sp>
      <p:sp>
        <p:nvSpPr>
          <p:cNvPr id="27" name="TextBox 26"/>
          <p:cNvSpPr txBox="1"/>
          <p:nvPr/>
        </p:nvSpPr>
        <p:spPr>
          <a:xfrm>
            <a:off x="1847088" y="4155948"/>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8</a:t>
            </a:r>
          </a:p>
        </p:txBody>
      </p:sp>
      <p:sp>
        <p:nvSpPr>
          <p:cNvPr id="28" name="TextBox 27"/>
          <p:cNvSpPr txBox="1"/>
          <p:nvPr/>
        </p:nvSpPr>
        <p:spPr>
          <a:xfrm>
            <a:off x="2852928" y="4155948"/>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Genre and award hierarchies</a:t>
            </a:r>
          </a:p>
        </p:txBody>
      </p:sp>
      <p:sp>
        <p:nvSpPr>
          <p:cNvPr id="29" name="Rectangle 28"/>
          <p:cNvSpPr/>
          <p:nvPr/>
        </p:nvSpPr>
        <p:spPr>
          <a:xfrm>
            <a:off x="731520" y="4459223"/>
            <a:ext cx="7909560" cy="362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 y="4518660"/>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P04</a:t>
            </a:r>
          </a:p>
        </p:txBody>
      </p:sp>
      <p:sp>
        <p:nvSpPr>
          <p:cNvPr id="31" name="TextBox 30"/>
          <p:cNvSpPr txBox="1"/>
          <p:nvPr/>
        </p:nvSpPr>
        <p:spPr>
          <a:xfrm>
            <a:off x="1847088" y="4518660"/>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9</a:t>
            </a:r>
          </a:p>
        </p:txBody>
      </p:sp>
      <p:sp>
        <p:nvSpPr>
          <p:cNvPr id="32" name="TextBox 31"/>
          <p:cNvSpPr txBox="1"/>
          <p:nvPr/>
        </p:nvSpPr>
        <p:spPr>
          <a:xfrm>
            <a:off x="2852928" y="4518660"/>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Contribution restrictions</a:t>
            </a:r>
          </a:p>
        </p:txBody>
      </p:sp>
      <p:sp>
        <p:nvSpPr>
          <p:cNvPr id="33" name="Rectangle 32"/>
          <p:cNvSpPr/>
          <p:nvPr/>
        </p:nvSpPr>
        <p:spPr>
          <a:xfrm>
            <a:off x="731520" y="4821935"/>
            <a:ext cx="7909560" cy="3627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1248" y="4881372"/>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P05</a:t>
            </a:r>
          </a:p>
        </p:txBody>
      </p:sp>
      <p:sp>
        <p:nvSpPr>
          <p:cNvPr id="35" name="TextBox 34"/>
          <p:cNvSpPr txBox="1"/>
          <p:nvPr/>
        </p:nvSpPr>
        <p:spPr>
          <a:xfrm>
            <a:off x="1847088" y="4881372"/>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10</a:t>
            </a:r>
          </a:p>
        </p:txBody>
      </p:sp>
      <p:sp>
        <p:nvSpPr>
          <p:cNvPr id="36" name="TextBox 35"/>
          <p:cNvSpPr txBox="1"/>
          <p:nvPr/>
        </p:nvSpPr>
        <p:spPr>
          <a:xfrm>
            <a:off x="2852928" y="4881372"/>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Domain, range, inverse and functional</a:t>
            </a:r>
          </a:p>
        </p:txBody>
      </p:sp>
      <p:sp>
        <p:nvSpPr>
          <p:cNvPr id="37" name="Rectangle 36"/>
          <p:cNvSpPr/>
          <p:nvPr/>
        </p:nvSpPr>
        <p:spPr>
          <a:xfrm>
            <a:off x="731520" y="5184647"/>
            <a:ext cx="7909560" cy="362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1248" y="5244083"/>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P06</a:t>
            </a:r>
          </a:p>
        </p:txBody>
      </p:sp>
      <p:sp>
        <p:nvSpPr>
          <p:cNvPr id="39" name="TextBox 38"/>
          <p:cNvSpPr txBox="1"/>
          <p:nvPr/>
        </p:nvSpPr>
        <p:spPr>
          <a:xfrm>
            <a:off x="1847088" y="5244083"/>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13</a:t>
            </a:r>
          </a:p>
        </p:txBody>
      </p:sp>
      <p:sp>
        <p:nvSpPr>
          <p:cNvPr id="40" name="TextBox 39"/>
          <p:cNvSpPr txBox="1"/>
          <p:nvPr/>
        </p:nvSpPr>
        <p:spPr>
          <a:xfrm>
            <a:off x="2852928" y="5244083"/>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Filmmaker definition</a:t>
            </a:r>
          </a:p>
        </p:txBody>
      </p:sp>
      <p:sp>
        <p:nvSpPr>
          <p:cNvPr id="41" name="Rectangle 40"/>
          <p:cNvSpPr/>
          <p:nvPr/>
        </p:nvSpPr>
        <p:spPr>
          <a:xfrm>
            <a:off x="731520" y="5547359"/>
            <a:ext cx="7909560" cy="3627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41248" y="5606795"/>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P07</a:t>
            </a:r>
          </a:p>
        </p:txBody>
      </p:sp>
      <p:sp>
        <p:nvSpPr>
          <p:cNvPr id="43" name="TextBox 42"/>
          <p:cNvSpPr txBox="1"/>
          <p:nvPr/>
        </p:nvSpPr>
        <p:spPr>
          <a:xfrm>
            <a:off x="1847088" y="5606795"/>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14</a:t>
            </a:r>
          </a:p>
        </p:txBody>
      </p:sp>
      <p:sp>
        <p:nvSpPr>
          <p:cNvPr id="44" name="TextBox 43"/>
          <p:cNvSpPr txBox="1"/>
          <p:nvPr/>
        </p:nvSpPr>
        <p:spPr>
          <a:xfrm>
            <a:off x="2852928" y="5606795"/>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FilmStudio cardinality</a:t>
            </a:r>
          </a:p>
        </p:txBody>
      </p:sp>
      <p:sp>
        <p:nvSpPr>
          <p:cNvPr id="45" name="Rectangle 44"/>
          <p:cNvSpPr/>
          <p:nvPr/>
        </p:nvSpPr>
        <p:spPr>
          <a:xfrm>
            <a:off x="731520" y="5910071"/>
            <a:ext cx="7909560" cy="362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41248" y="5969507"/>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P08</a:t>
            </a:r>
          </a:p>
        </p:txBody>
      </p:sp>
      <p:sp>
        <p:nvSpPr>
          <p:cNvPr id="47" name="TextBox 46"/>
          <p:cNvSpPr txBox="1"/>
          <p:nvPr/>
        </p:nvSpPr>
        <p:spPr>
          <a:xfrm>
            <a:off x="1847088" y="5969507"/>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16</a:t>
            </a:r>
          </a:p>
        </p:txBody>
      </p:sp>
      <p:sp>
        <p:nvSpPr>
          <p:cNvPr id="48" name="TextBox 47"/>
          <p:cNvSpPr txBox="1"/>
          <p:nvPr/>
        </p:nvSpPr>
        <p:spPr>
          <a:xfrm>
            <a:off x="2852928" y="5969507"/>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Runtime datatype</a:t>
            </a:r>
          </a:p>
        </p:txBody>
      </p:sp>
      <p:sp>
        <p:nvSpPr>
          <p:cNvPr id="49" name="Rectangle 48"/>
          <p:cNvSpPr/>
          <p:nvPr/>
        </p:nvSpPr>
        <p:spPr>
          <a:xfrm>
            <a:off x="731520" y="6272783"/>
            <a:ext cx="7909560" cy="362712"/>
          </a:xfrm>
          <a:prstGeom prst="rect">
            <a:avLst/>
          </a:prstGeom>
          <a:solidFill>
            <a:srgbClr val="E7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41248" y="6332219"/>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P09</a:t>
            </a:r>
          </a:p>
        </p:txBody>
      </p:sp>
      <p:sp>
        <p:nvSpPr>
          <p:cNvPr id="51" name="TextBox 50"/>
          <p:cNvSpPr txBox="1"/>
          <p:nvPr/>
        </p:nvSpPr>
        <p:spPr>
          <a:xfrm>
            <a:off x="1847088" y="6332219"/>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18</a:t>
            </a:r>
          </a:p>
        </p:txBody>
      </p:sp>
      <p:sp>
        <p:nvSpPr>
          <p:cNvPr id="52" name="TextBox 51"/>
          <p:cNvSpPr txBox="1"/>
          <p:nvPr/>
        </p:nvSpPr>
        <p:spPr>
          <a:xfrm>
            <a:off x="2852928" y="6332219"/>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Inception individual</a:t>
            </a:r>
          </a:p>
        </p:txBody>
      </p:sp>
      <p:sp>
        <p:nvSpPr>
          <p:cNvPr id="53" name="Rectangle 52"/>
          <p:cNvSpPr/>
          <p:nvPr/>
        </p:nvSpPr>
        <p:spPr>
          <a:xfrm>
            <a:off x="731520" y="6635495"/>
            <a:ext cx="7909560" cy="3627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1248" y="6694931"/>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P10</a:t>
            </a:r>
          </a:p>
        </p:txBody>
      </p:sp>
      <p:sp>
        <p:nvSpPr>
          <p:cNvPr id="55" name="TextBox 54"/>
          <p:cNvSpPr txBox="1"/>
          <p:nvPr/>
        </p:nvSpPr>
        <p:spPr>
          <a:xfrm>
            <a:off x="1847088" y="6694931"/>
            <a:ext cx="78638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21</a:t>
            </a:r>
          </a:p>
        </p:txBody>
      </p:sp>
      <p:sp>
        <p:nvSpPr>
          <p:cNvPr id="56" name="TextBox 55"/>
          <p:cNvSpPr txBox="1"/>
          <p:nvPr/>
        </p:nvSpPr>
        <p:spPr>
          <a:xfrm>
            <a:off x="2852928" y="6694931"/>
            <a:ext cx="5678424" cy="243840"/>
          </a:xfrm>
          <a:prstGeom prst="rect">
            <a:avLst/>
          </a:prstGeom>
          <a:noFill/>
        </p:spPr>
        <p:txBody>
          <a:bodyPr wrap="none" lIns="0" rIns="0" tIns="0" bIns="0">
            <a:spAutoFit/>
          </a:bodyPr>
          <a:lstStyle/>
          <a:p>
            <a:pPr>
              <a:lnSpc>
                <a:spcPts val="1920"/>
              </a:lnSpc>
              <a:spcBef>
                <a:spcPts val="0"/>
              </a:spcBef>
              <a:spcAft>
                <a:spcPts val="0"/>
              </a:spcAft>
              <a:defRPr sz="1500" b="0">
                <a:solidFill>
                  <a:srgbClr val="152B3A"/>
                </a:solidFill>
                <a:latin typeface="Be Vietnam Pro"/>
              </a:defRPr>
            </a:pPr>
            <a:r>
              <a:t>Nolan asserted types</a:t>
            </a:r>
          </a:p>
        </p:txBody>
      </p:sp>
      <p:sp>
        <p:nvSpPr>
          <p:cNvPr id="57" name="Rounded Rectangle 56"/>
          <p:cNvSpPr/>
          <p:nvPr/>
        </p:nvSpPr>
        <p:spPr>
          <a:xfrm>
            <a:off x="8915400" y="2679192"/>
            <a:ext cx="4965192" cy="4480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915400" y="2679192"/>
            <a:ext cx="41148" cy="448056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125712" y="2825496"/>
            <a:ext cx="4544568" cy="352552"/>
          </a:xfrm>
          <a:prstGeom prst="rect">
            <a:avLst/>
          </a:prstGeom>
          <a:noFill/>
        </p:spPr>
        <p:txBody>
          <a:bodyPr wrap="none" lIns="0" rIns="0" tIns="0" bIns="0">
            <a:spAutoFit/>
          </a:bodyPr>
          <a:lstStyle/>
          <a:p>
            <a:pPr>
              <a:lnSpc>
                <a:spcPts val="2560"/>
              </a:lnSpc>
              <a:spcBef>
                <a:spcPts val="0"/>
              </a:spcBef>
              <a:spcAft>
                <a:spcPts val="0"/>
              </a:spcAft>
              <a:defRPr sz="2000" b="1">
                <a:solidFill>
                  <a:srgbClr val="007F82"/>
                </a:solidFill>
                <a:latin typeface="Be Vietnam Pro"/>
              </a:defRPr>
            </a:pPr>
            <a:r>
              <a:t>Before submission</a:t>
            </a:r>
          </a:p>
        </p:txBody>
      </p:sp>
      <p:sp>
        <p:nvSpPr>
          <p:cNvPr id="60" name="TextBox 59"/>
          <p:cNvSpPr txBox="1"/>
          <p:nvPr/>
        </p:nvSpPr>
        <p:spPr>
          <a:xfrm>
            <a:off x="9125712" y="3269488"/>
            <a:ext cx="4544568" cy="3807968"/>
          </a:xfrm>
          <a:prstGeom prst="rect">
            <a:avLst/>
          </a:prstGeom>
          <a:noFill/>
        </p:spPr>
        <p:txBody>
          <a:bodyPr wrap="none" lIns="0" rIns="0" tIns="0" bIns="0">
            <a:spAutoFit/>
          </a:bodyPr>
          <a:lstStyle/>
          <a:p>
            <a:pPr>
              <a:lnSpc>
                <a:spcPts val="2304"/>
              </a:lnSpc>
              <a:spcBef>
                <a:spcPts val="0"/>
              </a:spcBef>
              <a:spcAft>
                <a:spcPts val="0"/>
              </a:spcAft>
              <a:defRPr sz="1800" b="0">
                <a:solidFill>
                  <a:srgbClr val="506776"/>
                </a:solidFill>
                <a:latin typeface="Be Vietnam Pro"/>
              </a:defRPr>
            </a:pPr>
            <a:r>
              <a:t>1. Complete team / member details.</a:t>
            </a:r>
          </a:p>
          <a:p>
            <a:pPr>
              <a:lnSpc>
                <a:spcPts val="2304"/>
              </a:lnSpc>
              <a:spcBef>
                <a:spcPts val="0"/>
              </a:spcBef>
              <a:spcAft>
                <a:spcPts val="0"/>
              </a:spcAft>
              <a:defRPr sz="1800" b="0">
                <a:solidFill>
                  <a:srgbClr val="506776"/>
                </a:solidFill>
                <a:latin typeface="Be Vietnam Pro"/>
              </a:defRPr>
            </a:pPr>
          </a:p>
          <a:p>
            <a:pPr>
              <a:lnSpc>
                <a:spcPts val="2304"/>
              </a:lnSpc>
              <a:spcBef>
                <a:spcPts val="0"/>
              </a:spcBef>
              <a:spcAft>
                <a:spcPts val="0"/>
              </a:spcAft>
              <a:defRPr sz="1800" b="0">
                <a:solidFill>
                  <a:srgbClr val="506776"/>
                </a:solidFill>
                <a:latin typeface="Be Vietnam Pro"/>
              </a:defRPr>
            </a:pPr>
            <a:r>
              <a:t>2. Insert 11 genuine screenshots.</a:t>
            </a:r>
          </a:p>
          <a:p>
            <a:pPr>
              <a:lnSpc>
                <a:spcPts val="2304"/>
              </a:lnSpc>
              <a:spcBef>
                <a:spcPts val="0"/>
              </a:spcBef>
              <a:spcAft>
                <a:spcPts val="0"/>
              </a:spcAft>
              <a:defRPr sz="1800" b="0">
                <a:solidFill>
                  <a:srgbClr val="506776"/>
                </a:solidFill>
                <a:latin typeface="Be Vietnam Pro"/>
              </a:defRPr>
            </a:pPr>
          </a:p>
          <a:p>
            <a:pPr>
              <a:lnSpc>
                <a:spcPts val="2304"/>
              </a:lnSpc>
              <a:spcBef>
                <a:spcPts val="0"/>
              </a:spcBef>
              <a:spcAft>
                <a:spcPts val="0"/>
              </a:spcAft>
              <a:defRPr sz="1800" b="0">
                <a:solidFill>
                  <a:srgbClr val="506776"/>
                </a:solidFill>
                <a:latin typeface="Be Vietnam Pro"/>
              </a:defRPr>
            </a:pPr>
            <a:r>
              <a:t>3. Save them in evidence/protege/ for</a:t>
            </a:r>
          </a:p>
          <a:p>
            <a:pPr>
              <a:lnSpc>
                <a:spcPts val="2304"/>
              </a:lnSpc>
              <a:spcBef>
                <a:spcPts val="0"/>
              </a:spcBef>
              <a:spcAft>
                <a:spcPts val="0"/>
              </a:spcAft>
              <a:defRPr sz="1800" b="0">
                <a:solidFill>
                  <a:srgbClr val="506776"/>
                </a:solidFill>
                <a:latin typeface="Be Vietnam Pro"/>
              </a:defRPr>
            </a:pPr>
            <a:r>
              <a:t>automatic replacement.</a:t>
            </a:r>
          </a:p>
          <a:p>
            <a:pPr>
              <a:lnSpc>
                <a:spcPts val="2304"/>
              </a:lnSpc>
              <a:spcBef>
                <a:spcPts val="0"/>
              </a:spcBef>
              <a:spcAft>
                <a:spcPts val="0"/>
              </a:spcAft>
              <a:defRPr sz="1800" b="0">
                <a:solidFill>
                  <a:srgbClr val="506776"/>
                </a:solidFill>
                <a:latin typeface="Be Vietnam Pro"/>
              </a:defRPr>
            </a:pPr>
          </a:p>
          <a:p>
            <a:pPr>
              <a:lnSpc>
                <a:spcPts val="2304"/>
              </a:lnSpc>
              <a:spcBef>
                <a:spcPts val="0"/>
              </a:spcBef>
              <a:spcAft>
                <a:spcPts val="0"/>
              </a:spcAft>
              <a:defRPr sz="1800" b="0">
                <a:solidFill>
                  <a:srgbClr val="506776"/>
                </a:solidFill>
                <a:latin typeface="Be Vietnam Pro"/>
              </a:defRPr>
            </a:pPr>
            <a:r>
              <a:t>4. Rehearse with the speaker script and</a:t>
            </a:r>
          </a:p>
          <a:p>
            <a:pPr>
              <a:lnSpc>
                <a:spcPts val="2304"/>
              </a:lnSpc>
              <a:spcBef>
                <a:spcPts val="0"/>
              </a:spcBef>
              <a:spcAft>
                <a:spcPts val="0"/>
              </a:spcAft>
              <a:defRPr sz="1800" b="0">
                <a:solidFill>
                  <a:srgbClr val="506776"/>
                </a:solidFill>
                <a:latin typeface="Be Vietnam Pro"/>
              </a:defRPr>
            </a:pPr>
            <a:r>
              <a:t>review the video.</a:t>
            </a:r>
          </a:p>
        </p:txBody>
      </p:sp>
      <p:sp>
        <p:nvSpPr>
          <p:cNvPr id="61" name="TextBox 60"/>
          <p:cNvSpPr txBox="1"/>
          <p:nvPr/>
        </p:nvSpPr>
        <p:spPr>
          <a:xfrm>
            <a:off x="777240" y="7242048"/>
            <a:ext cx="13075920" cy="411480"/>
          </a:xfrm>
          <a:prstGeom prst="rect">
            <a:avLst/>
          </a:prstGeom>
          <a:noFill/>
        </p:spPr>
        <p:txBody>
          <a:bodyPr wrap="none" lIns="0" rIns="0" tIns="0" bIns="0">
            <a:spAutoFit/>
          </a:bodyPr>
          <a:lstStyle/>
          <a:p>
            <a:pPr>
              <a:lnSpc>
                <a:spcPts val="1664"/>
              </a:lnSpc>
              <a:spcBef>
                <a:spcPts val="0"/>
              </a:spcBef>
              <a:spcAft>
                <a:spcPts val="0"/>
              </a:spcAft>
              <a:defRPr sz="1300" b="0">
                <a:solidFill>
                  <a:srgbClr val="506776"/>
                </a:solidFill>
                <a:latin typeface="Be Vietnam Pro"/>
              </a:defRPr>
            </a:pPr>
            <a:r>
              <a:t>Screenshot slots are placeholders, not captured evidence. Full English narration is in Speaker Notes.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