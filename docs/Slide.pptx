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làm này xây dựng Movie L O D, một ứng dụng dữ liệu phim liên kết. Mục tiêu là hoàn thành cả năm yêu cầu của đề, từ mô hình hóa, thu thập và chuyển đổi dữ liệu, đến liên kết ngoài và truy vấn. Thay vì mở rộng quá nhiều khái niệm, mô hình chỉ dùng chín lớp cần thiết. Chúng ta sẽ theo dõi một ví dụ quen thuộc: phim Inception và đạo diễn Christopher Nolan.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Yêu cầu thứ nhất là định nghĩa mô hình cho lĩnh vực điện ảnh. Bài tái sử dụng trực tiếp ba lớp của DBpedia: Film cho phim, Person cho người và Country cho quốc gia. Sáu lớp của bài mô tả thể loại, ngôn ngữ, đóng góp, vai trò, nguồn và bộ dữ liệu. Mỗi bản ghi đóng góp nối đúng một phim, một người và một vai trò. Vì vậy, Nolan có thể làm đạo diễn và biên kịch trong cùng phim mà hai công việc vẫn được phân biệt rõ.</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Yêu cầu thứ hai là thu thập dữ liệu thật. Danh sách chọn gồm ba mươi phim. Chương trình tải thông tin từ Wikidata và DBpedia. Danh tính được xác định bằng liên kết Wikipedia chính xác, thay vì đoán từ tên gần giống. Các phản hồi gốc được giữ nguyên, kèm địa chỉ nguồn, thời điểm lấy và mã băm. Mã băm giúp kiểm tra nội dung có bị thay đổi hay không. Bộ dữ liệu này là một mẫu phục vụ học tập, không phải toàn bộ điện ảnh.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Yêu cầu thứ ba là chuyển thông tin thành dữ liệu liên kết. Mỗi câu có ba thành phần: chủ thể, quan hệ và đối tượng hoặc giá trị. Ví dụ, Inception có đạo diễn là Christopher Nolan. Mã nguồn tạo định danh ổn định từ mã thực thể, chuyển thời lượng về phút và thêm nguồn cho từng bản ghi. Dữ liệu được xuất theo các định dạng mở. Điều kiện bốn sao còn yêu cầu giấy phép mở và dữ liệu được công bố trên Web.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Yêu cầu thứ tư là nối dữ liệu với những bộ dữ liệu khác. Phim Inception trong ứng dụng được nối với mã thực thể tương ứng của Wikidata và DBpedia. Quan hệ same as khẳng định hai định danh chỉ cùng một thực thể, còn quan hệ nguồn nói thông tin được lấy từ đâu. Bài lưu biên bản cho từng liên kết để có thể kiểm tra phương pháp nối. Điều kiện năm sao được xây dựng trên điều kiện bốn sao đã đáp ứng.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giao diện thật của ứng dụng. Bên trái là câu hỏi mẫu và ô nhập truy vấn. Bên phải là kết quả. Câu hỏi về Inception trả về tên phim, năm hai nghìn mười, thời lượng một trăm bốn mươi tám phút và Christopher Nolan. Người dùng có thể sửa câu truy vấn, chạy lại và tải kết quả. Khi chạy cục bộ, giao diện gọi dịch vụ truy vấn của ứng dụng. Bản hosted truy vấn bộ dữ liệu ngay trong trình duyệt.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Thay câu hỏi mẫu sang các phim do Nolan đạo diễn, chúng ta nhận được bảng các phim trong bộ dữ liệu. Đây là kết quả truy vấn đồ thị của bài, không phải danh sách nhập cứng trong giao diện. Ngoài giao diện Web, bài có dịch vụ truy vấn và cách chạy ở terminal. Người dùng còn mở được định danh của một phim để xem thuộc tính, liên kết ngoài và nguồn. Mỗi trang có bản mô tả dữ liệu máy có thể đọc.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Cuối cùng, bài có kiểm tra cấu trúc dữ liệu, kiểm tra toàn vẹn nguồn, tám truy vấn mẫu và tám bài kiểm tra tự động. Giao diện cũng được thử trên màn hình máy tính và điện thoại. Bộ nộp gồm mã, dữ liệu, báo cáo, slide và video này. Mọi kết quả kiểm tra được lưu để xem lại. Phần Open Data trên Web chỉ được xác nhận khi chủ sở hữu cho phép bản hosted truy cập công khai; trạng thái thực tế luôn được ghi trong biên bản xuất bản.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632"/>
        </a:solidFill>
        <a:effectLst/>
      </p:bgPr>
    </p:bg>
    <p:spTree>
      <p:nvGrpSpPr>
        <p:cNvPr id="1" name=""/>
        <p:cNvGrpSpPr/>
        <p:nvPr/>
      </p:nvGrpSpPr>
      <p:grpSpPr/>
      <p:sp>
        <p:nvSpPr>
          <p:cNvPr id="2" name="TextBox 1"/>
          <p:cNvSpPr txBox="1"/>
          <p:nvPr/>
        </p:nvSpPr>
        <p:spPr>
          <a:xfrm>
            <a:off x="731520" y="411480"/>
            <a:ext cx="12801600" cy="365760"/>
          </a:xfrm>
          <a:prstGeom prst="rect">
            <a:avLst/>
          </a:prstGeom>
          <a:noFill/>
        </p:spPr>
        <p:txBody>
          <a:bodyPr wrap="square">
            <a:spAutoFit/>
          </a:bodyPr>
          <a:lstStyle/>
          <a:p>
            <a:pPr>
              <a:defRPr sz="1400" b="1">
                <a:solidFill>
                  <a:srgbClr val="FFD361"/>
                </a:solidFill>
                <a:latin typeface="Be Vietnam Pro"/>
              </a:defRPr>
            </a:pPr>
            <a:r>
              <a:t>MOVIELOD / SEMANTIC WEB</a:t>
            </a:r>
          </a:p>
        </p:txBody>
      </p:sp>
      <p:sp>
        <p:nvSpPr>
          <p:cNvPr id="3" name="TextBox 2"/>
          <p:cNvSpPr txBox="1"/>
          <p:nvPr/>
        </p:nvSpPr>
        <p:spPr>
          <a:xfrm>
            <a:off x="731520" y="960120"/>
            <a:ext cx="12801600" cy="1005840"/>
          </a:xfrm>
          <a:prstGeom prst="rect">
            <a:avLst/>
          </a:prstGeom>
          <a:noFill/>
        </p:spPr>
        <p:txBody>
          <a:bodyPr wrap="square">
            <a:spAutoFit/>
          </a:bodyPr>
          <a:lstStyle/>
          <a:p>
            <a:pPr>
              <a:defRPr sz="3600" b="1">
                <a:solidFill>
                  <a:srgbClr val="F5FBFF"/>
                </a:solidFill>
                <a:latin typeface="Be Vietnam Pro"/>
              </a:defRPr>
            </a:pPr>
            <a:r>
              <a:t>MovieLOD</a:t>
            </a:r>
          </a:p>
        </p:txBody>
      </p:sp>
      <p:sp>
        <p:nvSpPr>
          <p:cNvPr id="4" name="TextBox 3"/>
          <p:cNvSpPr txBox="1"/>
          <p:nvPr/>
        </p:nvSpPr>
        <p:spPr>
          <a:xfrm>
            <a:off x="731520" y="1783080"/>
            <a:ext cx="12801600" cy="594360"/>
          </a:xfrm>
          <a:prstGeom prst="rect">
            <a:avLst/>
          </a:prstGeom>
          <a:noFill/>
        </p:spPr>
        <p:txBody>
          <a:bodyPr wrap="square">
            <a:spAutoFit/>
          </a:bodyPr>
          <a:lstStyle/>
          <a:p>
            <a:pPr>
              <a:defRPr sz="2000" b="0">
                <a:solidFill>
                  <a:srgbClr val="A9C0CC"/>
                </a:solidFill>
                <a:latin typeface="Be Vietnam Pro"/>
              </a:defRPr>
            </a:pPr>
            <a:r>
              <a:t>Ứng dụng dữ liệu phim liên kết</a:t>
            </a:r>
          </a:p>
        </p:txBody>
      </p:sp>
      <p:sp>
        <p:nvSpPr>
          <p:cNvPr id="5" name="TextBox 4"/>
          <p:cNvSpPr txBox="1"/>
          <p:nvPr/>
        </p:nvSpPr>
        <p:spPr>
          <a:xfrm>
            <a:off x="868680" y="2788920"/>
            <a:ext cx="12801600" cy="914400"/>
          </a:xfrm>
          <a:prstGeom prst="rect">
            <a:avLst/>
          </a:prstGeom>
          <a:noFill/>
        </p:spPr>
        <p:txBody>
          <a:bodyPr wrap="square">
            <a:spAutoFit/>
          </a:bodyPr>
          <a:lstStyle/>
          <a:p>
            <a:pPr>
              <a:defRPr sz="2500" b="0">
                <a:solidFill>
                  <a:srgbClr val="F5FBFF"/>
                </a:solidFill>
                <a:latin typeface="Be Vietnam Pro"/>
              </a:defRPr>
            </a:pPr>
            <a:r>
              <a:t>• 9 lớp: mô hình vừa đủ cho lĩnh vực phim</a:t>
            </a:r>
          </a:p>
        </p:txBody>
      </p:sp>
      <p:sp>
        <p:nvSpPr>
          <p:cNvPr id="6" name="TextBox 5"/>
          <p:cNvSpPr txBox="1"/>
          <p:nvPr/>
        </p:nvSpPr>
        <p:spPr>
          <a:xfrm>
            <a:off x="868680" y="3813048"/>
            <a:ext cx="12801600" cy="914400"/>
          </a:xfrm>
          <a:prstGeom prst="rect">
            <a:avLst/>
          </a:prstGeom>
          <a:noFill/>
        </p:spPr>
        <p:txBody>
          <a:bodyPr wrap="square">
            <a:spAutoFit/>
          </a:bodyPr>
          <a:lstStyle/>
          <a:p>
            <a:pPr>
              <a:defRPr sz="2500" b="0">
                <a:solidFill>
                  <a:srgbClr val="F5FBFF"/>
                </a:solidFill>
                <a:latin typeface="Be Vietnam Pro"/>
              </a:defRPr>
            </a:pPr>
            <a:r>
              <a:t>• 30 phim thật • 964 liên kết ngoài</a:t>
            </a:r>
          </a:p>
        </p:txBody>
      </p:sp>
      <p:sp>
        <p:nvSpPr>
          <p:cNvPr id="7" name="TextBox 6"/>
          <p:cNvSpPr txBox="1"/>
          <p:nvPr/>
        </p:nvSpPr>
        <p:spPr>
          <a:xfrm>
            <a:off x="868680" y="4837176"/>
            <a:ext cx="12801600" cy="914400"/>
          </a:xfrm>
          <a:prstGeom prst="rect">
            <a:avLst/>
          </a:prstGeom>
          <a:noFill/>
        </p:spPr>
        <p:txBody>
          <a:bodyPr wrap="square">
            <a:spAutoFit/>
          </a:bodyPr>
          <a:lstStyle/>
          <a:p>
            <a:pPr>
              <a:defRPr sz="2500" b="0">
                <a:solidFill>
                  <a:srgbClr val="F5FBFF"/>
                </a:solidFill>
                <a:latin typeface="Be Vietnam Pro"/>
              </a:defRPr>
            </a:pPr>
            <a:r>
              <a:t>• Nguồn → RDF → liên kết → truy vấn → công bố</a:t>
            </a:r>
          </a:p>
        </p:txBody>
      </p:sp>
      <p:sp>
        <p:nvSpPr>
          <p:cNvPr id="8" name="TextBox 7"/>
          <p:cNvSpPr txBox="1"/>
          <p:nvPr/>
        </p:nvSpPr>
        <p:spPr>
          <a:xfrm>
            <a:off x="731520" y="7680960"/>
            <a:ext cx="11887200" cy="365760"/>
          </a:xfrm>
          <a:prstGeom prst="rect">
            <a:avLst/>
          </a:prstGeom>
          <a:noFill/>
        </p:spPr>
        <p:txBody>
          <a:bodyPr wrap="square">
            <a:spAutoFit/>
          </a:bodyPr>
          <a:lstStyle/>
          <a:p>
            <a:pPr>
              <a:defRPr sz="1300" b="0">
                <a:solidFill>
                  <a:srgbClr val="A9C0CC"/>
                </a:solidFill>
                <a:latin typeface="Be Vietnam Pro"/>
              </a:defRPr>
            </a:pPr>
            <a:r>
              <a:t>Định nghĩa → Thu thập → RDF → Liên kết → Truy vấn</a:t>
            </a:r>
          </a:p>
        </p:txBody>
      </p:sp>
      <p:sp>
        <p:nvSpPr>
          <p:cNvPr id="9" name="TextBox 8"/>
          <p:cNvSpPr txBox="1"/>
          <p:nvPr/>
        </p:nvSpPr>
        <p:spPr>
          <a:xfrm>
            <a:off x="13533120" y="7680960"/>
            <a:ext cx="914400" cy="365760"/>
          </a:xfrm>
          <a:prstGeom prst="rect">
            <a:avLst/>
          </a:prstGeom>
          <a:noFill/>
        </p:spPr>
        <p:txBody>
          <a:bodyPr wrap="square">
            <a:spAutoFit/>
          </a:bodyPr>
          <a:lstStyle/>
          <a:p>
            <a:pPr>
              <a:defRPr sz="1300" b="0">
                <a:solidFill>
                  <a:srgbClr val="FFD361"/>
                </a:solidFill>
                <a:latin typeface="Be Vietnam Pro"/>
              </a:defRPr>
            </a:pPr>
            <a:r>
              <a:t>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632"/>
        </a:solidFill>
        <a:effectLst/>
      </p:bgPr>
    </p:bg>
    <p:spTree>
      <p:nvGrpSpPr>
        <p:cNvPr id="1" name=""/>
        <p:cNvGrpSpPr/>
        <p:nvPr/>
      </p:nvGrpSpPr>
      <p:grpSpPr/>
      <p:sp>
        <p:nvSpPr>
          <p:cNvPr id="2" name="TextBox 1"/>
          <p:cNvSpPr txBox="1"/>
          <p:nvPr/>
        </p:nvSpPr>
        <p:spPr>
          <a:xfrm>
            <a:off x="731520" y="411480"/>
            <a:ext cx="12801600" cy="365760"/>
          </a:xfrm>
          <a:prstGeom prst="rect">
            <a:avLst/>
          </a:prstGeom>
          <a:noFill/>
        </p:spPr>
        <p:txBody>
          <a:bodyPr wrap="square">
            <a:spAutoFit/>
          </a:bodyPr>
          <a:lstStyle/>
          <a:p>
            <a:pPr>
              <a:defRPr sz="1400" b="1">
                <a:solidFill>
                  <a:srgbClr val="FFD361"/>
                </a:solidFill>
                <a:latin typeface="Be Vietnam Pro"/>
              </a:defRPr>
            </a:pPr>
            <a:r>
              <a:t>MOVIELOD / SEMANTIC WEB</a:t>
            </a:r>
          </a:p>
        </p:txBody>
      </p:sp>
      <p:sp>
        <p:nvSpPr>
          <p:cNvPr id="3" name="TextBox 2"/>
          <p:cNvSpPr txBox="1"/>
          <p:nvPr/>
        </p:nvSpPr>
        <p:spPr>
          <a:xfrm>
            <a:off x="731520" y="960120"/>
            <a:ext cx="12801600" cy="1005840"/>
          </a:xfrm>
          <a:prstGeom prst="rect">
            <a:avLst/>
          </a:prstGeom>
          <a:noFill/>
        </p:spPr>
        <p:txBody>
          <a:bodyPr wrap="square">
            <a:spAutoFit/>
          </a:bodyPr>
          <a:lstStyle/>
          <a:p>
            <a:pPr>
              <a:defRPr sz="3600" b="1">
                <a:solidFill>
                  <a:srgbClr val="F5FBFF"/>
                </a:solidFill>
                <a:latin typeface="Be Vietnam Pro"/>
              </a:defRPr>
            </a:pPr>
            <a:r>
              <a:t>YC1 · Ontology</a:t>
            </a:r>
          </a:p>
        </p:txBody>
      </p:sp>
      <p:sp>
        <p:nvSpPr>
          <p:cNvPr id="4" name="TextBox 3"/>
          <p:cNvSpPr txBox="1"/>
          <p:nvPr/>
        </p:nvSpPr>
        <p:spPr>
          <a:xfrm>
            <a:off x="731520" y="1783080"/>
            <a:ext cx="12801600" cy="594360"/>
          </a:xfrm>
          <a:prstGeom prst="rect">
            <a:avLst/>
          </a:prstGeom>
          <a:noFill/>
        </p:spPr>
        <p:txBody>
          <a:bodyPr wrap="square">
            <a:spAutoFit/>
          </a:bodyPr>
          <a:lstStyle/>
          <a:p>
            <a:pPr>
              <a:defRPr sz="2000" b="0">
                <a:solidFill>
                  <a:srgbClr val="A9C0CC"/>
                </a:solidFill>
                <a:latin typeface="Be Vietnam Pro"/>
              </a:defRPr>
            </a:pPr>
            <a:r>
              <a:t>Ontology = mô hình khái niệm và quan hệ</a:t>
            </a:r>
          </a:p>
        </p:txBody>
      </p:sp>
      <p:sp>
        <p:nvSpPr>
          <p:cNvPr id="5" name="TextBox 4"/>
          <p:cNvSpPr txBox="1"/>
          <p:nvPr/>
        </p:nvSpPr>
        <p:spPr>
          <a:xfrm>
            <a:off x="868680" y="2788920"/>
            <a:ext cx="12801600" cy="914400"/>
          </a:xfrm>
          <a:prstGeom prst="rect">
            <a:avLst/>
          </a:prstGeom>
          <a:noFill/>
        </p:spPr>
        <p:txBody>
          <a:bodyPr wrap="square">
            <a:spAutoFit/>
          </a:bodyPr>
          <a:lstStyle/>
          <a:p>
            <a:pPr>
              <a:defRPr sz="2500" b="0">
                <a:solidFill>
                  <a:srgbClr val="F5FBFF"/>
                </a:solidFill>
                <a:latin typeface="Be Vietnam Pro"/>
              </a:defRPr>
            </a:pPr>
            <a:r>
              <a:t>• Tái sử dụng: dbo:Film, dbo:Person, dbo:Country</a:t>
            </a:r>
          </a:p>
        </p:txBody>
      </p:sp>
      <p:sp>
        <p:nvSpPr>
          <p:cNvPr id="6" name="TextBox 5"/>
          <p:cNvSpPr txBox="1"/>
          <p:nvPr/>
        </p:nvSpPr>
        <p:spPr>
          <a:xfrm>
            <a:off x="868680" y="3813048"/>
            <a:ext cx="12801600" cy="914400"/>
          </a:xfrm>
          <a:prstGeom prst="rect">
            <a:avLst/>
          </a:prstGeom>
          <a:noFill/>
        </p:spPr>
        <p:txBody>
          <a:bodyPr wrap="square">
            <a:spAutoFit/>
          </a:bodyPr>
          <a:lstStyle/>
          <a:p>
            <a:pPr>
              <a:defRPr sz="2500" b="0">
                <a:solidFill>
                  <a:srgbClr val="F5FBFF"/>
                </a:solidFill>
                <a:latin typeface="Be Vietnam Pro"/>
              </a:defRPr>
            </a:pPr>
            <a:r>
              <a:t>• 6 lớp ex: cho thể loại, ngôn ngữ, đóng góp và nguồn</a:t>
            </a:r>
          </a:p>
        </p:txBody>
      </p:sp>
      <p:sp>
        <p:nvSpPr>
          <p:cNvPr id="7" name="TextBox 6"/>
          <p:cNvSpPr txBox="1"/>
          <p:nvPr/>
        </p:nvSpPr>
        <p:spPr>
          <a:xfrm>
            <a:off x="868680" y="4837176"/>
            <a:ext cx="12801600" cy="914400"/>
          </a:xfrm>
          <a:prstGeom prst="rect">
            <a:avLst/>
          </a:prstGeom>
          <a:noFill/>
        </p:spPr>
        <p:txBody>
          <a:bodyPr wrap="square">
            <a:spAutoFit/>
          </a:bodyPr>
          <a:lstStyle/>
          <a:p>
            <a:pPr>
              <a:defRPr sz="2500" b="0">
                <a:solidFill>
                  <a:srgbClr val="F5FBFF"/>
                </a:solidFill>
                <a:latin typeface="Be Vietnam Pro"/>
              </a:defRPr>
            </a:pPr>
            <a:r>
              <a:t>• Một credit = 1 phim + 1 người + 1 vai trò</a:t>
            </a:r>
          </a:p>
        </p:txBody>
      </p:sp>
      <p:sp>
        <p:nvSpPr>
          <p:cNvPr id="8" name="TextBox 7"/>
          <p:cNvSpPr txBox="1"/>
          <p:nvPr/>
        </p:nvSpPr>
        <p:spPr>
          <a:xfrm>
            <a:off x="868680" y="5861304"/>
            <a:ext cx="12801600" cy="914400"/>
          </a:xfrm>
          <a:prstGeom prst="rect">
            <a:avLst/>
          </a:prstGeom>
          <a:noFill/>
        </p:spPr>
        <p:txBody>
          <a:bodyPr wrap="square">
            <a:spAutoFit/>
          </a:bodyPr>
          <a:lstStyle/>
          <a:p>
            <a:pPr>
              <a:defRPr sz="2500" b="0">
                <a:solidFill>
                  <a:srgbClr val="F5FBFF"/>
                </a:solidFill>
                <a:latin typeface="Be Vietnam Pro"/>
              </a:defRPr>
            </a:pPr>
            <a:r>
              <a:t>• Ba vai trò: đạo diễn, diễn viên, biên kịch</a:t>
            </a:r>
          </a:p>
        </p:txBody>
      </p:sp>
      <p:sp>
        <p:nvSpPr>
          <p:cNvPr id="9" name="TextBox 8"/>
          <p:cNvSpPr txBox="1"/>
          <p:nvPr/>
        </p:nvSpPr>
        <p:spPr>
          <a:xfrm>
            <a:off x="731520" y="7680960"/>
            <a:ext cx="11887200" cy="365760"/>
          </a:xfrm>
          <a:prstGeom prst="rect">
            <a:avLst/>
          </a:prstGeom>
          <a:noFill/>
        </p:spPr>
        <p:txBody>
          <a:bodyPr wrap="square">
            <a:spAutoFit/>
          </a:bodyPr>
          <a:lstStyle/>
          <a:p>
            <a:pPr>
              <a:defRPr sz="1300" b="0">
                <a:solidFill>
                  <a:srgbClr val="A9C0CC"/>
                </a:solidFill>
                <a:latin typeface="Be Vietnam Pro"/>
              </a:defRPr>
            </a:pPr>
            <a:r>
              <a:t>Định nghĩa → Thu thập → RDF → Liên kết → Truy vấn</a:t>
            </a:r>
          </a:p>
        </p:txBody>
      </p:sp>
      <p:sp>
        <p:nvSpPr>
          <p:cNvPr id="10" name="TextBox 9"/>
          <p:cNvSpPr txBox="1"/>
          <p:nvPr/>
        </p:nvSpPr>
        <p:spPr>
          <a:xfrm>
            <a:off x="13533120" y="7680960"/>
            <a:ext cx="914400" cy="365760"/>
          </a:xfrm>
          <a:prstGeom prst="rect">
            <a:avLst/>
          </a:prstGeom>
          <a:noFill/>
        </p:spPr>
        <p:txBody>
          <a:bodyPr wrap="square">
            <a:spAutoFit/>
          </a:bodyPr>
          <a:lstStyle/>
          <a:p>
            <a:pPr>
              <a:defRPr sz="1300" b="0">
                <a:solidFill>
                  <a:srgbClr val="FFD361"/>
                </a:solidFill>
                <a:latin typeface="Be Vietnam Pro"/>
              </a:defRPr>
            </a:pPr>
            <a:r>
              <a:t>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632"/>
        </a:solidFill>
        <a:effectLst/>
      </p:bgPr>
    </p:bg>
    <p:spTree>
      <p:nvGrpSpPr>
        <p:cNvPr id="1" name=""/>
        <p:cNvGrpSpPr/>
        <p:nvPr/>
      </p:nvGrpSpPr>
      <p:grpSpPr/>
      <p:sp>
        <p:nvSpPr>
          <p:cNvPr id="2" name="TextBox 1"/>
          <p:cNvSpPr txBox="1"/>
          <p:nvPr/>
        </p:nvSpPr>
        <p:spPr>
          <a:xfrm>
            <a:off x="731520" y="411480"/>
            <a:ext cx="12801600" cy="365760"/>
          </a:xfrm>
          <a:prstGeom prst="rect">
            <a:avLst/>
          </a:prstGeom>
          <a:noFill/>
        </p:spPr>
        <p:txBody>
          <a:bodyPr wrap="square">
            <a:spAutoFit/>
          </a:bodyPr>
          <a:lstStyle/>
          <a:p>
            <a:pPr>
              <a:defRPr sz="1400" b="1">
                <a:solidFill>
                  <a:srgbClr val="FFD361"/>
                </a:solidFill>
                <a:latin typeface="Be Vietnam Pro"/>
              </a:defRPr>
            </a:pPr>
            <a:r>
              <a:t>MOVIELOD / SEMANTIC WEB</a:t>
            </a:r>
          </a:p>
        </p:txBody>
      </p:sp>
      <p:sp>
        <p:nvSpPr>
          <p:cNvPr id="3" name="TextBox 2"/>
          <p:cNvSpPr txBox="1"/>
          <p:nvPr/>
        </p:nvSpPr>
        <p:spPr>
          <a:xfrm>
            <a:off x="731520" y="960120"/>
            <a:ext cx="12801600" cy="1005840"/>
          </a:xfrm>
          <a:prstGeom prst="rect">
            <a:avLst/>
          </a:prstGeom>
          <a:noFill/>
        </p:spPr>
        <p:txBody>
          <a:bodyPr wrap="square">
            <a:spAutoFit/>
          </a:bodyPr>
          <a:lstStyle/>
          <a:p>
            <a:pPr>
              <a:defRPr sz="3600" b="1">
                <a:solidFill>
                  <a:srgbClr val="F5FBFF"/>
                </a:solidFill>
                <a:latin typeface="Be Vietnam Pro"/>
              </a:defRPr>
            </a:pPr>
            <a:r>
              <a:t>YC2 · Dữ liệu thật, có nguồn</a:t>
            </a:r>
          </a:p>
        </p:txBody>
      </p:sp>
      <p:sp>
        <p:nvSpPr>
          <p:cNvPr id="4" name="TextBox 3"/>
          <p:cNvSpPr txBox="1"/>
          <p:nvPr/>
        </p:nvSpPr>
        <p:spPr>
          <a:xfrm>
            <a:off x="731520" y="1783080"/>
            <a:ext cx="12801600" cy="594360"/>
          </a:xfrm>
          <a:prstGeom prst="rect">
            <a:avLst/>
          </a:prstGeom>
          <a:noFill/>
        </p:spPr>
        <p:txBody>
          <a:bodyPr wrap="square">
            <a:spAutoFit/>
          </a:bodyPr>
          <a:lstStyle/>
          <a:p>
            <a:pPr>
              <a:defRPr sz="2000" b="0">
                <a:solidFill>
                  <a:srgbClr val="A9C0CC"/>
                </a:solidFill>
                <a:latin typeface="Be Vietnam Pro"/>
              </a:defRPr>
            </a:pPr>
            <a:r>
              <a:t>Thu thập và lưu phản hồi gốc</a:t>
            </a:r>
          </a:p>
        </p:txBody>
      </p:sp>
      <p:sp>
        <p:nvSpPr>
          <p:cNvPr id="5" name="TextBox 4"/>
          <p:cNvSpPr txBox="1"/>
          <p:nvPr/>
        </p:nvSpPr>
        <p:spPr>
          <a:xfrm>
            <a:off x="868680" y="2788920"/>
            <a:ext cx="12801600" cy="914400"/>
          </a:xfrm>
          <a:prstGeom prst="rect">
            <a:avLst/>
          </a:prstGeom>
          <a:noFill/>
        </p:spPr>
        <p:txBody>
          <a:bodyPr wrap="square">
            <a:spAutoFit/>
          </a:bodyPr>
          <a:lstStyle/>
          <a:p>
            <a:pPr>
              <a:defRPr sz="2500" b="0">
                <a:solidFill>
                  <a:srgbClr val="F5FBFF"/>
                </a:solidFill>
                <a:latin typeface="Be Vietnam Pro"/>
              </a:defRPr>
            </a:pPr>
            <a:r>
              <a:t>• 30 phim • 805 người • 936 credit</a:t>
            </a:r>
          </a:p>
        </p:txBody>
      </p:sp>
      <p:sp>
        <p:nvSpPr>
          <p:cNvPr id="6" name="TextBox 5"/>
          <p:cNvSpPr txBox="1"/>
          <p:nvPr/>
        </p:nvSpPr>
        <p:spPr>
          <a:xfrm>
            <a:off x="868680" y="3813048"/>
            <a:ext cx="12801600" cy="914400"/>
          </a:xfrm>
          <a:prstGeom prst="rect">
            <a:avLst/>
          </a:prstGeom>
          <a:noFill/>
        </p:spPr>
        <p:txBody>
          <a:bodyPr wrap="square">
            <a:spAutoFit/>
          </a:bodyPr>
          <a:lstStyle/>
          <a:p>
            <a:pPr>
              <a:defRPr sz="2500" b="0">
                <a:solidFill>
                  <a:srgbClr val="F5FBFF"/>
                </a:solidFill>
                <a:latin typeface="Be Vietnam Pro"/>
              </a:defRPr>
            </a:pPr>
            <a:r>
              <a:t>• Wikidata: đối chiếu đúng sitelink Wikipedia</a:t>
            </a:r>
          </a:p>
        </p:txBody>
      </p:sp>
      <p:sp>
        <p:nvSpPr>
          <p:cNvPr id="7" name="TextBox 6"/>
          <p:cNvSpPr txBox="1"/>
          <p:nvPr/>
        </p:nvSpPr>
        <p:spPr>
          <a:xfrm>
            <a:off x="868680" y="4837176"/>
            <a:ext cx="12801600" cy="914400"/>
          </a:xfrm>
          <a:prstGeom prst="rect">
            <a:avLst/>
          </a:prstGeom>
          <a:noFill/>
        </p:spPr>
        <p:txBody>
          <a:bodyPr wrap="square">
            <a:spAutoFit/>
          </a:bodyPr>
          <a:lstStyle/>
          <a:p>
            <a:pPr>
              <a:defRPr sz="2500" b="0">
                <a:solidFill>
                  <a:srgbClr val="F5FBFF"/>
                </a:solidFill>
                <a:latin typeface="Be Vietnam Pro"/>
              </a:defRPr>
            </a:pPr>
            <a:r>
              <a:t>• DBpedia: kiểm tra chủ thể đúng kiểu Film</a:t>
            </a:r>
          </a:p>
        </p:txBody>
      </p:sp>
      <p:sp>
        <p:nvSpPr>
          <p:cNvPr id="8" name="TextBox 7"/>
          <p:cNvSpPr txBox="1"/>
          <p:nvPr/>
        </p:nvSpPr>
        <p:spPr>
          <a:xfrm>
            <a:off x="868680" y="5861304"/>
            <a:ext cx="12801600" cy="914400"/>
          </a:xfrm>
          <a:prstGeom prst="rect">
            <a:avLst/>
          </a:prstGeom>
          <a:noFill/>
        </p:spPr>
        <p:txBody>
          <a:bodyPr wrap="square">
            <a:spAutoFit/>
          </a:bodyPr>
          <a:lstStyle/>
          <a:p>
            <a:pPr>
              <a:defRPr sz="2500" b="0">
                <a:solidFill>
                  <a:srgbClr val="F5FBFF"/>
                </a:solidFill>
                <a:latin typeface="Be Vietnam Pro"/>
              </a:defRPr>
            </a:pPr>
            <a:r>
              <a:t>• 56 phản hồi: URL + thời điểm + SHA-256</a:t>
            </a:r>
          </a:p>
        </p:txBody>
      </p:sp>
      <p:sp>
        <p:nvSpPr>
          <p:cNvPr id="9" name="TextBox 8"/>
          <p:cNvSpPr txBox="1"/>
          <p:nvPr/>
        </p:nvSpPr>
        <p:spPr>
          <a:xfrm>
            <a:off x="731520" y="7680960"/>
            <a:ext cx="11887200" cy="365760"/>
          </a:xfrm>
          <a:prstGeom prst="rect">
            <a:avLst/>
          </a:prstGeom>
          <a:noFill/>
        </p:spPr>
        <p:txBody>
          <a:bodyPr wrap="square">
            <a:spAutoFit/>
          </a:bodyPr>
          <a:lstStyle/>
          <a:p>
            <a:pPr>
              <a:defRPr sz="1300" b="0">
                <a:solidFill>
                  <a:srgbClr val="A9C0CC"/>
                </a:solidFill>
                <a:latin typeface="Be Vietnam Pro"/>
              </a:defRPr>
            </a:pPr>
            <a:r>
              <a:t>Định nghĩa → Thu thập → RDF → Liên kết → Truy vấn</a:t>
            </a:r>
          </a:p>
        </p:txBody>
      </p:sp>
      <p:sp>
        <p:nvSpPr>
          <p:cNvPr id="10" name="TextBox 9"/>
          <p:cNvSpPr txBox="1"/>
          <p:nvPr/>
        </p:nvSpPr>
        <p:spPr>
          <a:xfrm>
            <a:off x="13533120" y="7680960"/>
            <a:ext cx="914400" cy="365760"/>
          </a:xfrm>
          <a:prstGeom prst="rect">
            <a:avLst/>
          </a:prstGeom>
          <a:noFill/>
        </p:spPr>
        <p:txBody>
          <a:bodyPr wrap="square">
            <a:spAutoFit/>
          </a:bodyPr>
          <a:lstStyle/>
          <a:p>
            <a:pPr>
              <a:defRPr sz="1300" b="0">
                <a:solidFill>
                  <a:srgbClr val="FFD361"/>
                </a:solidFill>
                <a:latin typeface="Be Vietnam Pro"/>
              </a:defRPr>
            </a:pPr>
            <a:r>
              <a:t>3/8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2632"/>
        </a:solidFill>
        <a:effectLst/>
      </p:bgPr>
    </p:bg>
    <p:spTree>
      <p:nvGrpSpPr>
        <p:cNvPr id="1" name=""/>
        <p:cNvGrpSpPr/>
        <p:nvPr/>
      </p:nvGrpSpPr>
      <p:grpSpPr/>
      <p:sp>
        <p:nvSpPr>
          <p:cNvPr id="2" name="TextBox 1"/>
          <p:cNvSpPr txBox="1"/>
          <p:nvPr/>
        </p:nvSpPr>
        <p:spPr>
          <a:xfrm>
            <a:off x="731520" y="411480"/>
            <a:ext cx="12801600" cy="365760"/>
          </a:xfrm>
          <a:prstGeom prst="rect">
            <a:avLst/>
          </a:prstGeom>
          <a:noFill/>
        </p:spPr>
        <p:txBody>
          <a:bodyPr wrap="square">
            <a:spAutoFit/>
          </a:bodyPr>
          <a:lstStyle/>
          <a:p>
            <a:pPr>
              <a:defRPr sz="1400" b="1">
                <a:solidFill>
                  <a:srgbClr val="FFD361"/>
                </a:solidFill>
                <a:latin typeface="Be Vietnam Pro"/>
              </a:defRPr>
            </a:pPr>
            <a:r>
              <a:t>MOVIELOD / SEMANTIC WEB</a:t>
            </a:r>
          </a:p>
        </p:txBody>
      </p:sp>
      <p:sp>
        <p:nvSpPr>
          <p:cNvPr id="3" name="TextBox 2"/>
          <p:cNvSpPr txBox="1"/>
          <p:nvPr/>
        </p:nvSpPr>
        <p:spPr>
          <a:xfrm>
            <a:off x="731520" y="960120"/>
            <a:ext cx="12801600" cy="1005840"/>
          </a:xfrm>
          <a:prstGeom prst="rect">
            <a:avLst/>
          </a:prstGeom>
          <a:noFill/>
        </p:spPr>
        <p:txBody>
          <a:bodyPr wrap="square">
            <a:spAutoFit/>
          </a:bodyPr>
          <a:lstStyle/>
          <a:p>
            <a:pPr>
              <a:defRPr sz="3600" b="1">
                <a:solidFill>
                  <a:srgbClr val="F5FBFF"/>
                </a:solidFill>
                <a:latin typeface="Be Vietnam Pro"/>
              </a:defRPr>
            </a:pPr>
            <a:r>
              <a:t>YC3 · Chuyển thành RDF</a:t>
            </a:r>
          </a:p>
        </p:txBody>
      </p:sp>
      <p:sp>
        <p:nvSpPr>
          <p:cNvPr id="4" name="TextBox 3"/>
          <p:cNvSpPr txBox="1"/>
          <p:nvPr/>
        </p:nvSpPr>
        <p:spPr>
          <a:xfrm>
            <a:off x="731520" y="1783080"/>
            <a:ext cx="12801600" cy="594360"/>
          </a:xfrm>
          <a:prstGeom prst="rect">
            <a:avLst/>
          </a:prstGeom>
          <a:noFill/>
        </p:spPr>
        <p:txBody>
          <a:bodyPr wrap="square">
            <a:spAutoFit/>
          </a:bodyPr>
          <a:lstStyle/>
          <a:p>
            <a:pPr>
              <a:defRPr sz="2000" b="0">
                <a:solidFill>
                  <a:srgbClr val="A9C0CC"/>
                </a:solidFill>
                <a:latin typeface="Be Vietnam Pro"/>
              </a:defRPr>
            </a:pPr>
            <a:r>
              <a:t>RDF = câu dữ liệu có ba thành phần</a:t>
            </a:r>
          </a:p>
        </p:txBody>
      </p:sp>
      <p:sp>
        <p:nvSpPr>
          <p:cNvPr id="5" name="TextBox 4"/>
          <p:cNvSpPr txBox="1"/>
          <p:nvPr/>
        </p:nvSpPr>
        <p:spPr>
          <a:xfrm>
            <a:off x="868680" y="2788920"/>
            <a:ext cx="12801600" cy="914400"/>
          </a:xfrm>
          <a:prstGeom prst="rect">
            <a:avLst/>
          </a:prstGeom>
          <a:noFill/>
        </p:spPr>
        <p:txBody>
          <a:bodyPr wrap="square">
            <a:spAutoFit/>
          </a:bodyPr>
          <a:lstStyle/>
          <a:p>
            <a:pPr>
              <a:defRPr sz="2500" b="0">
                <a:solidFill>
                  <a:srgbClr val="F5FBFF"/>
                </a:solidFill>
                <a:latin typeface="Be Vietnam Pro"/>
              </a:defRPr>
            </a:pPr>
            <a:r>
              <a:t>• Inception → đạo diễn → Christopher Nolan</a:t>
            </a:r>
          </a:p>
        </p:txBody>
      </p:sp>
      <p:sp>
        <p:nvSpPr>
          <p:cNvPr id="6" name="TextBox 5"/>
          <p:cNvSpPr txBox="1"/>
          <p:nvPr/>
        </p:nvSpPr>
        <p:spPr>
          <a:xfrm>
            <a:off x="868680" y="3813048"/>
            <a:ext cx="12801600" cy="914400"/>
          </a:xfrm>
          <a:prstGeom prst="rect">
            <a:avLst/>
          </a:prstGeom>
          <a:noFill/>
        </p:spPr>
        <p:txBody>
          <a:bodyPr wrap="square">
            <a:spAutoFit/>
          </a:bodyPr>
          <a:lstStyle/>
          <a:p>
            <a:pPr>
              <a:defRPr sz="2500" b="0">
                <a:solidFill>
                  <a:srgbClr val="F5FBFF"/>
                </a:solidFill>
                <a:latin typeface="Be Vietnam Pro"/>
              </a:defRPr>
            </a:pPr>
            <a:r>
              <a:t>• QID tạo định danh ổn định; thời lượng đổi về phút</a:t>
            </a:r>
          </a:p>
        </p:txBody>
      </p:sp>
      <p:sp>
        <p:nvSpPr>
          <p:cNvPr id="7" name="TextBox 6"/>
          <p:cNvSpPr txBox="1"/>
          <p:nvPr/>
        </p:nvSpPr>
        <p:spPr>
          <a:xfrm>
            <a:off x="868680" y="4837176"/>
            <a:ext cx="12801600" cy="914400"/>
          </a:xfrm>
          <a:prstGeom prst="rect">
            <a:avLst/>
          </a:prstGeom>
          <a:noFill/>
        </p:spPr>
        <p:txBody>
          <a:bodyPr wrap="square">
            <a:spAutoFit/>
          </a:bodyPr>
          <a:lstStyle/>
          <a:p>
            <a:pPr>
              <a:defRPr sz="2500" b="0">
                <a:solidFill>
                  <a:srgbClr val="F5FBFF"/>
                </a:solidFill>
                <a:latin typeface="Be Vietnam Pro"/>
              </a:defRPr>
            </a:pPr>
            <a:r>
              <a:t>• 12,089 triple • Turtle • JSON-LD • OWL</a:t>
            </a:r>
          </a:p>
        </p:txBody>
      </p:sp>
      <p:sp>
        <p:nvSpPr>
          <p:cNvPr id="8" name="TextBox 7"/>
          <p:cNvSpPr txBox="1"/>
          <p:nvPr/>
        </p:nvSpPr>
        <p:spPr>
          <a:xfrm>
            <a:off x="868680" y="5861304"/>
            <a:ext cx="12801600" cy="914400"/>
          </a:xfrm>
          <a:prstGeom prst="rect">
            <a:avLst/>
          </a:prstGeom>
          <a:noFill/>
        </p:spPr>
        <p:txBody>
          <a:bodyPr wrap="square">
            <a:spAutoFit/>
          </a:bodyPr>
          <a:lstStyle/>
          <a:p>
            <a:pPr>
              <a:defRPr sz="2500" b="0">
                <a:solidFill>
                  <a:srgbClr val="F5FBFF"/>
                </a:solidFill>
                <a:latin typeface="Be Vietnam Pro"/>
              </a:defRPr>
            </a:pPr>
            <a:r>
              <a:t>• Giấy phép mở + IRI tra cứu + dữ liệu trên Web</a:t>
            </a:r>
          </a:p>
        </p:txBody>
      </p:sp>
      <p:sp>
        <p:nvSpPr>
          <p:cNvPr id="9" name="TextBox 8"/>
          <p:cNvSpPr txBox="1"/>
          <p:nvPr/>
        </p:nvSpPr>
        <p:spPr>
          <a:xfrm>
            <a:off x="731520" y="7680960"/>
            <a:ext cx="11887200" cy="365760"/>
          </a:xfrm>
          <a:prstGeom prst="rect">
            <a:avLst/>
          </a:prstGeom>
          <a:noFill/>
        </p:spPr>
        <p:txBody>
          <a:bodyPr wrap="square">
            <a:spAutoFit/>
          </a:bodyPr>
          <a:lstStyle/>
          <a:p>
            <a:pPr>
              <a:defRPr sz="1300" b="0">
                <a:solidFill>
                  <a:srgbClr val="A9C0CC"/>
                </a:solidFill>
                <a:latin typeface="Be Vietnam Pro"/>
              </a:defRPr>
            </a:pPr>
            <a:r>
              <a:t>Định nghĩa → Thu thập → RDF → Liên kết → Truy vấn</a:t>
            </a:r>
          </a:p>
        </p:txBody>
      </p:sp>
      <p:sp>
        <p:nvSpPr>
          <p:cNvPr id="10" name="TextBox 9"/>
          <p:cNvSpPr txBox="1"/>
          <p:nvPr/>
        </p:nvSpPr>
        <p:spPr>
          <a:xfrm>
            <a:off x="13533120" y="7680960"/>
            <a:ext cx="914400" cy="365760"/>
          </a:xfrm>
          <a:prstGeom prst="rect">
            <a:avLst/>
          </a:prstGeom>
          <a:noFill/>
        </p:spPr>
        <p:txBody>
          <a:bodyPr wrap="square">
            <a:spAutoFit/>
          </a:bodyPr>
          <a:lstStyle/>
          <a:p>
            <a:pPr>
              <a:defRPr sz="1300" b="0">
                <a:solidFill>
                  <a:srgbClr val="FFD361"/>
                </a:solidFill>
                <a:latin typeface="Be Vietnam Pro"/>
              </a:defRPr>
            </a:pPr>
            <a:r>
              <a:t>4/8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2632"/>
        </a:solidFill>
        <a:effectLst/>
      </p:bgPr>
    </p:bg>
    <p:spTree>
      <p:nvGrpSpPr>
        <p:cNvPr id="1" name=""/>
        <p:cNvGrpSpPr/>
        <p:nvPr/>
      </p:nvGrpSpPr>
      <p:grpSpPr/>
      <p:sp>
        <p:nvSpPr>
          <p:cNvPr id="2" name="TextBox 1"/>
          <p:cNvSpPr txBox="1"/>
          <p:nvPr/>
        </p:nvSpPr>
        <p:spPr>
          <a:xfrm>
            <a:off x="731520" y="411480"/>
            <a:ext cx="12801600" cy="365760"/>
          </a:xfrm>
          <a:prstGeom prst="rect">
            <a:avLst/>
          </a:prstGeom>
          <a:noFill/>
        </p:spPr>
        <p:txBody>
          <a:bodyPr wrap="square">
            <a:spAutoFit/>
          </a:bodyPr>
          <a:lstStyle/>
          <a:p>
            <a:pPr>
              <a:defRPr sz="1400" b="1">
                <a:solidFill>
                  <a:srgbClr val="FFD361"/>
                </a:solidFill>
                <a:latin typeface="Be Vietnam Pro"/>
              </a:defRPr>
            </a:pPr>
            <a:r>
              <a:t>MOVIELOD / SEMANTIC WEB</a:t>
            </a:r>
          </a:p>
        </p:txBody>
      </p:sp>
      <p:sp>
        <p:nvSpPr>
          <p:cNvPr id="3" name="TextBox 2"/>
          <p:cNvSpPr txBox="1"/>
          <p:nvPr/>
        </p:nvSpPr>
        <p:spPr>
          <a:xfrm>
            <a:off x="731520" y="960120"/>
            <a:ext cx="12801600" cy="1005840"/>
          </a:xfrm>
          <a:prstGeom prst="rect">
            <a:avLst/>
          </a:prstGeom>
          <a:noFill/>
        </p:spPr>
        <p:txBody>
          <a:bodyPr wrap="square">
            <a:spAutoFit/>
          </a:bodyPr>
          <a:lstStyle/>
          <a:p>
            <a:pPr>
              <a:defRPr sz="3600" b="1">
                <a:solidFill>
                  <a:srgbClr val="F5FBFF"/>
                </a:solidFill>
                <a:latin typeface="Be Vietnam Pro"/>
              </a:defRPr>
            </a:pPr>
            <a:r>
              <a:t>YC4 · Liên kết ngoài</a:t>
            </a:r>
          </a:p>
        </p:txBody>
      </p:sp>
      <p:sp>
        <p:nvSpPr>
          <p:cNvPr id="4" name="TextBox 3"/>
          <p:cNvSpPr txBox="1"/>
          <p:nvPr/>
        </p:nvSpPr>
        <p:spPr>
          <a:xfrm>
            <a:off x="731520" y="1783080"/>
            <a:ext cx="12801600" cy="594360"/>
          </a:xfrm>
          <a:prstGeom prst="rect">
            <a:avLst/>
          </a:prstGeom>
          <a:noFill/>
        </p:spPr>
        <p:txBody>
          <a:bodyPr wrap="square">
            <a:spAutoFit/>
          </a:bodyPr>
          <a:lstStyle/>
          <a:p>
            <a:pPr>
              <a:defRPr sz="2000" b="0">
                <a:solidFill>
                  <a:srgbClr val="A9C0CC"/>
                </a:solidFill>
                <a:latin typeface="Be Vietnam Pro"/>
              </a:defRPr>
            </a:pPr>
            <a:r>
              <a:t>sameAs = hai định danh chỉ cùng một thực thể</a:t>
            </a:r>
          </a:p>
        </p:txBody>
      </p:sp>
      <p:sp>
        <p:nvSpPr>
          <p:cNvPr id="5" name="TextBox 4"/>
          <p:cNvSpPr txBox="1"/>
          <p:nvPr/>
        </p:nvSpPr>
        <p:spPr>
          <a:xfrm>
            <a:off x="868680" y="2788920"/>
            <a:ext cx="12801600" cy="914400"/>
          </a:xfrm>
          <a:prstGeom prst="rect">
            <a:avLst/>
          </a:prstGeom>
          <a:noFill/>
        </p:spPr>
        <p:txBody>
          <a:bodyPr wrap="square">
            <a:spAutoFit/>
          </a:bodyPr>
          <a:lstStyle/>
          <a:p>
            <a:pPr>
              <a:defRPr sz="2500" b="0">
                <a:solidFill>
                  <a:srgbClr val="F5FBFF"/>
                </a:solidFill>
                <a:latin typeface="Be Vietnam Pro"/>
              </a:defRPr>
            </a:pPr>
            <a:r>
              <a:t>• Inception nội bộ ↔ Wikidata Q25188 ↔ DBpedia</a:t>
            </a:r>
          </a:p>
        </p:txBody>
      </p:sp>
      <p:sp>
        <p:nvSpPr>
          <p:cNvPr id="6" name="TextBox 5"/>
          <p:cNvSpPr txBox="1"/>
          <p:nvPr/>
        </p:nvSpPr>
        <p:spPr>
          <a:xfrm>
            <a:off x="868680" y="3813048"/>
            <a:ext cx="12801600" cy="914400"/>
          </a:xfrm>
          <a:prstGeom prst="rect">
            <a:avLst/>
          </a:prstGeom>
          <a:noFill/>
        </p:spPr>
        <p:txBody>
          <a:bodyPr wrap="square">
            <a:spAutoFit/>
          </a:bodyPr>
          <a:lstStyle/>
          <a:p>
            <a:pPr>
              <a:defRPr sz="2500" b="0">
                <a:solidFill>
                  <a:srgbClr val="F5FBFF"/>
                </a:solidFill>
                <a:latin typeface="Be Vietnam Pro"/>
              </a:defRPr>
            </a:pPr>
            <a:r>
              <a:t>• 936 liên kết Wikidata + 28 DBpedia</a:t>
            </a:r>
          </a:p>
        </p:txBody>
      </p:sp>
      <p:sp>
        <p:nvSpPr>
          <p:cNvPr id="7" name="TextBox 6"/>
          <p:cNvSpPr txBox="1"/>
          <p:nvPr/>
        </p:nvSpPr>
        <p:spPr>
          <a:xfrm>
            <a:off x="868680" y="4837176"/>
            <a:ext cx="12801600" cy="914400"/>
          </a:xfrm>
          <a:prstGeom prst="rect">
            <a:avLst/>
          </a:prstGeom>
          <a:noFill/>
        </p:spPr>
        <p:txBody>
          <a:bodyPr wrap="square">
            <a:spAutoFit/>
          </a:bodyPr>
          <a:lstStyle/>
          <a:p>
            <a:pPr>
              <a:defRPr sz="2500" b="0">
                <a:solidFill>
                  <a:srgbClr val="F5FBFF"/>
                </a:solidFill>
                <a:latin typeface="Be Vietnam Pro"/>
              </a:defRPr>
            </a:pPr>
            <a:r>
              <a:t>• Mỗi liên kết có phương pháp đối chiếu trong biên bản</a:t>
            </a:r>
          </a:p>
        </p:txBody>
      </p:sp>
      <p:sp>
        <p:nvSpPr>
          <p:cNvPr id="8" name="TextBox 7"/>
          <p:cNvSpPr txBox="1"/>
          <p:nvPr/>
        </p:nvSpPr>
        <p:spPr>
          <a:xfrm>
            <a:off x="868680" y="5861304"/>
            <a:ext cx="12801600" cy="914400"/>
          </a:xfrm>
          <a:prstGeom prst="rect">
            <a:avLst/>
          </a:prstGeom>
          <a:noFill/>
        </p:spPr>
        <p:txBody>
          <a:bodyPr wrap="square">
            <a:spAutoFit/>
          </a:bodyPr>
          <a:lstStyle/>
          <a:p>
            <a:pPr>
              <a:defRPr sz="2500" b="0">
                <a:solidFill>
                  <a:srgbClr val="F5FBFF"/>
                </a:solidFill>
                <a:latin typeface="Be Vietnam Pro"/>
              </a:defRPr>
            </a:pPr>
            <a:r>
              <a:t>• 5 sao = điều kiện 4 sao + liên kết tới dữ liệu khác</a:t>
            </a:r>
          </a:p>
        </p:txBody>
      </p:sp>
      <p:sp>
        <p:nvSpPr>
          <p:cNvPr id="9" name="TextBox 8"/>
          <p:cNvSpPr txBox="1"/>
          <p:nvPr/>
        </p:nvSpPr>
        <p:spPr>
          <a:xfrm>
            <a:off x="731520" y="7680960"/>
            <a:ext cx="11887200" cy="365760"/>
          </a:xfrm>
          <a:prstGeom prst="rect">
            <a:avLst/>
          </a:prstGeom>
          <a:noFill/>
        </p:spPr>
        <p:txBody>
          <a:bodyPr wrap="square">
            <a:spAutoFit/>
          </a:bodyPr>
          <a:lstStyle/>
          <a:p>
            <a:pPr>
              <a:defRPr sz="1300" b="0">
                <a:solidFill>
                  <a:srgbClr val="A9C0CC"/>
                </a:solidFill>
                <a:latin typeface="Be Vietnam Pro"/>
              </a:defRPr>
            </a:pPr>
            <a:r>
              <a:t>Định nghĩa → Thu thập → RDF → Liên kết → Truy vấn</a:t>
            </a:r>
          </a:p>
        </p:txBody>
      </p:sp>
      <p:sp>
        <p:nvSpPr>
          <p:cNvPr id="10" name="TextBox 9"/>
          <p:cNvSpPr txBox="1"/>
          <p:nvPr/>
        </p:nvSpPr>
        <p:spPr>
          <a:xfrm>
            <a:off x="13533120" y="7680960"/>
            <a:ext cx="914400" cy="365760"/>
          </a:xfrm>
          <a:prstGeom prst="rect">
            <a:avLst/>
          </a:prstGeom>
          <a:noFill/>
        </p:spPr>
        <p:txBody>
          <a:bodyPr wrap="square">
            <a:spAutoFit/>
          </a:bodyPr>
          <a:lstStyle/>
          <a:p>
            <a:pPr>
              <a:defRPr sz="1300" b="0">
                <a:solidFill>
                  <a:srgbClr val="FFD361"/>
                </a:solidFill>
                <a:latin typeface="Be Vietnam Pro"/>
              </a:defRPr>
            </a:pPr>
            <a:r>
              <a:t>5/8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2632"/>
        </a:solidFill>
        <a:effectLst/>
      </p:bgPr>
    </p:bg>
    <p:spTree>
      <p:nvGrpSpPr>
        <p:cNvPr id="1" name=""/>
        <p:cNvGrpSpPr/>
        <p:nvPr/>
      </p:nvGrpSpPr>
      <p:grpSpPr/>
      <p:sp>
        <p:nvSpPr>
          <p:cNvPr id="2" name="TextBox 1"/>
          <p:cNvSpPr txBox="1"/>
          <p:nvPr/>
        </p:nvSpPr>
        <p:spPr>
          <a:xfrm>
            <a:off x="731520" y="411480"/>
            <a:ext cx="12801600" cy="365760"/>
          </a:xfrm>
          <a:prstGeom prst="rect">
            <a:avLst/>
          </a:prstGeom>
          <a:noFill/>
        </p:spPr>
        <p:txBody>
          <a:bodyPr wrap="square">
            <a:spAutoFit/>
          </a:bodyPr>
          <a:lstStyle/>
          <a:p>
            <a:pPr>
              <a:defRPr sz="1400" b="1">
                <a:solidFill>
                  <a:srgbClr val="FFD361"/>
                </a:solidFill>
                <a:latin typeface="Be Vietnam Pro"/>
              </a:defRPr>
            </a:pPr>
            <a:r>
              <a:t>MOVIELOD / SEMANTIC WEB</a:t>
            </a:r>
          </a:p>
        </p:txBody>
      </p:sp>
      <p:sp>
        <p:nvSpPr>
          <p:cNvPr id="3" name="TextBox 2"/>
          <p:cNvSpPr txBox="1"/>
          <p:nvPr/>
        </p:nvSpPr>
        <p:spPr>
          <a:xfrm>
            <a:off x="731520" y="960120"/>
            <a:ext cx="12801600" cy="1005840"/>
          </a:xfrm>
          <a:prstGeom prst="rect">
            <a:avLst/>
          </a:prstGeom>
          <a:noFill/>
        </p:spPr>
        <p:txBody>
          <a:bodyPr wrap="square">
            <a:spAutoFit/>
          </a:bodyPr>
          <a:lstStyle/>
          <a:p>
            <a:pPr>
              <a:defRPr sz="3600" b="1">
                <a:solidFill>
                  <a:srgbClr val="F5FBFF"/>
                </a:solidFill>
                <a:latin typeface="Be Vietnam Pro"/>
              </a:defRPr>
            </a:pPr>
            <a:r>
              <a:t>YC5 · Chạy truy vấn Inception</a:t>
            </a:r>
          </a:p>
        </p:txBody>
      </p:sp>
      <p:sp>
        <p:nvSpPr>
          <p:cNvPr id="4" name="TextBox 3"/>
          <p:cNvSpPr txBox="1"/>
          <p:nvPr/>
        </p:nvSpPr>
        <p:spPr>
          <a:xfrm>
            <a:off x="731520" y="1783080"/>
            <a:ext cx="12801600" cy="594360"/>
          </a:xfrm>
          <a:prstGeom prst="rect">
            <a:avLst/>
          </a:prstGeom>
          <a:noFill/>
        </p:spPr>
        <p:txBody>
          <a:bodyPr wrap="square">
            <a:spAutoFit/>
          </a:bodyPr>
          <a:lstStyle/>
          <a:p>
            <a:pPr>
              <a:defRPr sz="2000" b="0">
                <a:solidFill>
                  <a:srgbClr val="A9C0CC"/>
                </a:solidFill>
                <a:latin typeface="Be Vietnam Pro"/>
              </a:defRPr>
            </a:pPr>
            <a:r>
              <a:t>Ảnh giao diện thật: truy vấn → bảng kết quả</a:t>
            </a:r>
          </a:p>
        </p:txBody>
      </p:sp>
      <p:pic>
        <p:nvPicPr>
          <p:cNvPr id="5" name="Picture 4" descr="01_app.png"/>
          <p:cNvPicPr>
            <a:picLocks noChangeAspect="1"/>
          </p:cNvPicPr>
          <p:nvPr/>
        </p:nvPicPr>
        <p:blipFill>
          <a:blip r:embed="rId2"/>
          <a:stretch>
            <a:fillRect/>
          </a:stretch>
        </p:blipFill>
        <p:spPr>
          <a:xfrm>
            <a:off x="2103120" y="2514600"/>
            <a:ext cx="7637069" cy="5303520"/>
          </a:xfrm>
          <a:prstGeom prst="rect">
            <a:avLst/>
          </a:prstGeom>
        </p:spPr>
      </p:pic>
      <p:sp>
        <p:nvSpPr>
          <p:cNvPr id="6" name="TextBox 5"/>
          <p:cNvSpPr txBox="1"/>
          <p:nvPr/>
        </p:nvSpPr>
        <p:spPr>
          <a:xfrm>
            <a:off x="731520" y="7680960"/>
            <a:ext cx="11887200" cy="365760"/>
          </a:xfrm>
          <a:prstGeom prst="rect">
            <a:avLst/>
          </a:prstGeom>
          <a:noFill/>
        </p:spPr>
        <p:txBody>
          <a:bodyPr wrap="square">
            <a:spAutoFit/>
          </a:bodyPr>
          <a:lstStyle/>
          <a:p>
            <a:pPr>
              <a:defRPr sz="1300" b="0">
                <a:solidFill>
                  <a:srgbClr val="A9C0CC"/>
                </a:solidFill>
                <a:latin typeface="Be Vietnam Pro"/>
              </a:defRPr>
            </a:pPr>
            <a:r>
              <a:t>Định nghĩa → Thu thập → RDF → Liên kết → Truy vấn</a:t>
            </a:r>
          </a:p>
        </p:txBody>
      </p:sp>
      <p:sp>
        <p:nvSpPr>
          <p:cNvPr id="7" name="TextBox 6"/>
          <p:cNvSpPr txBox="1"/>
          <p:nvPr/>
        </p:nvSpPr>
        <p:spPr>
          <a:xfrm>
            <a:off x="13533120" y="7680960"/>
            <a:ext cx="914400" cy="365760"/>
          </a:xfrm>
          <a:prstGeom prst="rect">
            <a:avLst/>
          </a:prstGeom>
          <a:noFill/>
        </p:spPr>
        <p:txBody>
          <a:bodyPr wrap="square">
            <a:spAutoFit/>
          </a:bodyPr>
          <a:lstStyle/>
          <a:p>
            <a:pPr>
              <a:defRPr sz="1300" b="0">
                <a:solidFill>
                  <a:srgbClr val="FFD361"/>
                </a:solidFill>
                <a:latin typeface="Be Vietnam Pro"/>
              </a:defRPr>
            </a:pPr>
            <a:r>
              <a:t>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632"/>
        </a:solidFill>
        <a:effectLst/>
      </p:bgPr>
    </p:bg>
    <p:spTree>
      <p:nvGrpSpPr>
        <p:cNvPr id="1" name=""/>
        <p:cNvGrpSpPr/>
        <p:nvPr/>
      </p:nvGrpSpPr>
      <p:grpSpPr/>
      <p:sp>
        <p:nvSpPr>
          <p:cNvPr id="2" name="TextBox 1"/>
          <p:cNvSpPr txBox="1"/>
          <p:nvPr/>
        </p:nvSpPr>
        <p:spPr>
          <a:xfrm>
            <a:off x="731520" y="411480"/>
            <a:ext cx="12801600" cy="365760"/>
          </a:xfrm>
          <a:prstGeom prst="rect">
            <a:avLst/>
          </a:prstGeom>
          <a:noFill/>
        </p:spPr>
        <p:txBody>
          <a:bodyPr wrap="square">
            <a:spAutoFit/>
          </a:bodyPr>
          <a:lstStyle/>
          <a:p>
            <a:pPr>
              <a:defRPr sz="1400" b="1">
                <a:solidFill>
                  <a:srgbClr val="FFD361"/>
                </a:solidFill>
                <a:latin typeface="Be Vietnam Pro"/>
              </a:defRPr>
            </a:pPr>
            <a:r>
              <a:t>MOVIELOD / SEMANTIC WEB</a:t>
            </a:r>
          </a:p>
        </p:txBody>
      </p:sp>
      <p:sp>
        <p:nvSpPr>
          <p:cNvPr id="3" name="TextBox 2"/>
          <p:cNvSpPr txBox="1"/>
          <p:nvPr/>
        </p:nvSpPr>
        <p:spPr>
          <a:xfrm>
            <a:off x="731520" y="960120"/>
            <a:ext cx="12801600" cy="1005840"/>
          </a:xfrm>
          <a:prstGeom prst="rect">
            <a:avLst/>
          </a:prstGeom>
          <a:noFill/>
        </p:spPr>
        <p:txBody>
          <a:bodyPr wrap="square">
            <a:spAutoFit/>
          </a:bodyPr>
          <a:lstStyle/>
          <a:p>
            <a:pPr>
              <a:defRPr sz="3600" b="1">
                <a:solidFill>
                  <a:srgbClr val="F5FBFF"/>
                </a:solidFill>
                <a:latin typeface="Be Vietnam Pro"/>
              </a:defRPr>
            </a:pPr>
            <a:r>
              <a:t>Demo · Phim của Nolan và tra cứu IRI</a:t>
            </a:r>
          </a:p>
        </p:txBody>
      </p:sp>
      <p:sp>
        <p:nvSpPr>
          <p:cNvPr id="4" name="TextBox 3"/>
          <p:cNvSpPr txBox="1"/>
          <p:nvPr/>
        </p:nvSpPr>
        <p:spPr>
          <a:xfrm>
            <a:off x="731520" y="1783080"/>
            <a:ext cx="12801600" cy="594360"/>
          </a:xfrm>
          <a:prstGeom prst="rect">
            <a:avLst/>
          </a:prstGeom>
          <a:noFill/>
        </p:spPr>
        <p:txBody>
          <a:bodyPr wrap="square">
            <a:spAutoFit/>
          </a:bodyPr>
          <a:lstStyle/>
          <a:p>
            <a:pPr>
              <a:defRPr sz="2000" b="0">
                <a:solidFill>
                  <a:srgbClr val="A9C0CC"/>
                </a:solidFill>
                <a:latin typeface="Be Vietnam Pro"/>
              </a:defRPr>
            </a:pPr>
            <a:r>
              <a:t>Thay câu hỏi; mở thực thể để xem thông tin và nguồn</a:t>
            </a:r>
          </a:p>
        </p:txBody>
      </p:sp>
      <p:pic>
        <p:nvPicPr>
          <p:cNvPr id="5" name="Picture 4" descr="02_nolan.png"/>
          <p:cNvPicPr>
            <a:picLocks noChangeAspect="1"/>
          </p:cNvPicPr>
          <p:nvPr/>
        </p:nvPicPr>
        <p:blipFill>
          <a:blip r:embed="rId2"/>
          <a:stretch>
            <a:fillRect/>
          </a:stretch>
        </p:blipFill>
        <p:spPr>
          <a:xfrm>
            <a:off x="2103120" y="2514600"/>
            <a:ext cx="7637069" cy="5303520"/>
          </a:xfrm>
          <a:prstGeom prst="rect">
            <a:avLst/>
          </a:prstGeom>
        </p:spPr>
      </p:pic>
      <p:sp>
        <p:nvSpPr>
          <p:cNvPr id="6" name="TextBox 5"/>
          <p:cNvSpPr txBox="1"/>
          <p:nvPr/>
        </p:nvSpPr>
        <p:spPr>
          <a:xfrm>
            <a:off x="731520" y="7680960"/>
            <a:ext cx="11887200" cy="365760"/>
          </a:xfrm>
          <a:prstGeom prst="rect">
            <a:avLst/>
          </a:prstGeom>
          <a:noFill/>
        </p:spPr>
        <p:txBody>
          <a:bodyPr wrap="square">
            <a:spAutoFit/>
          </a:bodyPr>
          <a:lstStyle/>
          <a:p>
            <a:pPr>
              <a:defRPr sz="1300" b="0">
                <a:solidFill>
                  <a:srgbClr val="A9C0CC"/>
                </a:solidFill>
                <a:latin typeface="Be Vietnam Pro"/>
              </a:defRPr>
            </a:pPr>
            <a:r>
              <a:t>Định nghĩa → Thu thập → RDF → Liên kết → Truy vấn</a:t>
            </a:r>
          </a:p>
        </p:txBody>
      </p:sp>
      <p:sp>
        <p:nvSpPr>
          <p:cNvPr id="7" name="TextBox 6"/>
          <p:cNvSpPr txBox="1"/>
          <p:nvPr/>
        </p:nvSpPr>
        <p:spPr>
          <a:xfrm>
            <a:off x="13533120" y="7680960"/>
            <a:ext cx="914400" cy="365760"/>
          </a:xfrm>
          <a:prstGeom prst="rect">
            <a:avLst/>
          </a:prstGeom>
          <a:noFill/>
        </p:spPr>
        <p:txBody>
          <a:bodyPr wrap="square">
            <a:spAutoFit/>
          </a:bodyPr>
          <a:lstStyle/>
          <a:p>
            <a:pPr>
              <a:defRPr sz="1300" b="0">
                <a:solidFill>
                  <a:srgbClr val="FFD361"/>
                </a:solidFill>
                <a:latin typeface="Be Vietnam Pro"/>
              </a:defRPr>
            </a:pPr>
            <a:r>
              <a:t>7/8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2632"/>
        </a:solidFill>
        <a:effectLst/>
      </p:bgPr>
    </p:bg>
    <p:spTree>
      <p:nvGrpSpPr>
        <p:cNvPr id="1" name=""/>
        <p:cNvGrpSpPr/>
        <p:nvPr/>
      </p:nvGrpSpPr>
      <p:grpSpPr/>
      <p:sp>
        <p:nvSpPr>
          <p:cNvPr id="2" name="TextBox 1"/>
          <p:cNvSpPr txBox="1"/>
          <p:nvPr/>
        </p:nvSpPr>
        <p:spPr>
          <a:xfrm>
            <a:off x="731520" y="411480"/>
            <a:ext cx="12801600" cy="365760"/>
          </a:xfrm>
          <a:prstGeom prst="rect">
            <a:avLst/>
          </a:prstGeom>
          <a:noFill/>
        </p:spPr>
        <p:txBody>
          <a:bodyPr wrap="square">
            <a:spAutoFit/>
          </a:bodyPr>
          <a:lstStyle/>
          <a:p>
            <a:pPr>
              <a:defRPr sz="1400" b="1">
                <a:solidFill>
                  <a:srgbClr val="FFD361"/>
                </a:solidFill>
                <a:latin typeface="Be Vietnam Pro"/>
              </a:defRPr>
            </a:pPr>
            <a:r>
              <a:t>MOVIELOD / SEMANTIC WEB</a:t>
            </a:r>
          </a:p>
        </p:txBody>
      </p:sp>
      <p:sp>
        <p:nvSpPr>
          <p:cNvPr id="3" name="TextBox 2"/>
          <p:cNvSpPr txBox="1"/>
          <p:nvPr/>
        </p:nvSpPr>
        <p:spPr>
          <a:xfrm>
            <a:off x="731520" y="960120"/>
            <a:ext cx="12801600" cy="1005840"/>
          </a:xfrm>
          <a:prstGeom prst="rect">
            <a:avLst/>
          </a:prstGeom>
          <a:noFill/>
        </p:spPr>
        <p:txBody>
          <a:bodyPr wrap="square">
            <a:spAutoFit/>
          </a:bodyPr>
          <a:lstStyle/>
          <a:p>
            <a:pPr>
              <a:defRPr sz="3600" b="1">
                <a:solidFill>
                  <a:srgbClr val="F5FBFF"/>
                </a:solidFill>
                <a:latin typeface="Be Vietnam Pro"/>
              </a:defRPr>
            </a:pPr>
            <a:r>
              <a:t>Kiểm tra và sản phẩm nộp</a:t>
            </a:r>
          </a:p>
        </p:txBody>
      </p:sp>
      <p:sp>
        <p:nvSpPr>
          <p:cNvPr id="4" name="TextBox 3"/>
          <p:cNvSpPr txBox="1"/>
          <p:nvPr/>
        </p:nvSpPr>
        <p:spPr>
          <a:xfrm>
            <a:off x="731520" y="1783080"/>
            <a:ext cx="12801600" cy="594360"/>
          </a:xfrm>
          <a:prstGeom prst="rect">
            <a:avLst/>
          </a:prstGeom>
          <a:noFill/>
        </p:spPr>
        <p:txBody>
          <a:bodyPr wrap="square">
            <a:spAutoFit/>
          </a:bodyPr>
          <a:lstStyle/>
          <a:p>
            <a:pPr>
              <a:defRPr sz="2000" b="0">
                <a:solidFill>
                  <a:srgbClr val="A9C0CC"/>
                </a:solidFill>
                <a:latin typeface="Be Vietnam Pro"/>
              </a:defRPr>
            </a:pPr>
            <a:r>
              <a:t>Mỗi yêu cầu đi kèm mã và minh chứng</a:t>
            </a:r>
          </a:p>
        </p:txBody>
      </p:sp>
      <p:sp>
        <p:nvSpPr>
          <p:cNvPr id="5" name="TextBox 4"/>
          <p:cNvSpPr txBox="1"/>
          <p:nvPr/>
        </p:nvSpPr>
        <p:spPr>
          <a:xfrm>
            <a:off x="868680" y="2788920"/>
            <a:ext cx="12801600" cy="914400"/>
          </a:xfrm>
          <a:prstGeom prst="rect">
            <a:avLst/>
          </a:prstGeom>
          <a:noFill/>
        </p:spPr>
        <p:txBody>
          <a:bodyPr wrap="square">
            <a:spAutoFit/>
          </a:bodyPr>
          <a:lstStyle/>
          <a:p>
            <a:pPr>
              <a:defRPr sz="2500" b="0">
                <a:solidFill>
                  <a:srgbClr val="F5FBFF"/>
                </a:solidFill>
                <a:latin typeface="Be Vietnam Pro"/>
              </a:defRPr>
            </a:pPr>
            <a:r>
              <a:t>• Python: kiểm tra dữ liệu; SHA-256: kiểm tra nguồn</a:t>
            </a:r>
          </a:p>
        </p:txBody>
      </p:sp>
      <p:sp>
        <p:nvSpPr>
          <p:cNvPr id="6" name="TextBox 5"/>
          <p:cNvSpPr txBox="1"/>
          <p:nvPr/>
        </p:nvSpPr>
        <p:spPr>
          <a:xfrm>
            <a:off x="868680" y="3813048"/>
            <a:ext cx="12801600" cy="914400"/>
          </a:xfrm>
          <a:prstGeom prst="rect">
            <a:avLst/>
          </a:prstGeom>
          <a:noFill/>
        </p:spPr>
        <p:txBody>
          <a:bodyPr wrap="square">
            <a:spAutoFit/>
          </a:bodyPr>
          <a:lstStyle/>
          <a:p>
            <a:pPr>
              <a:defRPr sz="2500" b="0">
                <a:solidFill>
                  <a:srgbClr val="F5FBFF"/>
                </a:solidFill>
                <a:latin typeface="Be Vietnam Pro"/>
              </a:defRPr>
            </a:pPr>
            <a:r>
              <a:t>• 8 truy vấn mẫu • 8 test tự động • kiểm tra trình duyệt</a:t>
            </a:r>
          </a:p>
        </p:txBody>
      </p:sp>
      <p:sp>
        <p:nvSpPr>
          <p:cNvPr id="7" name="TextBox 6"/>
          <p:cNvSpPr txBox="1"/>
          <p:nvPr/>
        </p:nvSpPr>
        <p:spPr>
          <a:xfrm>
            <a:off x="868680" y="4837176"/>
            <a:ext cx="12801600" cy="914400"/>
          </a:xfrm>
          <a:prstGeom prst="rect">
            <a:avLst/>
          </a:prstGeom>
          <a:noFill/>
        </p:spPr>
        <p:txBody>
          <a:bodyPr wrap="square">
            <a:spAutoFit/>
          </a:bodyPr>
          <a:lstStyle/>
          <a:p>
            <a:pPr>
              <a:defRPr sz="2500" b="0">
                <a:solidFill>
                  <a:srgbClr val="F5FBFF"/>
                </a:solidFill>
                <a:latin typeface="Be Vietnam Pro"/>
              </a:defRPr>
            </a:pPr>
            <a:r>
              <a:t>• Báo cáo ≤15 trang • slide • video 3–5 phút</a:t>
            </a:r>
          </a:p>
        </p:txBody>
      </p:sp>
      <p:sp>
        <p:nvSpPr>
          <p:cNvPr id="8" name="TextBox 7"/>
          <p:cNvSpPr txBox="1"/>
          <p:nvPr/>
        </p:nvSpPr>
        <p:spPr>
          <a:xfrm>
            <a:off x="868680" y="5861304"/>
            <a:ext cx="12801600" cy="914400"/>
          </a:xfrm>
          <a:prstGeom prst="rect">
            <a:avLst/>
          </a:prstGeom>
          <a:noFill/>
        </p:spPr>
        <p:txBody>
          <a:bodyPr wrap="square">
            <a:spAutoFit/>
          </a:bodyPr>
          <a:lstStyle/>
          <a:p>
            <a:pPr>
              <a:defRPr sz="2500" b="0">
                <a:solidFill>
                  <a:srgbClr val="F5FBFF"/>
                </a:solidFill>
                <a:latin typeface="Be Vietnam Pro"/>
              </a:defRPr>
            </a:pPr>
            <a:r>
              <a:t>• Công khai bản hosted để hoàn tất Open Data trên Web</a:t>
            </a:r>
          </a:p>
        </p:txBody>
      </p:sp>
      <p:sp>
        <p:nvSpPr>
          <p:cNvPr id="9" name="TextBox 8"/>
          <p:cNvSpPr txBox="1"/>
          <p:nvPr/>
        </p:nvSpPr>
        <p:spPr>
          <a:xfrm>
            <a:off x="731520" y="7680960"/>
            <a:ext cx="11887200" cy="365760"/>
          </a:xfrm>
          <a:prstGeom prst="rect">
            <a:avLst/>
          </a:prstGeom>
          <a:noFill/>
        </p:spPr>
        <p:txBody>
          <a:bodyPr wrap="square">
            <a:spAutoFit/>
          </a:bodyPr>
          <a:lstStyle/>
          <a:p>
            <a:pPr>
              <a:defRPr sz="1300" b="0">
                <a:solidFill>
                  <a:srgbClr val="A9C0CC"/>
                </a:solidFill>
                <a:latin typeface="Be Vietnam Pro"/>
              </a:defRPr>
            </a:pPr>
            <a:r>
              <a:t>Định nghĩa → Thu thập → RDF → Liên kết → Truy vấn</a:t>
            </a:r>
          </a:p>
        </p:txBody>
      </p:sp>
      <p:sp>
        <p:nvSpPr>
          <p:cNvPr id="10" name="TextBox 9"/>
          <p:cNvSpPr txBox="1"/>
          <p:nvPr/>
        </p:nvSpPr>
        <p:spPr>
          <a:xfrm>
            <a:off x="13533120" y="7680960"/>
            <a:ext cx="914400" cy="365760"/>
          </a:xfrm>
          <a:prstGeom prst="rect">
            <a:avLst/>
          </a:prstGeom>
          <a:noFill/>
        </p:spPr>
        <p:txBody>
          <a:bodyPr wrap="square">
            <a:spAutoFit/>
          </a:bodyPr>
          <a:lstStyle/>
          <a:p>
            <a:pPr>
              <a:defRPr sz="1300" b="0">
                <a:solidFill>
                  <a:srgbClr val="FFD361"/>
                </a:solidFill>
                <a:latin typeface="Be Vietnam Pro"/>
              </a:defRPr>
            </a:pPr>
            <a:r>
              <a:t>8/8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